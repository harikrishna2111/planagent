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h31109517a6eec67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h31109517a6eec67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31109517a6eec67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h31109517a6eec67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h31109517a6eec67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h31109517a6eec67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h31109517a6eec67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h31109517a6eec67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31109517a6eec67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31109517a6eec67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31109517a6eec67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31109517a6eec67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31109517a6eec67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h31109517a6eec67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31109517a6eec67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h31109517a6eec67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CF1F7"/>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home/claude/image1.png" id="54" name="Google Shape;54;p13"/>
          <p:cNvPicPr preferRelativeResize="0"/>
          <p:nvPr/>
        </p:nvPicPr>
        <p:blipFill rotWithShape="1">
          <a:blip r:embed="rId3">
            <a:alphaModFix/>
          </a:blip>
          <a:srcRect b="0" l="0" r="0" t="0"/>
          <a:stretch/>
        </p:blipFill>
        <p:spPr>
          <a:xfrm>
            <a:off x="4011362" y="1056264"/>
            <a:ext cx="868682" cy="1060705"/>
          </a:xfrm>
          <a:prstGeom prst="rect">
            <a:avLst/>
          </a:prstGeom>
          <a:noFill/>
          <a:ln>
            <a:noFill/>
          </a:ln>
        </p:spPr>
      </p:pic>
      <p:sp>
        <p:nvSpPr>
          <p:cNvPr id="55" name="Google Shape;55;p13"/>
          <p:cNvSpPr txBox="1"/>
          <p:nvPr/>
        </p:nvSpPr>
        <p:spPr>
          <a:xfrm>
            <a:off x="603309" y="330124"/>
            <a:ext cx="79155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300">
                <a:solidFill>
                  <a:srgbClr val="1C4587"/>
                </a:solidFill>
                <a:latin typeface="Cambria"/>
                <a:ea typeface="Cambria"/>
                <a:cs typeface="Cambria"/>
                <a:sym typeface="Cambria"/>
              </a:rPr>
              <a:t>PSG Institute of Technology and Applied Research</a:t>
            </a:r>
            <a:endParaRPr b="1" sz="2300">
              <a:solidFill>
                <a:srgbClr val="1C4587"/>
              </a:solidFill>
              <a:latin typeface="Cambria"/>
              <a:ea typeface="Cambria"/>
              <a:cs typeface="Cambria"/>
              <a:sym typeface="Cambria"/>
            </a:endParaRPr>
          </a:p>
        </p:txBody>
      </p:sp>
      <p:sp>
        <p:nvSpPr>
          <p:cNvPr id="56" name="Google Shape;56;p13"/>
          <p:cNvSpPr txBox="1"/>
          <p:nvPr/>
        </p:nvSpPr>
        <p:spPr>
          <a:xfrm>
            <a:off x="1102187" y="2189850"/>
            <a:ext cx="7129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b="1" lang="en" sz="2000">
                <a:solidFill>
                  <a:srgbClr val="1C4587"/>
                </a:solidFill>
                <a:latin typeface="Cambria"/>
                <a:ea typeface="Cambria"/>
                <a:cs typeface="Cambria"/>
                <a:sym typeface="Cambria"/>
              </a:rPr>
              <a:t>Department of Artificial Intelligence and Data Science</a:t>
            </a:r>
            <a:endParaRPr b="1" sz="2000">
              <a:solidFill>
                <a:srgbClr val="1C4587"/>
              </a:solidFill>
              <a:latin typeface="Cambria"/>
              <a:ea typeface="Cambria"/>
              <a:cs typeface="Cambria"/>
              <a:sym typeface="Cambria"/>
            </a:endParaRPr>
          </a:p>
        </p:txBody>
      </p:sp>
      <p:sp>
        <p:nvSpPr>
          <p:cNvPr id="57" name="Google Shape;57;p13"/>
          <p:cNvSpPr txBox="1"/>
          <p:nvPr/>
        </p:nvSpPr>
        <p:spPr>
          <a:xfrm>
            <a:off x="411480" y="2743200"/>
            <a:ext cx="8321040" cy="658368"/>
          </a:xfrm>
          <a:prstGeom prst="rect">
            <a:avLst/>
          </a:prstGeom>
          <a:noFill/>
          <a:ln>
            <a:noFill/>
          </a:ln>
        </p:spPr>
        <p:txBody>
          <a:bodyPr anchorCtr="0" anchor="t" bIns="18288" lIns="18288" spcFirstLastPara="1" rIns="18288" wrap="square" tIns="18288"/>
          <a:lstStyle/>
          <a:p>
            <a:pPr indent="0" lvl="0" marL="0" rtl="0" algn="ctr">
              <a:lnSpc>
                <a:spcPct val="100000"/>
              </a:lnSpc>
              <a:spcBef>
                <a:spcPts val="0"/>
              </a:spcBef>
              <a:spcAft>
                <a:spcPts val="0"/>
              </a:spcAft>
              <a:buNone/>
            </a:pPr>
            <a:r>
              <a:rPr sz="1700" b="1" i="0">
                <a:solidFill>
                  <a:srgbClr val="1F2937"/>
                </a:solidFill>
                <a:latin typeface="Arial"/>
              </a:rPr>
              <a:t>Agentic AI Framework for Constraint-Aware Architectural Design</a:t>
            </a:r>
            <a:endParaRPr sz="1800">
              <a:solidFill>
                <a:schemeClr val="dk1"/>
              </a:solidFill>
            </a:endParaRPr>
          </a:p>
          <a:p>
            <a:pPr algn="ctr" marL="0" indent="0">
              <a:lnSpc>
                <a:spcPct val="100000"/>
              </a:lnSpc>
              <a:spcBef>
                <a:spcPts val="0"/>
              </a:spcBef>
              <a:spcAft>
                <a:spcPts val="0"/>
              </a:spcAft>
              <a:buNone/>
            </a:pPr>
            <a:r>
              <a:rPr sz="1700" b="1" i="0">
                <a:solidFill>
                  <a:srgbClr val="1F2937"/>
                </a:solidFill>
                <a:latin typeface="Arial"/>
              </a:rPr>
              <a:t>and BIM-Based Decision Support</a:t>
            </a:r>
          </a:p>
        </p:txBody>
      </p:sp>
      <p:sp>
        <p:nvSpPr>
          <p:cNvPr id="58" name="Google Shape;58;p13"/>
          <p:cNvSpPr txBox="1"/>
          <p:nvPr/>
        </p:nvSpPr>
        <p:spPr>
          <a:xfrm>
            <a:off x="548640" y="3529584"/>
            <a:ext cx="3291840" cy="1417320"/>
          </a:xfrm>
          <a:prstGeom prst="rect">
            <a:avLst/>
          </a:prstGeom>
          <a:noFill/>
          <a:ln>
            <a:noFill/>
          </a:ln>
        </p:spPr>
        <p:txBody>
          <a:bodyPr anchorCtr="0" anchor="t" bIns="18288" lIns="18288" spcFirstLastPara="1" rIns="18288" wrap="square" tIns="18288"/>
          <a:lstStyle/>
          <a:p>
            <a:pPr indent="0" lvl="0" marL="0" rtl="0" algn="ctr">
              <a:lnSpc>
                <a:spcPct val="100000"/>
              </a:lnSpc>
              <a:spcBef>
                <a:spcPts val="0"/>
              </a:spcBef>
              <a:spcAft>
                <a:spcPts val="0"/>
              </a:spcAft>
              <a:buNone/>
            </a:pPr>
            <a:r>
              <a:rPr sz="1400" b="1" i="0">
                <a:solidFill>
                  <a:srgbClr val="1C4587"/>
                </a:solidFill>
                <a:latin typeface="Arial"/>
              </a:rPr>
              <a:t>Submitted by</a:t>
            </a:r>
            <a:endParaRPr sz="1800">
              <a:solidFill>
                <a:schemeClr val="dk1"/>
              </a:solidFill>
            </a:endParaRPr>
          </a:p>
          <a:p>
            <a:pPr algn="ctr" marL="0" indent="0">
              <a:lnSpc>
                <a:spcPct val="100000"/>
              </a:lnSpc>
              <a:spcBef>
                <a:spcPts val="300"/>
              </a:spcBef>
              <a:spcAft>
                <a:spcPts val="0"/>
              </a:spcAft>
              <a:buNone/>
            </a:pPr>
            <a:r>
              <a:rPr sz="1150" b="1" i="0">
                <a:solidFill>
                  <a:srgbClr val="1F2937"/>
                </a:solidFill>
                <a:latin typeface="Arial"/>
              </a:rPr>
              <a:t>HARIKRISHNA S  </a:t>
            </a:r>
            <a:r>
              <a:rPr sz="1150" b="0" i="0">
                <a:solidFill>
                  <a:srgbClr val="4B5563"/>
                </a:solidFill>
                <a:latin typeface="Arial"/>
              </a:rPr>
              <a:t>(715523243014)</a:t>
            </a:r>
          </a:p>
          <a:p>
            <a:pPr algn="ctr" marL="0" indent="0">
              <a:lnSpc>
                <a:spcPct val="100000"/>
              </a:lnSpc>
              <a:spcBef>
                <a:spcPts val="300"/>
              </a:spcBef>
              <a:spcAft>
                <a:spcPts val="0"/>
              </a:spcAft>
              <a:buNone/>
            </a:pPr>
            <a:r>
              <a:rPr sz="1150" b="1" i="0">
                <a:solidFill>
                  <a:srgbClr val="1F2937"/>
                </a:solidFill>
                <a:latin typeface="Arial"/>
              </a:rPr>
              <a:t>KISHORE M  </a:t>
            </a:r>
            <a:r>
              <a:rPr sz="1150" b="0" i="0">
                <a:solidFill>
                  <a:srgbClr val="4B5563"/>
                </a:solidFill>
                <a:latin typeface="Arial"/>
              </a:rPr>
              <a:t>(715523243016)</a:t>
            </a:r>
          </a:p>
          <a:p>
            <a:pPr algn="ctr" marL="0" indent="0">
              <a:lnSpc>
                <a:spcPct val="100000"/>
              </a:lnSpc>
              <a:spcBef>
                <a:spcPts val="300"/>
              </a:spcBef>
              <a:spcAft>
                <a:spcPts val="0"/>
              </a:spcAft>
              <a:buNone/>
            </a:pPr>
            <a:r>
              <a:rPr sz="1150" b="1" i="0">
                <a:solidFill>
                  <a:srgbClr val="1F2937"/>
                </a:solidFill>
                <a:latin typeface="Arial"/>
              </a:rPr>
              <a:t>SACHIN S  </a:t>
            </a:r>
            <a:r>
              <a:rPr sz="1150" b="0" i="0">
                <a:solidFill>
                  <a:srgbClr val="4B5563"/>
                </a:solidFill>
                <a:latin typeface="Arial"/>
              </a:rPr>
              <a:t>(715523243045)</a:t>
            </a:r>
          </a:p>
          <a:p>
            <a:pPr algn="ctr" marL="0" indent="0">
              <a:lnSpc>
                <a:spcPct val="100000"/>
              </a:lnSpc>
              <a:spcBef>
                <a:spcPts val="300"/>
              </a:spcBef>
              <a:spcAft>
                <a:spcPts val="0"/>
              </a:spcAft>
              <a:buNone/>
            </a:pPr>
            <a:r>
              <a:rPr sz="1150" b="1" i="0">
                <a:solidFill>
                  <a:srgbClr val="1F2937"/>
                </a:solidFill>
                <a:latin typeface="Arial"/>
              </a:rPr>
              <a:t>SELVAKANNAN M  </a:t>
            </a:r>
            <a:r>
              <a:rPr sz="1150" b="0" i="0">
                <a:solidFill>
                  <a:srgbClr val="4B5563"/>
                </a:solidFill>
                <a:latin typeface="Arial"/>
              </a:rPr>
              <a:t>(715523243051)</a:t>
            </a:r>
          </a:p>
        </p:txBody>
      </p:sp>
      <p:sp>
        <p:nvSpPr>
          <p:cNvPr id="59" name="Google Shape;59;p13"/>
          <p:cNvSpPr txBox="1"/>
          <p:nvPr/>
        </p:nvSpPr>
        <p:spPr>
          <a:xfrm>
            <a:off x="5394960" y="3529584"/>
            <a:ext cx="3200400" cy="914400"/>
          </a:xfrm>
          <a:prstGeom prst="rect">
            <a:avLst/>
          </a:prstGeom>
          <a:noFill/>
          <a:ln>
            <a:noFill/>
          </a:ln>
        </p:spPr>
        <p:txBody>
          <a:bodyPr anchorCtr="0" anchor="t" bIns="18288" lIns="18288" spcFirstLastPara="1" rIns="18288" wrap="square" tIns="18288"/>
          <a:lstStyle/>
          <a:p>
            <a:pPr indent="0" lvl="0" marL="0" rtl="0" algn="ctr">
              <a:lnSpc>
                <a:spcPct val="100000"/>
              </a:lnSpc>
              <a:spcBef>
                <a:spcPts val="0"/>
              </a:spcBef>
              <a:spcAft>
                <a:spcPts val="0"/>
              </a:spcAft>
              <a:buNone/>
            </a:pPr>
            <a:r>
              <a:rPr sz="1400" b="1" i="0">
                <a:solidFill>
                  <a:srgbClr val="1C4587"/>
                </a:solidFill>
                <a:latin typeface="Arial"/>
              </a:rPr>
              <a:t>Guided by</a:t>
            </a:r>
            <a:endParaRPr sz="1800">
              <a:solidFill>
                <a:schemeClr val="dk1"/>
              </a:solidFill>
            </a:endParaRPr>
          </a:p>
          <a:p>
            <a:pPr algn="ctr" marL="0" indent="0">
              <a:lnSpc>
                <a:spcPct val="100000"/>
              </a:lnSpc>
              <a:spcBef>
                <a:spcPts val="300"/>
              </a:spcBef>
              <a:spcAft>
                <a:spcPts val="0"/>
              </a:spcAft>
              <a:buNone/>
            </a:pPr>
            <a:r>
              <a:rPr sz="1250" b="1" i="0">
                <a:solidFill>
                  <a:srgbClr val="1F2937"/>
                </a:solidFill>
                <a:latin typeface="Arial"/>
              </a:rPr>
              <a:t>Mr. R Muthukumar</a:t>
            </a:r>
          </a:p>
          <a:p>
            <a:pPr algn="ctr" marL="0" indent="0">
              <a:lnSpc>
                <a:spcPct val="100000"/>
              </a:lnSpc>
              <a:spcBef>
                <a:spcPts val="1000"/>
              </a:spcBef>
              <a:spcAft>
                <a:spcPts val="0"/>
              </a:spcAft>
              <a:buNone/>
            </a:pPr>
            <a:r>
              <a:rPr sz="1100" b="0" i="0">
                <a:solidFill>
                  <a:srgbClr val="4B5563"/>
                </a:solidFill>
                <a:latin typeface="Arial"/>
              </a:rPr>
              <a:t>AD3811 – Project Work</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a:ln cap="flat" cmpd="sng" w="9525">
            <a:solidFill>
              <a:srgbClr val="000000"/>
            </a:solidFill>
            <a:prstDash val="dash"/>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en" sz="2000">
                <a:solidFill>
                  <a:srgbClr val="1C4587"/>
                </a:solidFill>
                <a:latin typeface="Cambria"/>
                <a:ea typeface="Cambria"/>
                <a:cs typeface="Cambria"/>
                <a:sym typeface="Cambria"/>
              </a:rPr>
              <a:t>Problem Statement</a:t>
            </a:r>
            <a:endParaRPr b="1" sz="2000">
              <a:solidFill>
                <a:srgbClr val="1C4587"/>
              </a:solidFill>
              <a:latin typeface="Cambria"/>
              <a:ea typeface="Cambria"/>
              <a:cs typeface="Cambria"/>
              <a:sym typeface="Cambria"/>
            </a:endParaRPr>
          </a:p>
        </p:txBody>
      </p:sp>
      <p:sp>
        <p:nvSpPr>
          <p:cNvPr id="65" name="Google Shape;65;p14"/>
          <p:cNvSpPr txBox="1"/>
          <p:nvPr>
            <p:ph idx="1" type="body"/>
          </p:nvPr>
        </p:nvSpPr>
        <p:spPr>
          <a:xfrm>
            <a:off x="311700" y="1152475"/>
            <a:ext cx="8520600" cy="3416400"/>
          </a:xfrm>
          <a:prstGeom prst="rect">
            <a:avLst/>
          </a:prstGeom>
          <a:ln cap="flat" cmpd="sng" w="9525">
            <a:solidFill>
              <a:srgbClr val="000000"/>
            </a:solidFill>
            <a:prstDash val="dash"/>
            <a:round/>
            <a:headEnd len="sm" w="sm" type="none"/>
            <a:tailEnd len="sm" w="sm" type="none"/>
          </a:ln>
        </p:spPr>
        <p:txBody>
          <a:bodyPr anchorCtr="0" anchor="t" bIns="36576" lIns="36576" spcFirstLastPara="1" rIns="36576" wrap="square" tIns="36576"/>
          <a:lstStyle/>
          <a:p>
            <a:pPr indent="0" lvl="0" marL="0" rtl="0" algn="l">
              <a:lnSpc>
                <a:spcPct val="100000"/>
              </a:lnSpc>
              <a:spcBef>
                <a:spcPts val="0"/>
              </a:spcBef>
              <a:spcAft>
                <a:spcPts val="0"/>
              </a:spcAft>
              <a:buNone/>
            </a:pPr>
            <a:r>
              <a:rPr sz="400" b="0" i="0">
                <a:solidFill>
                  <a:srgbClr val="1F2937"/>
                </a:solidFill>
                <a:latin typeface="Arial"/>
              </a:rPr>
              <a:t> </a:t>
            </a:r>
            <a:endParaRPr/>
          </a:p>
        </p:txBody>
      </p:sp>
      <p:sp>
        <p:nvSpPr>
          <p:cNvPr id="66" name="TextBox 65"/>
          <p:cNvSpPr txBox="1"/>
          <p:nvPr/>
        </p:nvSpPr>
        <p:spPr>
          <a:xfrm>
            <a:off x="420624" y="1243584"/>
            <a:ext cx="8302752" cy="274320"/>
          </a:xfrm>
          <a:prstGeom prst="rect">
            <a:avLst/>
          </a:prstGeom>
          <a:noFill/>
        </p:spPr>
        <p:txBody>
          <a:bodyPr wrap="square" anchor="t" lIns="36576" rIns="36576" tIns="36576" bIns="36576"/>
          <a:lstStyle/>
          <a:p>
            <a:pPr algn="l" marL="0" indent="0">
              <a:lnSpc>
                <a:spcPct val="100000"/>
              </a:lnSpc>
              <a:spcAft>
                <a:spcPts val="0"/>
              </a:spcAft>
              <a:buNone/>
            </a:pPr>
            <a:r>
              <a:rPr sz="1250" b="1" i="0">
                <a:solidFill>
                  <a:srgbClr val="1C4587"/>
                </a:solidFill>
                <a:latin typeface="Arial"/>
              </a:rPr>
              <a:t>Architectural floor-plan design must satisfy several interacting spatial requirements:</a:t>
            </a:r>
          </a:p>
        </p:txBody>
      </p:sp>
      <p:sp>
        <p:nvSpPr>
          <p:cNvPr id="67" name="Rectangle 66"/>
          <p:cNvSpPr/>
          <p:nvPr/>
        </p:nvSpPr>
        <p:spPr>
          <a:xfrm>
            <a:off x="420624" y="1591056"/>
            <a:ext cx="2706624" cy="384048"/>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Oval 67"/>
          <p:cNvSpPr/>
          <p:nvPr/>
        </p:nvSpPr>
        <p:spPr>
          <a:xfrm>
            <a:off x="493776" y="1664208"/>
            <a:ext cx="237744" cy="237744"/>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000" b="1" i="0">
                <a:solidFill>
                  <a:srgbClr val="FFFFFF"/>
                </a:solidFill>
                <a:latin typeface="Arial"/>
              </a:rPr>
              <a:t>1</a:t>
            </a:r>
          </a:p>
        </p:txBody>
      </p:sp>
      <p:sp>
        <p:nvSpPr>
          <p:cNvPr id="69" name="TextBox 68"/>
          <p:cNvSpPr txBox="1"/>
          <p:nvPr/>
        </p:nvSpPr>
        <p:spPr>
          <a:xfrm>
            <a:off x="786384" y="1591056"/>
            <a:ext cx="2295144" cy="384048"/>
          </a:xfrm>
          <a:prstGeom prst="rect">
            <a:avLst/>
          </a:prstGeom>
          <a:noFill/>
        </p:spPr>
        <p:txBody>
          <a:bodyPr wrap="square" anchor="ctr" lIns="36576" rIns="36576" tIns="36576" bIns="36576"/>
          <a:lstStyle/>
          <a:p>
            <a:pPr algn="l" marL="0" indent="0">
              <a:lnSpc>
                <a:spcPct val="100000"/>
              </a:lnSpc>
              <a:spcAft>
                <a:spcPts val="0"/>
              </a:spcAft>
              <a:buNone/>
            </a:pPr>
            <a:r>
              <a:rPr sz="1050" b="0" i="0">
                <a:solidFill>
                  <a:srgbClr val="1F2937"/>
                </a:solidFill>
                <a:latin typeface="Arial"/>
              </a:rPr>
              <a:t>Required rooms and their dimensions</a:t>
            </a:r>
          </a:p>
        </p:txBody>
      </p:sp>
      <p:sp>
        <p:nvSpPr>
          <p:cNvPr id="70" name="Rectangle 69"/>
          <p:cNvSpPr/>
          <p:nvPr/>
        </p:nvSpPr>
        <p:spPr>
          <a:xfrm>
            <a:off x="3218688" y="1591056"/>
            <a:ext cx="2706624" cy="384048"/>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Oval 70"/>
          <p:cNvSpPr/>
          <p:nvPr/>
        </p:nvSpPr>
        <p:spPr>
          <a:xfrm>
            <a:off x="3291840" y="1664208"/>
            <a:ext cx="237744" cy="237744"/>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000" b="1" i="0">
                <a:solidFill>
                  <a:srgbClr val="FFFFFF"/>
                </a:solidFill>
                <a:latin typeface="Arial"/>
              </a:rPr>
              <a:t>2</a:t>
            </a:r>
          </a:p>
        </p:txBody>
      </p:sp>
      <p:sp>
        <p:nvSpPr>
          <p:cNvPr id="72" name="TextBox 71"/>
          <p:cNvSpPr txBox="1"/>
          <p:nvPr/>
        </p:nvSpPr>
        <p:spPr>
          <a:xfrm>
            <a:off x="3584448" y="1591056"/>
            <a:ext cx="2295144" cy="384048"/>
          </a:xfrm>
          <a:prstGeom prst="rect">
            <a:avLst/>
          </a:prstGeom>
          <a:noFill/>
        </p:spPr>
        <p:txBody>
          <a:bodyPr wrap="square" anchor="ctr" lIns="36576" rIns="36576" tIns="36576" bIns="36576"/>
          <a:lstStyle/>
          <a:p>
            <a:pPr algn="l" marL="0" indent="0">
              <a:lnSpc>
                <a:spcPct val="100000"/>
              </a:lnSpc>
              <a:spcAft>
                <a:spcPts val="0"/>
              </a:spcAft>
              <a:buNone/>
            </a:pPr>
            <a:r>
              <a:rPr sz="1050" b="0" i="0">
                <a:solidFill>
                  <a:srgbClr val="1F2937"/>
                </a:solidFill>
                <a:latin typeface="Arial"/>
              </a:rPr>
              <a:t>Room-to-room spatial relationships</a:t>
            </a:r>
          </a:p>
        </p:txBody>
      </p:sp>
      <p:sp>
        <p:nvSpPr>
          <p:cNvPr id="73" name="Rectangle 72"/>
          <p:cNvSpPr/>
          <p:nvPr/>
        </p:nvSpPr>
        <p:spPr>
          <a:xfrm>
            <a:off x="6016752" y="1591056"/>
            <a:ext cx="2706624" cy="384048"/>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Oval 73"/>
          <p:cNvSpPr/>
          <p:nvPr/>
        </p:nvSpPr>
        <p:spPr>
          <a:xfrm>
            <a:off x="6089904" y="1664208"/>
            <a:ext cx="237744" cy="237744"/>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000" b="1" i="0">
                <a:solidFill>
                  <a:srgbClr val="FFFFFF"/>
                </a:solidFill>
                <a:latin typeface="Arial"/>
              </a:rPr>
              <a:t>3</a:t>
            </a:r>
          </a:p>
        </p:txBody>
      </p:sp>
      <p:sp>
        <p:nvSpPr>
          <p:cNvPr id="75" name="TextBox 74"/>
          <p:cNvSpPr txBox="1"/>
          <p:nvPr/>
        </p:nvSpPr>
        <p:spPr>
          <a:xfrm>
            <a:off x="6382512" y="1591056"/>
            <a:ext cx="2295144" cy="384048"/>
          </a:xfrm>
          <a:prstGeom prst="rect">
            <a:avLst/>
          </a:prstGeom>
          <a:noFill/>
        </p:spPr>
        <p:txBody>
          <a:bodyPr wrap="square" anchor="ctr" lIns="36576" rIns="36576" tIns="36576" bIns="36576"/>
          <a:lstStyle/>
          <a:p>
            <a:pPr algn="l" marL="0" indent="0">
              <a:lnSpc>
                <a:spcPct val="100000"/>
              </a:lnSpc>
              <a:spcAft>
                <a:spcPts val="0"/>
              </a:spcAft>
              <a:buNone/>
            </a:pPr>
            <a:r>
              <a:rPr sz="1050" b="0" i="0">
                <a:solidFill>
                  <a:srgbClr val="1F2937"/>
                </a:solidFill>
                <a:latin typeface="Arial"/>
              </a:rPr>
              <a:t>Adjacency and proximity requirements</a:t>
            </a:r>
          </a:p>
        </p:txBody>
      </p:sp>
      <p:sp>
        <p:nvSpPr>
          <p:cNvPr id="76" name="Rectangle 75"/>
          <p:cNvSpPr/>
          <p:nvPr/>
        </p:nvSpPr>
        <p:spPr>
          <a:xfrm>
            <a:off x="420624" y="2066543"/>
            <a:ext cx="2706624" cy="384048"/>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493776" y="2139696"/>
            <a:ext cx="237744" cy="237744"/>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000" b="1" i="0">
                <a:solidFill>
                  <a:srgbClr val="FFFFFF"/>
                </a:solidFill>
                <a:latin typeface="Arial"/>
              </a:rPr>
              <a:t>4</a:t>
            </a:r>
          </a:p>
        </p:txBody>
      </p:sp>
      <p:sp>
        <p:nvSpPr>
          <p:cNvPr id="78" name="TextBox 77"/>
          <p:cNvSpPr txBox="1"/>
          <p:nvPr/>
        </p:nvSpPr>
        <p:spPr>
          <a:xfrm>
            <a:off x="786384" y="2066543"/>
            <a:ext cx="2295144" cy="384048"/>
          </a:xfrm>
          <a:prstGeom prst="rect">
            <a:avLst/>
          </a:prstGeom>
          <a:noFill/>
        </p:spPr>
        <p:txBody>
          <a:bodyPr wrap="square" anchor="ctr" lIns="36576" rIns="36576" tIns="36576" bIns="36576"/>
          <a:lstStyle/>
          <a:p>
            <a:pPr algn="l" marL="0" indent="0">
              <a:lnSpc>
                <a:spcPct val="100000"/>
              </a:lnSpc>
              <a:spcAft>
                <a:spcPts val="0"/>
              </a:spcAft>
              <a:buNone/>
            </a:pPr>
            <a:r>
              <a:rPr sz="1050" b="0" i="0">
                <a:solidFill>
                  <a:srgbClr val="1F2937"/>
                </a:solidFill>
                <a:latin typeface="Arial"/>
              </a:rPr>
              <a:t>Separation between certain spaces</a:t>
            </a:r>
          </a:p>
        </p:txBody>
      </p:sp>
      <p:sp>
        <p:nvSpPr>
          <p:cNvPr id="79" name="Rectangle 78"/>
          <p:cNvSpPr/>
          <p:nvPr/>
        </p:nvSpPr>
        <p:spPr>
          <a:xfrm>
            <a:off x="3218688" y="2066543"/>
            <a:ext cx="2706624" cy="384048"/>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Oval 79"/>
          <p:cNvSpPr/>
          <p:nvPr/>
        </p:nvSpPr>
        <p:spPr>
          <a:xfrm>
            <a:off x="3291840" y="2139696"/>
            <a:ext cx="237744" cy="237744"/>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000" b="1" i="0">
                <a:solidFill>
                  <a:srgbClr val="FFFFFF"/>
                </a:solidFill>
                <a:latin typeface="Arial"/>
              </a:rPr>
              <a:t>5</a:t>
            </a:r>
          </a:p>
        </p:txBody>
      </p:sp>
      <p:sp>
        <p:nvSpPr>
          <p:cNvPr id="81" name="TextBox 80"/>
          <p:cNvSpPr txBox="1"/>
          <p:nvPr/>
        </p:nvSpPr>
        <p:spPr>
          <a:xfrm>
            <a:off x="3584448" y="2066543"/>
            <a:ext cx="2295144" cy="384048"/>
          </a:xfrm>
          <a:prstGeom prst="rect">
            <a:avLst/>
          </a:prstGeom>
          <a:noFill/>
        </p:spPr>
        <p:txBody>
          <a:bodyPr wrap="square" anchor="ctr" lIns="36576" rIns="36576" tIns="36576" bIns="36576"/>
          <a:lstStyle/>
          <a:p>
            <a:pPr algn="l" marL="0" indent="0">
              <a:lnSpc>
                <a:spcPct val="100000"/>
              </a:lnSpc>
              <a:spcAft>
                <a:spcPts val="0"/>
              </a:spcAft>
              <a:buNone/>
            </a:pPr>
            <a:r>
              <a:rPr sz="1050" b="0" i="0">
                <a:solidFill>
                  <a:srgbClr val="1F2937"/>
                </a:solidFill>
                <a:latin typeface="Arial"/>
              </a:rPr>
              <a:t>Connectivity and circulation paths</a:t>
            </a:r>
          </a:p>
        </p:txBody>
      </p:sp>
      <p:sp>
        <p:nvSpPr>
          <p:cNvPr id="82" name="Rectangle 81"/>
          <p:cNvSpPr/>
          <p:nvPr/>
        </p:nvSpPr>
        <p:spPr>
          <a:xfrm>
            <a:off x="6016752" y="2066543"/>
            <a:ext cx="2706624" cy="384048"/>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Oval 82"/>
          <p:cNvSpPr/>
          <p:nvPr/>
        </p:nvSpPr>
        <p:spPr>
          <a:xfrm>
            <a:off x="6089904" y="2139696"/>
            <a:ext cx="237744" cy="237744"/>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000" b="1" i="0">
                <a:solidFill>
                  <a:srgbClr val="FFFFFF"/>
                </a:solidFill>
                <a:latin typeface="Arial"/>
              </a:rPr>
              <a:t>6</a:t>
            </a:r>
          </a:p>
        </p:txBody>
      </p:sp>
      <p:sp>
        <p:nvSpPr>
          <p:cNvPr id="84" name="TextBox 83"/>
          <p:cNvSpPr txBox="1"/>
          <p:nvPr/>
        </p:nvSpPr>
        <p:spPr>
          <a:xfrm>
            <a:off x="6382512" y="2066543"/>
            <a:ext cx="2295144" cy="384048"/>
          </a:xfrm>
          <a:prstGeom prst="rect">
            <a:avLst/>
          </a:prstGeom>
          <a:noFill/>
        </p:spPr>
        <p:txBody>
          <a:bodyPr wrap="square" anchor="ctr" lIns="36576" rIns="36576" tIns="36576" bIns="36576"/>
          <a:lstStyle/>
          <a:p>
            <a:pPr algn="l" marL="0" indent="0">
              <a:lnSpc>
                <a:spcPct val="100000"/>
              </a:lnSpc>
              <a:spcAft>
                <a:spcPts val="0"/>
              </a:spcAft>
              <a:buNone/>
            </a:pPr>
            <a:r>
              <a:rPr sz="1050" b="0" i="0">
                <a:solidFill>
                  <a:srgbClr val="1F2937"/>
                </a:solidFill>
                <a:latin typeface="Arial"/>
              </a:rPr>
              <a:t>Efficient utilization of the available plot</a:t>
            </a:r>
          </a:p>
        </p:txBody>
      </p:sp>
      <p:sp>
        <p:nvSpPr>
          <p:cNvPr id="85" name="Rectangle 84"/>
          <p:cNvSpPr/>
          <p:nvPr/>
        </p:nvSpPr>
        <p:spPr>
          <a:xfrm>
            <a:off x="420624" y="2542032"/>
            <a:ext cx="4082796" cy="1024128"/>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530352" y="2596896"/>
            <a:ext cx="3863339" cy="914400"/>
          </a:xfrm>
          <a:prstGeom prst="rect">
            <a:avLst/>
          </a:prstGeom>
          <a:noFill/>
        </p:spPr>
        <p:txBody>
          <a:bodyPr wrap="square" anchor="t" lIns="36576" rIns="36576" tIns="36576" bIns="36576"/>
          <a:lstStyle/>
          <a:p>
            <a:pPr algn="l" marL="0" indent="0">
              <a:lnSpc>
                <a:spcPct val="100000"/>
              </a:lnSpc>
              <a:spcAft>
                <a:spcPts val="0"/>
              </a:spcAft>
              <a:buNone/>
            </a:pPr>
            <a:r>
              <a:rPr sz="1200" b="1" i="0">
                <a:solidFill>
                  <a:srgbClr val="1C4587"/>
                </a:solidFill>
                <a:latin typeface="Cambria"/>
              </a:rPr>
              <a:t>Existing challenge</a:t>
            </a:r>
          </a:p>
          <a:p>
            <a:pPr algn="l" marL="0" indent="0">
              <a:lnSpc>
                <a:spcPct val="100000"/>
              </a:lnSpc>
              <a:spcBef>
                <a:spcPts val="300"/>
              </a:spcBef>
              <a:spcAft>
                <a:spcPts val="0"/>
              </a:spcAft>
              <a:buNone/>
            </a:pPr>
            <a:r>
              <a:rPr sz="1050" b="0" i="0">
                <a:solidFill>
                  <a:srgbClr val="1F2937"/>
                </a:solidFill>
                <a:latin typeface="Arial"/>
              </a:rPr>
              <a:t>Traditional design involves repeated manual modification to satisfy these requirements. Recent AI methods can generate plans, but often focus on layout generation itself rather than an end-to-end process.</a:t>
            </a:r>
          </a:p>
        </p:txBody>
      </p:sp>
      <p:sp>
        <p:nvSpPr>
          <p:cNvPr id="87" name="Rectangle 86"/>
          <p:cNvSpPr/>
          <p:nvPr/>
        </p:nvSpPr>
        <p:spPr>
          <a:xfrm>
            <a:off x="4640580" y="2542032"/>
            <a:ext cx="4082796" cy="1024128"/>
          </a:xfrm>
          <a:prstGeom prst="rect">
            <a:avLst/>
          </a:prstGeom>
          <a:solidFill>
            <a:srgbClr val="F8E7E5"/>
          </a:solidFill>
          <a:ln w="9525">
            <a:solidFill>
              <a:srgbClr val="E3B9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4750308" y="2596896"/>
            <a:ext cx="3863339" cy="914400"/>
          </a:xfrm>
          <a:prstGeom prst="rect">
            <a:avLst/>
          </a:prstGeom>
          <a:noFill/>
        </p:spPr>
        <p:txBody>
          <a:bodyPr wrap="square" anchor="t" lIns="36576" rIns="36576" tIns="36576" bIns="36576"/>
          <a:lstStyle/>
          <a:p>
            <a:pPr algn="l" marL="0" indent="0">
              <a:lnSpc>
                <a:spcPct val="100000"/>
              </a:lnSpc>
              <a:spcAft>
                <a:spcPts val="0"/>
              </a:spcAft>
              <a:buNone/>
            </a:pPr>
            <a:r>
              <a:rPr sz="1250" b="1" i="0">
                <a:solidFill>
                  <a:srgbClr val="A9322B"/>
                </a:solidFill>
                <a:latin typeface="Cambria"/>
              </a:rPr>
              <a:t>Generation  ≠  Reasoning + Evaluation + Optimization</a:t>
            </a:r>
          </a:p>
          <a:p>
            <a:pPr algn="l" marL="0" indent="0">
              <a:lnSpc>
                <a:spcPct val="100000"/>
              </a:lnSpc>
              <a:spcBef>
                <a:spcPts val="300"/>
              </a:spcBef>
              <a:spcAft>
                <a:spcPts val="0"/>
              </a:spcAft>
              <a:buNone/>
            </a:pPr>
            <a:r>
              <a:rPr sz="1050" b="0" i="0">
                <a:solidFill>
                  <a:srgbClr val="1F2937"/>
                </a:solidFill>
                <a:latin typeface="Arial"/>
              </a:rPr>
              <a:t>The missing capability is not generation — it is reasoning about, evaluating and improving a generated layout.</a:t>
            </a:r>
          </a:p>
        </p:txBody>
      </p:sp>
      <p:sp>
        <p:nvSpPr>
          <p:cNvPr id="89" name="Rectangle 88"/>
          <p:cNvSpPr/>
          <p:nvPr/>
        </p:nvSpPr>
        <p:spPr>
          <a:xfrm>
            <a:off x="420624" y="3657600"/>
            <a:ext cx="8302752" cy="804672"/>
          </a:xfrm>
          <a:prstGeom prst="rect">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603504" y="3712463"/>
            <a:ext cx="7936992" cy="713232"/>
          </a:xfrm>
          <a:prstGeom prst="rect">
            <a:avLst/>
          </a:prstGeom>
          <a:noFill/>
        </p:spPr>
        <p:txBody>
          <a:bodyPr wrap="square" anchor="ctr" lIns="36576" rIns="36576" tIns="36576" bIns="36576"/>
          <a:lstStyle/>
          <a:p>
            <a:pPr algn="l" marL="0" indent="0">
              <a:lnSpc>
                <a:spcPct val="100000"/>
              </a:lnSpc>
              <a:spcAft>
                <a:spcPts val="0"/>
              </a:spcAft>
              <a:buNone/>
            </a:pPr>
            <a:r>
              <a:rPr sz="950" b="1" i="0">
                <a:solidFill>
                  <a:srgbClr val="DCE6F4"/>
                </a:solidFill>
                <a:latin typeface="Arial"/>
              </a:rPr>
              <a:t>OUR RESEARCH FOCUS</a:t>
            </a:r>
          </a:p>
          <a:p>
            <a:pPr algn="l" marL="0" indent="0">
              <a:lnSpc>
                <a:spcPct val="100000"/>
              </a:lnSpc>
              <a:spcBef>
                <a:spcPts val="200"/>
              </a:spcBef>
              <a:spcAft>
                <a:spcPts val="0"/>
              </a:spcAft>
              <a:buNone/>
            </a:pPr>
            <a:r>
              <a:rPr sz="1300" b="1" i="0">
                <a:solidFill>
                  <a:srgbClr val="FFFFFF"/>
                </a:solidFill>
                <a:latin typeface="Cambria"/>
              </a:rPr>
              <a:t>Can an agentic, multi-model framework generate and iteratively optimize floor plans from natural-language architectural requirements?</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a:ln cap="flat" cmpd="sng" w="9525">
            <a:solidFill>
              <a:srgbClr val="000000"/>
            </a:solidFill>
            <a:prstDash val="dash"/>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en" sz="2000">
                <a:solidFill>
                  <a:srgbClr val="1C4587"/>
                </a:solidFill>
                <a:latin typeface="Cambria"/>
                <a:ea typeface="Cambria"/>
                <a:cs typeface="Cambria"/>
                <a:sym typeface="Cambria"/>
              </a:rPr>
              <a:t>Abstract</a:t>
            </a:r>
            <a:endParaRPr b="1" sz="2000">
              <a:solidFill>
                <a:srgbClr val="1C4587"/>
              </a:solidFill>
              <a:latin typeface="Cambria"/>
              <a:ea typeface="Cambria"/>
              <a:cs typeface="Cambria"/>
              <a:sym typeface="Cambria"/>
            </a:endParaRPr>
          </a:p>
        </p:txBody>
      </p:sp>
      <p:sp>
        <p:nvSpPr>
          <p:cNvPr id="71" name="Google Shape;71;p15"/>
          <p:cNvSpPr txBox="1"/>
          <p:nvPr>
            <p:ph idx="1" type="body"/>
          </p:nvPr>
        </p:nvSpPr>
        <p:spPr>
          <a:xfrm>
            <a:off x="311700" y="1152475"/>
            <a:ext cx="8520600" cy="3416400"/>
          </a:xfrm>
          <a:prstGeom prst="rect">
            <a:avLst/>
          </a:prstGeom>
          <a:ln cap="flat" cmpd="sng" w="9525">
            <a:solidFill>
              <a:srgbClr val="000000"/>
            </a:solidFill>
            <a:prstDash val="dash"/>
            <a:round/>
            <a:headEnd len="sm" w="sm" type="none"/>
            <a:tailEnd len="sm" w="sm" type="none"/>
          </a:ln>
        </p:spPr>
        <p:txBody>
          <a:bodyPr anchorCtr="0" anchor="t" bIns="109728" lIns="109728" spcFirstLastPara="1" rIns="109728" wrap="square" tIns="109728"/>
          <a:lstStyle/>
          <a:p>
            <a:pPr indent="0" lvl="0" marL="0" marR="0" rtl="0" algn="just">
              <a:lnSpc>
                <a:spcPct val="108000"/>
              </a:lnSpc>
              <a:spcBef>
                <a:spcPts val="0"/>
              </a:spcBef>
              <a:spcAft>
                <a:spcPts val="0"/>
              </a:spcAft>
              <a:buNone/>
            </a:pPr>
            <a:r>
              <a:rPr sz="1200" b="0" i="0">
                <a:solidFill>
                  <a:srgbClr val="1F2937"/>
                </a:solidFill>
                <a:latin typeface="Arial"/>
              </a:rPr>
              <a:t>Architectural floor-plan design must satisfy several interacting spatial requirements — required rooms and their dimensions, room-to-room relationships, adjacency, separation, connectivity and circulation, and efficient use of the available plot. Recent AI methods such as HouseGanDi (IEEE Access, 2024), our base paper, generate realistic and diverse floor plans with a hybrid GAN–diffusion pipeline trained on the RPLAN dataset, but focus on generation itself rather than on reasoning about, evaluating and improving a layout.</a:t>
            </a:r>
            <a:endParaRPr/>
          </a:p>
          <a:p>
            <a:pPr algn="just" marL="0" indent="0">
              <a:lnSpc>
                <a:spcPct val="108000"/>
              </a:lnSpc>
              <a:spcBef>
                <a:spcPts val="800"/>
              </a:spcBef>
              <a:spcAft>
                <a:spcPts val="0"/>
              </a:spcAft>
              <a:buNone/>
            </a:pPr>
            <a:r>
              <a:rPr sz="1200" b="0" i="0">
                <a:solidFill>
                  <a:srgbClr val="1F2937"/>
                </a:solidFill>
                <a:latin typeface="Arial"/>
              </a:rPr>
              <a:t>This project proposes an Agentic AI Framework for Constraint-Aware Architectural Space Planning that converts natural-language requirements into an optimized 2D floor plan. Five specialized stages — a Requirement Agent (LLM), a Spatial Planning Agent, a Floor-Plan Generation Model, a Spatial Critic Agent and an Optimization Agent — extract the requirements, represent them as an explicit relationship graph, generate multiple candidate layouts, score them against machine-checkable constraints and iteratively improve the weakest areas in a closed generate–evaluate–refine loop. The output is an optimized floor plan together with its structured spatial representation and spatial evaluation score.</a:t>
            </a:r>
          </a:p>
          <a:p>
            <a:pPr algn="l" marL="0" indent="0">
              <a:lnSpc>
                <a:spcPct val="108000"/>
              </a:lnSpc>
              <a:spcBef>
                <a:spcPts val="1000"/>
              </a:spcBef>
              <a:spcAft>
                <a:spcPts val="0"/>
              </a:spcAft>
              <a:buNone/>
            </a:pPr>
            <a:r>
              <a:rPr sz="1050" b="1" i="0">
                <a:solidFill>
                  <a:srgbClr val="1C4587"/>
                </a:solidFill>
                <a:latin typeface="Arial"/>
              </a:rPr>
              <a:t>Keywords: </a:t>
            </a:r>
            <a:r>
              <a:rPr sz="1050" b="0" i="1">
                <a:solidFill>
                  <a:srgbClr val="4B5563"/>
                </a:solidFill>
                <a:latin typeface="Arial"/>
              </a:rPr>
              <a:t>Agentic AI · Large Language Models · Spatial Reasoning · Floor-Plan Generation · Constraint-Based Evaluation · Layout Optimization</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a:ln cap="flat" cmpd="sng" w="9525">
            <a:solidFill>
              <a:srgbClr val="000000"/>
            </a:solidFill>
            <a:prstDash val="dash"/>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en" sz="2000">
                <a:solidFill>
                  <a:srgbClr val="1C4587"/>
                </a:solidFill>
                <a:latin typeface="Cambria"/>
                <a:ea typeface="Cambria"/>
                <a:cs typeface="Cambria"/>
                <a:sym typeface="Cambria"/>
              </a:rPr>
              <a:t>Literature Survey</a:t>
            </a:r>
            <a:endParaRPr b="1" sz="2000">
              <a:solidFill>
                <a:srgbClr val="1C4587"/>
              </a:solidFill>
              <a:latin typeface="Cambria"/>
              <a:ea typeface="Cambria"/>
              <a:cs typeface="Cambria"/>
              <a:sym typeface="Cambria"/>
            </a:endParaRPr>
          </a:p>
        </p:txBody>
      </p:sp>
      <p:sp>
        <p:nvSpPr>
          <p:cNvPr id="77" name="Google Shape;77;p16"/>
          <p:cNvSpPr txBox="1"/>
          <p:nvPr>
            <p:ph idx="1" type="body"/>
          </p:nvPr>
        </p:nvSpPr>
        <p:spPr>
          <a:xfrm>
            <a:off x="311700" y="1152475"/>
            <a:ext cx="8520600" cy="3416400"/>
          </a:xfrm>
          <a:prstGeom prst="rect">
            <a:avLst/>
          </a:prstGeom>
          <a:ln cap="flat" cmpd="sng" w="9525">
            <a:solidFill>
              <a:srgbClr val="000000"/>
            </a:solidFill>
            <a:prstDash val="dash"/>
            <a:round/>
            <a:headEnd len="sm" w="sm" type="none"/>
            <a:tailEnd len="sm" w="sm" type="none"/>
          </a:ln>
        </p:spPr>
        <p:txBody>
          <a:bodyPr anchorCtr="0" anchor="t" bIns="36576" lIns="36576" spcFirstLastPara="1" rIns="36576" wrap="square" tIns="36576"/>
          <a:lstStyle/>
          <a:p>
            <a:pPr indent="0" lvl="0" marL="0" marR="0" rtl="0" algn="l">
              <a:lnSpc>
                <a:spcPct val="100000"/>
              </a:lnSpc>
              <a:spcBef>
                <a:spcPts val="0"/>
              </a:spcBef>
              <a:spcAft>
                <a:spcPts val="0"/>
              </a:spcAft>
              <a:buNone/>
            </a:pPr>
            <a:r>
              <a:rPr sz="400" b="0" i="0">
                <a:solidFill>
                  <a:srgbClr val="1F2937"/>
                </a:solidFill>
                <a:latin typeface="Arial"/>
              </a:rPr>
              <a:t> </a:t>
            </a:r>
            <a:endParaRPr/>
          </a:p>
        </p:txBody>
      </p:sp>
      <p:graphicFrame>
        <p:nvGraphicFramePr>
          <p:cNvPr id="78" name="Table 77"/>
          <p:cNvGraphicFramePr>
            <a:graphicFrameLocks noGrp="1"/>
          </p:cNvGraphicFramePr>
          <p:nvPr/>
        </p:nvGraphicFramePr>
        <p:xfrm>
          <a:off x="420624" y="1243584"/>
          <a:ext cx="8302752" cy="2368296"/>
        </p:xfrm>
        <a:graphic>
          <a:graphicData uri="http://schemas.openxmlformats.org/drawingml/2006/table">
            <a:tbl>
              <a:tblPr firstRow="0" bandRow="0">
                <a:tableStyleId>{2D5ABB26-0587-4C30-8999-92F81FD0307C}</a:tableStyleId>
              </a:tblPr>
              <a:tblGrid>
                <a:gridCol w="292608"/>
                <a:gridCol w="2788920"/>
                <a:gridCol w="2606040"/>
                <a:gridCol w="2615184"/>
              </a:tblGrid>
              <a:tr h="274320">
                <a:tc>
                  <a:txBody>
                    <a:bodyPr wrap="square" anchor="t" lIns="45720" rIns="45720"/>
                    <a:lstStyle/>
                    <a:p>
                      <a:pPr algn="ctr" marL="0" indent="0">
                        <a:lnSpc>
                          <a:spcPct val="100000"/>
                        </a:lnSpc>
                        <a:spcAft>
                          <a:spcPts val="0"/>
                        </a:spcAft>
                        <a:buNone/>
                      </a:pPr>
                      <a:r>
                        <a:rPr sz="1000" b="1" i="0">
                          <a:solidFill>
                            <a:srgbClr val="FFFFFF"/>
                          </a:solidFill>
                          <a:latin typeface="Arial"/>
                        </a:rPr>
                        <a:t>#</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1C4587"/>
                    </a:solidFill>
                  </a:tcPr>
                </a:tc>
                <a:tc>
                  <a:txBody>
                    <a:bodyPr wrap="square" anchor="t" lIns="45720" rIns="45720"/>
                    <a:lstStyle/>
                    <a:p>
                      <a:pPr algn="l" marL="0" indent="0">
                        <a:lnSpc>
                          <a:spcPct val="100000"/>
                        </a:lnSpc>
                        <a:spcAft>
                          <a:spcPts val="0"/>
                        </a:spcAft>
                        <a:buNone/>
                      </a:pPr>
                      <a:r>
                        <a:rPr sz="1000" b="1" i="0">
                          <a:solidFill>
                            <a:srgbClr val="FFFFFF"/>
                          </a:solidFill>
                          <a:latin typeface="Arial"/>
                        </a:rPr>
                        <a:t>Paper</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1C4587"/>
                    </a:solidFill>
                  </a:tcPr>
                </a:tc>
                <a:tc>
                  <a:txBody>
                    <a:bodyPr wrap="square" anchor="t" lIns="45720" rIns="45720"/>
                    <a:lstStyle/>
                    <a:p>
                      <a:pPr algn="l" marL="0" indent="0">
                        <a:lnSpc>
                          <a:spcPct val="100000"/>
                        </a:lnSpc>
                        <a:spcAft>
                          <a:spcPts val="0"/>
                        </a:spcAft>
                        <a:buNone/>
                      </a:pPr>
                      <a:r>
                        <a:rPr sz="1000" b="1" i="0">
                          <a:solidFill>
                            <a:srgbClr val="FFFFFF"/>
                          </a:solidFill>
                          <a:latin typeface="Arial"/>
                        </a:rPr>
                        <a:t>Approach</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1C4587"/>
                    </a:solidFill>
                  </a:tcPr>
                </a:tc>
                <a:tc>
                  <a:txBody>
                    <a:bodyPr wrap="square" anchor="t" lIns="45720" rIns="45720"/>
                    <a:lstStyle/>
                    <a:p>
                      <a:pPr algn="l" marL="0" indent="0">
                        <a:lnSpc>
                          <a:spcPct val="100000"/>
                        </a:lnSpc>
                        <a:spcAft>
                          <a:spcPts val="0"/>
                        </a:spcAft>
                        <a:buNone/>
                      </a:pPr>
                      <a:r>
                        <a:rPr sz="1000" b="1" i="0">
                          <a:solidFill>
                            <a:srgbClr val="FFFFFF"/>
                          </a:solidFill>
                          <a:latin typeface="Arial"/>
                        </a:rPr>
                        <a:t>Relevance / Gap for this project</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1C4587"/>
                    </a:solidFill>
                  </a:tcPr>
                </a:tc>
              </a:tr>
              <a:tr h="868680">
                <a:tc>
                  <a:txBody>
                    <a:bodyPr wrap="square" anchor="t" lIns="45720" rIns="45720"/>
                    <a:lstStyle/>
                    <a:p>
                      <a:pPr algn="ctr" marL="0" indent="0">
                        <a:lnSpc>
                          <a:spcPct val="100000"/>
                        </a:lnSpc>
                        <a:spcAft>
                          <a:spcPts val="0"/>
                        </a:spcAft>
                        <a:buNone/>
                      </a:pPr>
                      <a:r>
                        <a:rPr sz="1000" b="1" i="0">
                          <a:solidFill>
                            <a:srgbClr val="1C4587"/>
                          </a:solidFill>
                          <a:latin typeface="Arial"/>
                        </a:rPr>
                        <a:t>1</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FFFFFF"/>
                    </a:solidFill>
                  </a:tcPr>
                </a:tc>
                <a:tc>
                  <a:txBody>
                    <a:bodyPr wrap="square" anchor="t" lIns="45720" rIns="45720"/>
                    <a:lstStyle/>
                    <a:p>
                      <a:pPr algn="l" marL="0" indent="0">
                        <a:lnSpc>
                          <a:spcPct val="100000"/>
                        </a:lnSpc>
                        <a:spcAft>
                          <a:spcPts val="0"/>
                        </a:spcAft>
                        <a:buNone/>
                      </a:pPr>
                      <a:r>
                        <a:rPr sz="950" b="1" i="0">
                          <a:solidFill>
                            <a:srgbClr val="1F2937"/>
                          </a:solidFill>
                          <a:latin typeface="Arial"/>
                        </a:rPr>
                        <a:t>HouseGanDi: A Hybrid Approach to Strike a Balance of Sampling Time and Diversity in Floorplan Generation</a:t>
                      </a:r>
                    </a:p>
                    <a:p>
                      <a:pPr algn="l" marL="0" indent="0">
                        <a:lnSpc>
                          <a:spcPct val="100000"/>
                        </a:lnSpc>
                        <a:spcBef>
                          <a:spcPts val="200"/>
                        </a:spcBef>
                        <a:spcAft>
                          <a:spcPts val="0"/>
                        </a:spcAft>
                        <a:buNone/>
                      </a:pPr>
                      <a:r>
                        <a:rPr sz="850" b="0" i="0">
                          <a:solidFill>
                            <a:srgbClr val="4B5563"/>
                          </a:solidFill>
                          <a:latin typeface="Arial"/>
                        </a:rPr>
                        <a:t>A. B. Yenew, B. G. Assefa, E. G. Belay — IEEE Access, 2024</a:t>
                      </a:r>
                    </a:p>
                    <a:p>
                      <a:pPr algn="l" marL="0" indent="0">
                        <a:lnSpc>
                          <a:spcPct val="100000"/>
                        </a:lnSpc>
                        <a:spcBef>
                          <a:spcPts val="200"/>
                        </a:spcBef>
                        <a:spcAft>
                          <a:spcPts val="0"/>
                        </a:spcAft>
                        <a:buNone/>
                      </a:pPr>
                      <a:r>
                        <a:rPr sz="800" b="1" i="0">
                          <a:solidFill>
                            <a:srgbClr val="A9322B"/>
                          </a:solidFill>
                          <a:latin typeface="Arial"/>
                        </a:rPr>
                        <a:t>BASE PAPER</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FFFFFF"/>
                    </a:solidFill>
                  </a:tcPr>
                </a:tc>
                <a:tc>
                  <a:txBody>
                    <a:bodyPr wrap="square" anchor="t" lIns="45720" rIns="45720"/>
                    <a:lstStyle/>
                    <a:p>
                      <a:pPr algn="l" marL="0" indent="0">
                        <a:lnSpc>
                          <a:spcPct val="100000"/>
                        </a:lnSpc>
                        <a:spcAft>
                          <a:spcPts val="0"/>
                        </a:spcAft>
                        <a:buNone/>
                      </a:pPr>
                      <a:r>
                        <a:rPr sz="950" b="0" i="0">
                          <a:solidFill>
                            <a:srgbClr val="1F2937"/>
                          </a:solidFill>
                          <a:latin typeface="Arial"/>
                        </a:rPr>
                        <a:t>Hybrid GAN + diffusion pipeline trained on the RPLAN floor-plan dataset, with diversity techniques and sampling-time reduction. Reports improved diversity over HouseDiffusion and reduced generation time.</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FFFFFF"/>
                    </a:solidFill>
                  </a:tcPr>
                </a:tc>
                <a:tc>
                  <a:txBody>
                    <a:bodyPr wrap="square" anchor="t" lIns="45720" rIns="45720"/>
                    <a:lstStyle/>
                    <a:p>
                      <a:pPr algn="l" marL="0" indent="0">
                        <a:lnSpc>
                          <a:spcPct val="100000"/>
                        </a:lnSpc>
                        <a:spcAft>
                          <a:spcPts val="0"/>
                        </a:spcAft>
                        <a:buNone/>
                      </a:pPr>
                      <a:r>
                        <a:rPr sz="950" b="0" i="0">
                          <a:solidFill>
                            <a:srgbClr val="1F2937"/>
                          </a:solidFill>
                          <a:latin typeface="Arial"/>
                        </a:rPr>
                        <a:t>Efficient, diverse floor-plan synthesis — but generation-focused: no LLMs or agent-based reasoning, natural-language requirements are not the main input, and layouts are not evaluated or iteratively improved.</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FFFFFF"/>
                    </a:solidFill>
                  </a:tcPr>
                </a:tc>
              </a:tr>
              <a:tr h="566928">
                <a:tc>
                  <a:txBody>
                    <a:bodyPr wrap="square" anchor="t" lIns="45720" rIns="45720"/>
                    <a:lstStyle/>
                    <a:p>
                      <a:pPr algn="ctr" marL="0" indent="0">
                        <a:lnSpc>
                          <a:spcPct val="100000"/>
                        </a:lnSpc>
                        <a:spcAft>
                          <a:spcPts val="0"/>
                        </a:spcAft>
                        <a:buNone/>
                      </a:pPr>
                      <a:r>
                        <a:rPr sz="1000" b="1" i="0">
                          <a:solidFill>
                            <a:srgbClr val="1C4587"/>
                          </a:solidFill>
                          <a:latin typeface="Arial"/>
                        </a:rPr>
                        <a:t>2</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F2F6FB"/>
                    </a:solidFill>
                  </a:tcPr>
                </a:tc>
                <a:tc>
                  <a:txBody>
                    <a:bodyPr wrap="square" anchor="t" lIns="45720" rIns="45720"/>
                    <a:lstStyle/>
                    <a:p>
                      <a:pPr algn="l" marL="0" indent="0">
                        <a:lnSpc>
                          <a:spcPct val="100000"/>
                        </a:lnSpc>
                        <a:spcAft>
                          <a:spcPts val="0"/>
                        </a:spcAft>
                        <a:buNone/>
                      </a:pPr>
                      <a:r>
                        <a:rPr sz="950" b="1" i="0">
                          <a:solidFill>
                            <a:srgbClr val="1F2937"/>
                          </a:solidFill>
                          <a:latin typeface="Arial"/>
                        </a:rPr>
                        <a:t>Graph-Augmented Text-Based Floorplan Generation</a:t>
                      </a:r>
                    </a:p>
                    <a:p>
                      <a:pPr algn="l" marL="0" indent="0">
                        <a:lnSpc>
                          <a:spcPct val="100000"/>
                        </a:lnSpc>
                        <a:spcBef>
                          <a:spcPts val="200"/>
                        </a:spcBef>
                        <a:spcAft>
                          <a:spcPts val="0"/>
                        </a:spcAft>
                        <a:buNone/>
                      </a:pPr>
                      <a:r>
                        <a:rPr sz="850" b="0" i="0">
                          <a:solidFill>
                            <a:srgbClr val="4B5563"/>
                          </a:solidFill>
                          <a:latin typeface="Arial"/>
                        </a:rPr>
                        <a:t>Y. Wei, X. Li — IEEE ICaMaL, 2024</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F2F6FB"/>
                    </a:solidFill>
                  </a:tcPr>
                </a:tc>
                <a:tc>
                  <a:txBody>
                    <a:bodyPr wrap="square" anchor="t" lIns="45720" rIns="45720"/>
                    <a:lstStyle/>
                    <a:p>
                      <a:pPr algn="l" marL="0" indent="0">
                        <a:lnSpc>
                          <a:spcPct val="100000"/>
                        </a:lnSpc>
                        <a:spcAft>
                          <a:spcPts val="0"/>
                        </a:spcAft>
                        <a:buNone/>
                      </a:pPr>
                      <a:r>
                        <a:rPr sz="950" b="0" i="0">
                          <a:solidFill>
                            <a:srgbClr val="1F2937"/>
                          </a:solidFill>
                          <a:latin typeface="Arial"/>
                        </a:rPr>
                        <a:t>Text-based floor-plan generation augmented with a graph representation.</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F2F6FB"/>
                    </a:solidFill>
                  </a:tcPr>
                </a:tc>
                <a:tc>
                  <a:txBody>
                    <a:bodyPr wrap="square" anchor="t" lIns="45720" rIns="45720"/>
                    <a:lstStyle/>
                    <a:p>
                      <a:pPr algn="l" marL="0" indent="0">
                        <a:lnSpc>
                          <a:spcPct val="100000"/>
                        </a:lnSpc>
                        <a:spcAft>
                          <a:spcPts val="0"/>
                        </a:spcAft>
                        <a:buNone/>
                      </a:pPr>
                      <a:r>
                        <a:rPr sz="950" b="0" i="0">
                          <a:solidFill>
                            <a:srgbClr val="1F2937"/>
                          </a:solidFill>
                          <a:latin typeface="Arial"/>
                        </a:rPr>
                        <a:t>Supports converting natural-language input into an explicit relationship graph (Requirement Agent → Spatial Planning Agent).</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F2F6FB"/>
                    </a:solidFill>
                  </a:tcPr>
                </a:tc>
              </a:tr>
              <a:tr h="658368">
                <a:tc>
                  <a:txBody>
                    <a:bodyPr wrap="square" anchor="t" lIns="45720" rIns="45720"/>
                    <a:lstStyle/>
                    <a:p>
                      <a:pPr algn="ctr" marL="0" indent="0">
                        <a:lnSpc>
                          <a:spcPct val="100000"/>
                        </a:lnSpc>
                        <a:spcAft>
                          <a:spcPts val="0"/>
                        </a:spcAft>
                        <a:buNone/>
                      </a:pPr>
                      <a:r>
                        <a:rPr sz="1000" b="1" i="0">
                          <a:solidFill>
                            <a:srgbClr val="1C4587"/>
                          </a:solidFill>
                          <a:latin typeface="Arial"/>
                        </a:rPr>
                        <a:t>3</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FFFFFF"/>
                    </a:solidFill>
                  </a:tcPr>
                </a:tc>
                <a:tc>
                  <a:txBody>
                    <a:bodyPr wrap="square" anchor="t" lIns="45720" rIns="45720"/>
                    <a:lstStyle/>
                    <a:p>
                      <a:pPr algn="l" marL="0" indent="0">
                        <a:lnSpc>
                          <a:spcPct val="100000"/>
                        </a:lnSpc>
                        <a:spcAft>
                          <a:spcPts val="0"/>
                        </a:spcAft>
                        <a:buNone/>
                      </a:pPr>
                      <a:r>
                        <a:rPr sz="950" b="1" i="0">
                          <a:solidFill>
                            <a:srgbClr val="1F2937"/>
                          </a:solidFill>
                          <a:latin typeface="Arial"/>
                        </a:rPr>
                        <a:t>Prompts to Layouts: Hybrid Graph Neural Network and Agent-Based Model for Generative Architectural Design</a:t>
                      </a:r>
                    </a:p>
                    <a:p>
                      <a:pPr algn="l" marL="0" indent="0">
                        <a:lnSpc>
                          <a:spcPct val="100000"/>
                        </a:lnSpc>
                        <a:spcBef>
                          <a:spcPts val="200"/>
                        </a:spcBef>
                        <a:spcAft>
                          <a:spcPts val="0"/>
                        </a:spcAft>
                        <a:buNone/>
                      </a:pPr>
                      <a:r>
                        <a:rPr sz="850" b="0" i="0">
                          <a:solidFill>
                            <a:srgbClr val="4B5563"/>
                          </a:solidFill>
                          <a:latin typeface="Arial"/>
                        </a:rPr>
                        <a:t>Y. Xin, Y. Zhou, Y. Liu — Automation in Construction, 2025</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FFFFFF"/>
                    </a:solidFill>
                  </a:tcPr>
                </a:tc>
                <a:tc>
                  <a:txBody>
                    <a:bodyPr wrap="square" anchor="t" lIns="45720" rIns="45720"/>
                    <a:lstStyle/>
                    <a:p>
                      <a:pPr algn="l" marL="0" indent="0">
                        <a:lnSpc>
                          <a:spcPct val="100000"/>
                        </a:lnSpc>
                        <a:spcAft>
                          <a:spcPts val="0"/>
                        </a:spcAft>
                        <a:buNone/>
                      </a:pPr>
                      <a:r>
                        <a:rPr sz="950" b="0" i="0">
                          <a:solidFill>
                            <a:srgbClr val="1F2937"/>
                          </a:solidFill>
                          <a:latin typeface="Arial"/>
                        </a:rPr>
                        <a:t>Combines a graph neural network with an agent-based model to go from prompts to layouts.</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FFFFFF"/>
                    </a:solidFill>
                  </a:tcPr>
                </a:tc>
                <a:tc>
                  <a:txBody>
                    <a:bodyPr wrap="square" anchor="t" lIns="45720" rIns="45720"/>
                    <a:lstStyle/>
                    <a:p>
                      <a:pPr algn="l" marL="0" indent="0">
                        <a:lnSpc>
                          <a:spcPct val="100000"/>
                        </a:lnSpc>
                        <a:spcAft>
                          <a:spcPts val="0"/>
                        </a:spcAft>
                        <a:buNone/>
                      </a:pPr>
                      <a:r>
                        <a:rPr sz="950" b="0" i="0">
                          <a:solidFill>
                            <a:srgbClr val="1F2937"/>
                          </a:solidFill>
                          <a:latin typeface="Arial"/>
                        </a:rPr>
                        <a:t>Supports an agent-based, multi-model approach to prompt-driven layout design.</a:t>
                      </a:r>
                    </a:p>
                  </a:txBody>
                  <a:tcPr marL="54864" marR="54864" marT="36576" marB="36576" anchor="ctr">
                    <a:lnL w="9525">
                      <a:solidFill>
                        <a:srgbClr val="C5D1E6"/>
                      </a:solidFill>
                    </a:lnL>
                    <a:lnR w="9525">
                      <a:solidFill>
                        <a:srgbClr val="C5D1E6"/>
                      </a:solidFill>
                    </a:lnR>
                    <a:lnT w="9525">
                      <a:solidFill>
                        <a:srgbClr val="C5D1E6"/>
                      </a:solidFill>
                    </a:lnT>
                    <a:lnB w="9525">
                      <a:solidFill>
                        <a:srgbClr val="C5D1E6"/>
                      </a:solidFill>
                    </a:lnB>
                    <a:solidFill>
                      <a:srgbClr val="FFFFFF"/>
                    </a:solidFill>
                  </a:tcPr>
                </a:tc>
              </a:tr>
            </a:tbl>
          </a:graphicData>
        </a:graphic>
      </p:graphicFrame>
      <p:sp>
        <p:nvSpPr>
          <p:cNvPr id="79" name="Rectangle 78"/>
          <p:cNvSpPr/>
          <p:nvPr/>
        </p:nvSpPr>
        <p:spPr>
          <a:xfrm>
            <a:off x="420624" y="3986784"/>
            <a:ext cx="8302752" cy="475488"/>
          </a:xfrm>
          <a:prstGeom prst="rect">
            <a:avLst/>
          </a:prstGeom>
          <a:solidFill>
            <a:srgbClr val="F8E7E5"/>
          </a:solidFill>
          <a:ln w="9525">
            <a:solidFill>
              <a:srgbClr val="E3B9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548640" y="3986784"/>
            <a:ext cx="8046720" cy="475488"/>
          </a:xfrm>
          <a:prstGeom prst="rect">
            <a:avLst/>
          </a:prstGeom>
          <a:noFill/>
        </p:spPr>
        <p:txBody>
          <a:bodyPr wrap="square" anchor="ctr" lIns="36576" rIns="36576" tIns="36576" bIns="36576"/>
          <a:lstStyle/>
          <a:p>
            <a:pPr algn="l" marL="0" indent="0">
              <a:lnSpc>
                <a:spcPct val="100000"/>
              </a:lnSpc>
              <a:spcAft>
                <a:spcPts val="0"/>
              </a:spcAft>
              <a:buNone/>
            </a:pPr>
            <a:r>
              <a:rPr sz="1050" b="1" i="0">
                <a:solidFill>
                  <a:srgbClr val="A9322B"/>
                </a:solidFill>
                <a:latin typeface="Arial"/>
              </a:rPr>
              <a:t>Research gap:  </a:t>
            </a:r>
            <a:r>
              <a:rPr sz="1050" b="0" i="0">
                <a:solidFill>
                  <a:srgbClr val="1F2937"/>
                </a:solidFill>
                <a:latin typeface="Arial"/>
              </a:rPr>
              <a:t>move from “how can we efficiently generate diverse floor plans?” to “how can an AI system understand requirements, reason about space, generate, evaluate and improve layouts?”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a:ln cap="flat" cmpd="sng" w="9525">
            <a:solidFill>
              <a:srgbClr val="000000"/>
            </a:solidFill>
            <a:prstDash val="dash"/>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en" sz="2000">
                <a:solidFill>
                  <a:srgbClr val="1C4587"/>
                </a:solidFill>
                <a:latin typeface="Cambria"/>
                <a:ea typeface="Cambria"/>
                <a:cs typeface="Cambria"/>
                <a:sym typeface="Cambria"/>
              </a:rPr>
              <a:t>Workflow</a:t>
            </a:r>
            <a:endParaRPr b="1" sz="2000">
              <a:solidFill>
                <a:srgbClr val="1C4587"/>
              </a:solidFill>
              <a:latin typeface="Cambria"/>
              <a:ea typeface="Cambria"/>
              <a:cs typeface="Cambria"/>
              <a:sym typeface="Cambria"/>
            </a:endParaRPr>
          </a:p>
        </p:txBody>
      </p:sp>
      <p:sp>
        <p:nvSpPr>
          <p:cNvPr id="83" name="Google Shape;83;p17"/>
          <p:cNvSpPr txBox="1"/>
          <p:nvPr>
            <p:ph idx="1" type="body"/>
          </p:nvPr>
        </p:nvSpPr>
        <p:spPr>
          <a:xfrm>
            <a:off x="311700" y="1152475"/>
            <a:ext cx="8520600" cy="3416400"/>
          </a:xfrm>
          <a:prstGeom prst="rect">
            <a:avLst/>
          </a:prstGeom>
          <a:ln cap="flat" cmpd="sng" w="9525">
            <a:solidFill>
              <a:srgbClr val="000000"/>
            </a:solidFill>
            <a:prstDash val="dash"/>
            <a:round/>
            <a:headEnd len="sm" w="sm" type="none"/>
            <a:tailEnd len="sm" w="sm" type="none"/>
          </a:ln>
        </p:spPr>
        <p:txBody>
          <a:bodyPr anchorCtr="0" anchor="t" bIns="36576" lIns="36576" spcFirstLastPara="1" rIns="36576" wrap="square" tIns="36576"/>
          <a:lstStyle/>
          <a:p>
            <a:pPr indent="0" lvl="0" marL="0" marR="0" rtl="0" algn="l">
              <a:lnSpc>
                <a:spcPct val="100000"/>
              </a:lnSpc>
              <a:spcBef>
                <a:spcPts val="0"/>
              </a:spcBef>
              <a:spcAft>
                <a:spcPts val="0"/>
              </a:spcAft>
              <a:buNone/>
            </a:pPr>
            <a:r>
              <a:rPr sz="400" b="0" i="0">
                <a:solidFill>
                  <a:srgbClr val="1F2937"/>
                </a:solidFill>
                <a:latin typeface="Arial"/>
              </a:rPr>
              <a:t> </a:t>
            </a:r>
            <a:endParaRPr/>
          </a:p>
        </p:txBody>
      </p:sp>
      <p:sp>
        <p:nvSpPr>
          <p:cNvPr id="84" name="Rounded Rectangle 83"/>
          <p:cNvSpPr/>
          <p:nvPr/>
        </p:nvSpPr>
        <p:spPr>
          <a:xfrm>
            <a:off x="420624" y="1243584"/>
            <a:ext cx="8302752" cy="402336"/>
          </a:xfrm>
          <a:prstGeom prst="roundRect">
            <a:avLst>
              <a:gd name="adj" fmla="val 50000"/>
            </a:avLst>
          </a:prstGeom>
          <a:solidFill>
            <a:srgbClr val="DCE6F4"/>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603504" y="1243584"/>
            <a:ext cx="7936992" cy="402336"/>
          </a:xfrm>
          <a:prstGeom prst="rect">
            <a:avLst/>
          </a:prstGeom>
          <a:noFill/>
        </p:spPr>
        <p:txBody>
          <a:bodyPr wrap="square" anchor="ctr" lIns="36576" rIns="36576" tIns="36576" bIns="36576"/>
          <a:lstStyle/>
          <a:p>
            <a:pPr algn="ctr" marL="0" indent="0">
              <a:lnSpc>
                <a:spcPct val="100000"/>
              </a:lnSpc>
              <a:spcAft>
                <a:spcPts val="0"/>
              </a:spcAft>
              <a:buNone/>
            </a:pPr>
            <a:r>
              <a:rPr sz="1000" b="1" i="0">
                <a:solidFill>
                  <a:srgbClr val="1C4587"/>
                </a:solidFill>
                <a:latin typeface="Arial"/>
              </a:rPr>
              <a:t>USER  ·  natural-language requirement     </a:t>
            </a:r>
            <a:r>
              <a:rPr sz="950" b="0" i="1">
                <a:solidFill>
                  <a:srgbClr val="1F2937"/>
                </a:solidFill>
                <a:latin typeface="Arial"/>
              </a:rPr>
              <a:t>“Design a 2BHK house on a 40 × 60 ft plot with two bedrooms, two bathrooms, kitchen, living room and dining area.”</a:t>
            </a:r>
          </a:p>
        </p:txBody>
      </p:sp>
      <p:sp>
        <p:nvSpPr>
          <p:cNvPr id="86" name="Rectangle 85"/>
          <p:cNvSpPr/>
          <p:nvPr/>
        </p:nvSpPr>
        <p:spPr>
          <a:xfrm>
            <a:off x="420624" y="1865376"/>
            <a:ext cx="1470355" cy="1115568"/>
          </a:xfrm>
          <a:prstGeom prst="rect">
            <a:avLst/>
          </a:prstGeom>
          <a:solidFill>
            <a:srgbClr val="FFFFFF"/>
          </a:solidFill>
          <a:ln w="12700">
            <a:solidFill>
              <a:srgbClr val="1C45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484632" y="1938528"/>
            <a:ext cx="237744" cy="237744"/>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000" b="1" i="0">
                <a:solidFill>
                  <a:srgbClr val="FFFFFF"/>
                </a:solidFill>
                <a:latin typeface="Arial"/>
              </a:rPr>
              <a:t>1</a:t>
            </a:r>
          </a:p>
        </p:txBody>
      </p:sp>
      <p:sp>
        <p:nvSpPr>
          <p:cNvPr id="88" name="TextBox 87"/>
          <p:cNvSpPr txBox="1"/>
          <p:nvPr/>
        </p:nvSpPr>
        <p:spPr>
          <a:xfrm>
            <a:off x="749808" y="1901952"/>
            <a:ext cx="1104595" cy="329184"/>
          </a:xfrm>
          <a:prstGeom prst="rect">
            <a:avLst/>
          </a:prstGeom>
          <a:noFill/>
        </p:spPr>
        <p:txBody>
          <a:bodyPr wrap="square" anchor="ctr" lIns="36576" rIns="36576" tIns="36576" bIns="36576"/>
          <a:lstStyle/>
          <a:p>
            <a:pPr algn="l" marL="0" indent="0">
              <a:lnSpc>
                <a:spcPct val="100000"/>
              </a:lnSpc>
              <a:spcAft>
                <a:spcPts val="0"/>
              </a:spcAft>
              <a:buNone/>
            </a:pPr>
            <a:r>
              <a:rPr sz="800" b="1" i="0">
                <a:solidFill>
                  <a:srgbClr val="A9322B"/>
                </a:solidFill>
                <a:latin typeface="Arial"/>
              </a:rPr>
              <a:t>LLM</a:t>
            </a:r>
          </a:p>
        </p:txBody>
      </p:sp>
      <p:sp>
        <p:nvSpPr>
          <p:cNvPr id="89" name="TextBox 88"/>
          <p:cNvSpPr txBox="1"/>
          <p:nvPr/>
        </p:nvSpPr>
        <p:spPr>
          <a:xfrm>
            <a:off x="475488" y="2212848"/>
            <a:ext cx="1360627" cy="420624"/>
          </a:xfrm>
          <a:prstGeom prst="rect">
            <a:avLst/>
          </a:prstGeom>
          <a:noFill/>
        </p:spPr>
        <p:txBody>
          <a:bodyPr wrap="square" anchor="ctr" lIns="36576" rIns="36576" tIns="36576" bIns="36576"/>
          <a:lstStyle/>
          <a:p>
            <a:pPr algn="ctr" marL="0" indent="0">
              <a:lnSpc>
                <a:spcPct val="100000"/>
              </a:lnSpc>
              <a:spcAft>
                <a:spcPts val="0"/>
              </a:spcAft>
              <a:buNone/>
            </a:pPr>
            <a:r>
              <a:rPr sz="1050" b="1" i="0">
                <a:solidFill>
                  <a:srgbClr val="1C4587"/>
                </a:solidFill>
                <a:latin typeface="Cambria"/>
              </a:rPr>
              <a:t>Requirement Agent</a:t>
            </a:r>
          </a:p>
        </p:txBody>
      </p:sp>
      <p:sp>
        <p:nvSpPr>
          <p:cNvPr id="90" name="Rectangle 89"/>
          <p:cNvSpPr/>
          <p:nvPr/>
        </p:nvSpPr>
        <p:spPr>
          <a:xfrm>
            <a:off x="493776" y="2651760"/>
            <a:ext cx="1324051" cy="256032"/>
          </a:xfrm>
          <a:prstGeom prst="rect">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493776" y="2651760"/>
            <a:ext cx="1324051" cy="256032"/>
          </a:xfrm>
          <a:prstGeom prst="rect">
            <a:avLst/>
          </a:prstGeom>
          <a:noFill/>
        </p:spPr>
        <p:txBody>
          <a:bodyPr wrap="square" anchor="ctr" lIns="36576" rIns="36576" tIns="36576" bIns="36576"/>
          <a:lstStyle/>
          <a:p>
            <a:pPr algn="ctr" marL="0" indent="0">
              <a:lnSpc>
                <a:spcPct val="100000"/>
              </a:lnSpc>
              <a:spcAft>
                <a:spcPts val="0"/>
              </a:spcAft>
              <a:buNone/>
            </a:pPr>
            <a:r>
              <a:rPr sz="850" b="1" i="0">
                <a:solidFill>
                  <a:srgbClr val="13315F"/>
                </a:solidFill>
                <a:latin typeface="Arial"/>
              </a:rPr>
              <a:t>Extracted requirements</a:t>
            </a:r>
          </a:p>
        </p:txBody>
      </p:sp>
      <p:sp>
        <p:nvSpPr>
          <p:cNvPr id="92" name="Rectangle 91"/>
          <p:cNvSpPr/>
          <p:nvPr/>
        </p:nvSpPr>
        <p:spPr>
          <a:xfrm>
            <a:off x="2128723" y="1865376"/>
            <a:ext cx="1470355" cy="1115568"/>
          </a:xfrm>
          <a:prstGeom prst="rect">
            <a:avLst/>
          </a:prstGeom>
          <a:solidFill>
            <a:srgbClr val="FFFFFF"/>
          </a:solidFill>
          <a:ln w="12700">
            <a:solidFill>
              <a:srgbClr val="1C45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2192731" y="1938528"/>
            <a:ext cx="237744" cy="237744"/>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000" b="1" i="0">
                <a:solidFill>
                  <a:srgbClr val="FFFFFF"/>
                </a:solidFill>
                <a:latin typeface="Arial"/>
              </a:rPr>
              <a:t>2</a:t>
            </a:r>
          </a:p>
        </p:txBody>
      </p:sp>
      <p:sp>
        <p:nvSpPr>
          <p:cNvPr id="94" name="TextBox 93"/>
          <p:cNvSpPr txBox="1"/>
          <p:nvPr/>
        </p:nvSpPr>
        <p:spPr>
          <a:xfrm>
            <a:off x="2457907" y="1901952"/>
            <a:ext cx="1104595" cy="329184"/>
          </a:xfrm>
          <a:prstGeom prst="rect">
            <a:avLst/>
          </a:prstGeom>
          <a:noFill/>
        </p:spPr>
        <p:txBody>
          <a:bodyPr wrap="square" anchor="ctr" lIns="36576" rIns="36576" tIns="36576" bIns="36576"/>
          <a:lstStyle/>
          <a:p>
            <a:pPr algn="l" marL="0" indent="0">
              <a:lnSpc>
                <a:spcPct val="100000"/>
              </a:lnSpc>
              <a:spcAft>
                <a:spcPts val="0"/>
              </a:spcAft>
              <a:buNone/>
            </a:pPr>
            <a:r>
              <a:rPr sz="800" b="1" i="0">
                <a:solidFill>
                  <a:srgbClr val="A9322B"/>
                </a:solidFill>
                <a:latin typeface="Arial"/>
              </a:rPr>
              <a:t>REASONING</a:t>
            </a:r>
          </a:p>
        </p:txBody>
      </p:sp>
      <p:sp>
        <p:nvSpPr>
          <p:cNvPr id="95" name="TextBox 94"/>
          <p:cNvSpPr txBox="1"/>
          <p:nvPr/>
        </p:nvSpPr>
        <p:spPr>
          <a:xfrm>
            <a:off x="2183587" y="2212848"/>
            <a:ext cx="1360627" cy="420624"/>
          </a:xfrm>
          <a:prstGeom prst="rect">
            <a:avLst/>
          </a:prstGeom>
          <a:noFill/>
        </p:spPr>
        <p:txBody>
          <a:bodyPr wrap="square" anchor="ctr" lIns="36576" rIns="36576" tIns="36576" bIns="36576"/>
          <a:lstStyle/>
          <a:p>
            <a:pPr algn="ctr" marL="0" indent="0">
              <a:lnSpc>
                <a:spcPct val="100000"/>
              </a:lnSpc>
              <a:spcAft>
                <a:spcPts val="0"/>
              </a:spcAft>
              <a:buNone/>
            </a:pPr>
            <a:r>
              <a:rPr sz="1050" b="1" i="0">
                <a:solidFill>
                  <a:srgbClr val="1C4587"/>
                </a:solidFill>
                <a:latin typeface="Cambria"/>
              </a:rPr>
              <a:t>Spatial Planning Agent</a:t>
            </a:r>
          </a:p>
        </p:txBody>
      </p:sp>
      <p:sp>
        <p:nvSpPr>
          <p:cNvPr id="96" name="Rectangle 95"/>
          <p:cNvSpPr/>
          <p:nvPr/>
        </p:nvSpPr>
        <p:spPr>
          <a:xfrm>
            <a:off x="2201875" y="2651760"/>
            <a:ext cx="1324051" cy="256032"/>
          </a:xfrm>
          <a:prstGeom prst="rect">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2201875" y="2651760"/>
            <a:ext cx="1324051" cy="256032"/>
          </a:xfrm>
          <a:prstGeom prst="rect">
            <a:avLst/>
          </a:prstGeom>
          <a:noFill/>
        </p:spPr>
        <p:txBody>
          <a:bodyPr wrap="square" anchor="ctr" lIns="36576" rIns="36576" tIns="36576" bIns="36576"/>
          <a:lstStyle/>
          <a:p>
            <a:pPr algn="ctr" marL="0" indent="0">
              <a:lnSpc>
                <a:spcPct val="100000"/>
              </a:lnSpc>
              <a:spcAft>
                <a:spcPts val="0"/>
              </a:spcAft>
              <a:buNone/>
            </a:pPr>
            <a:r>
              <a:rPr sz="850" b="1" i="0">
                <a:solidFill>
                  <a:srgbClr val="13315F"/>
                </a:solidFill>
                <a:latin typeface="Arial"/>
              </a:rPr>
              <a:t>Spatial graph</a:t>
            </a:r>
          </a:p>
        </p:txBody>
      </p:sp>
      <p:cxnSp>
        <p:nvCxnSpPr>
          <p:cNvPr id="98" name="Connector 97"/>
          <p:cNvCxnSpPr/>
          <p:nvPr/>
        </p:nvCxnSpPr>
        <p:spPr>
          <a:xfrm>
            <a:off x="1918411" y="2423160"/>
            <a:ext cx="182880" cy="0"/>
          </a:xfrm>
          <a:prstGeom prst="line">
            <a:avLst/>
          </a:prstGeom>
          <a:ln w="19050">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3836822" y="1865376"/>
            <a:ext cx="1470355" cy="1115568"/>
          </a:xfrm>
          <a:prstGeom prst="rect">
            <a:avLst/>
          </a:prstGeom>
          <a:solidFill>
            <a:srgbClr val="FFFFFF"/>
          </a:solidFill>
          <a:ln w="12700">
            <a:solidFill>
              <a:srgbClr val="1C45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Oval 99"/>
          <p:cNvSpPr/>
          <p:nvPr/>
        </p:nvSpPr>
        <p:spPr>
          <a:xfrm>
            <a:off x="3900830" y="1938528"/>
            <a:ext cx="237744" cy="237744"/>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000" b="1" i="0">
                <a:solidFill>
                  <a:srgbClr val="FFFFFF"/>
                </a:solidFill>
                <a:latin typeface="Arial"/>
              </a:rPr>
              <a:t>3</a:t>
            </a:r>
          </a:p>
        </p:txBody>
      </p:sp>
      <p:sp>
        <p:nvSpPr>
          <p:cNvPr id="101" name="TextBox 100"/>
          <p:cNvSpPr txBox="1"/>
          <p:nvPr/>
        </p:nvSpPr>
        <p:spPr>
          <a:xfrm>
            <a:off x="4166006" y="1901952"/>
            <a:ext cx="1104595" cy="329184"/>
          </a:xfrm>
          <a:prstGeom prst="rect">
            <a:avLst/>
          </a:prstGeom>
          <a:noFill/>
        </p:spPr>
        <p:txBody>
          <a:bodyPr wrap="square" anchor="ctr" lIns="36576" rIns="36576" tIns="36576" bIns="36576"/>
          <a:lstStyle/>
          <a:p>
            <a:pPr algn="l" marL="0" indent="0">
              <a:lnSpc>
                <a:spcPct val="100000"/>
              </a:lnSpc>
              <a:spcAft>
                <a:spcPts val="0"/>
              </a:spcAft>
              <a:buNone/>
            </a:pPr>
            <a:r>
              <a:rPr sz="800" b="1" i="0">
                <a:solidFill>
                  <a:srgbClr val="A9322B"/>
                </a:solidFill>
                <a:latin typeface="Arial"/>
              </a:rPr>
              <a:t>GENERATIVE</a:t>
            </a:r>
          </a:p>
        </p:txBody>
      </p:sp>
      <p:sp>
        <p:nvSpPr>
          <p:cNvPr id="102" name="TextBox 101"/>
          <p:cNvSpPr txBox="1"/>
          <p:nvPr/>
        </p:nvSpPr>
        <p:spPr>
          <a:xfrm>
            <a:off x="3891686" y="2212848"/>
            <a:ext cx="1360627" cy="420624"/>
          </a:xfrm>
          <a:prstGeom prst="rect">
            <a:avLst/>
          </a:prstGeom>
          <a:noFill/>
        </p:spPr>
        <p:txBody>
          <a:bodyPr wrap="square" anchor="ctr" lIns="36576" rIns="36576" tIns="36576" bIns="36576"/>
          <a:lstStyle/>
          <a:p>
            <a:pPr algn="ctr" marL="0" indent="0">
              <a:lnSpc>
                <a:spcPct val="100000"/>
              </a:lnSpc>
              <a:spcAft>
                <a:spcPts val="0"/>
              </a:spcAft>
              <a:buNone/>
            </a:pPr>
            <a:r>
              <a:rPr sz="1050" b="1" i="0">
                <a:solidFill>
                  <a:srgbClr val="1C4587"/>
                </a:solidFill>
                <a:latin typeface="Cambria"/>
              </a:rPr>
              <a:t>Floor-Plan Generation Model</a:t>
            </a:r>
          </a:p>
        </p:txBody>
      </p:sp>
      <p:sp>
        <p:nvSpPr>
          <p:cNvPr id="103" name="Rectangle 102"/>
          <p:cNvSpPr/>
          <p:nvPr/>
        </p:nvSpPr>
        <p:spPr>
          <a:xfrm>
            <a:off x="3909974" y="2651760"/>
            <a:ext cx="1324051" cy="256032"/>
          </a:xfrm>
          <a:prstGeom prst="rect">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3909974" y="2651760"/>
            <a:ext cx="1324051" cy="256032"/>
          </a:xfrm>
          <a:prstGeom prst="rect">
            <a:avLst/>
          </a:prstGeom>
          <a:noFill/>
        </p:spPr>
        <p:txBody>
          <a:bodyPr wrap="square" anchor="ctr" lIns="36576" rIns="36576" tIns="36576" bIns="36576"/>
          <a:lstStyle/>
          <a:p>
            <a:pPr algn="ctr" marL="0" indent="0">
              <a:lnSpc>
                <a:spcPct val="100000"/>
              </a:lnSpc>
              <a:spcAft>
                <a:spcPts val="0"/>
              </a:spcAft>
              <a:buNone/>
            </a:pPr>
            <a:r>
              <a:rPr sz="850" b="1" i="0">
                <a:solidFill>
                  <a:srgbClr val="13315F"/>
                </a:solidFill>
                <a:latin typeface="Arial"/>
              </a:rPr>
              <a:t>Candidate layouts</a:t>
            </a:r>
          </a:p>
        </p:txBody>
      </p:sp>
      <p:cxnSp>
        <p:nvCxnSpPr>
          <p:cNvPr id="105" name="Connector 104"/>
          <p:cNvCxnSpPr/>
          <p:nvPr/>
        </p:nvCxnSpPr>
        <p:spPr>
          <a:xfrm>
            <a:off x="3626510" y="2423160"/>
            <a:ext cx="182880" cy="0"/>
          </a:xfrm>
          <a:prstGeom prst="line">
            <a:avLst/>
          </a:prstGeom>
          <a:ln w="19050">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5544921" y="1865376"/>
            <a:ext cx="1470355" cy="1115568"/>
          </a:xfrm>
          <a:prstGeom prst="rect">
            <a:avLst/>
          </a:prstGeom>
          <a:solidFill>
            <a:srgbClr val="FFFFFF"/>
          </a:solidFill>
          <a:ln w="12700">
            <a:solidFill>
              <a:srgbClr val="1C45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Oval 106"/>
          <p:cNvSpPr/>
          <p:nvPr/>
        </p:nvSpPr>
        <p:spPr>
          <a:xfrm>
            <a:off x="5608929" y="1938528"/>
            <a:ext cx="237744" cy="237744"/>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000" b="1" i="0">
                <a:solidFill>
                  <a:srgbClr val="FFFFFF"/>
                </a:solidFill>
                <a:latin typeface="Arial"/>
              </a:rPr>
              <a:t>4</a:t>
            </a:r>
          </a:p>
        </p:txBody>
      </p:sp>
      <p:sp>
        <p:nvSpPr>
          <p:cNvPr id="108" name="TextBox 107"/>
          <p:cNvSpPr txBox="1"/>
          <p:nvPr/>
        </p:nvSpPr>
        <p:spPr>
          <a:xfrm>
            <a:off x="5874105" y="1901952"/>
            <a:ext cx="1104595" cy="329184"/>
          </a:xfrm>
          <a:prstGeom prst="rect">
            <a:avLst/>
          </a:prstGeom>
          <a:noFill/>
        </p:spPr>
        <p:txBody>
          <a:bodyPr wrap="square" anchor="ctr" lIns="36576" rIns="36576" tIns="36576" bIns="36576"/>
          <a:lstStyle/>
          <a:p>
            <a:pPr algn="l" marL="0" indent="0">
              <a:lnSpc>
                <a:spcPct val="100000"/>
              </a:lnSpc>
              <a:spcAft>
                <a:spcPts val="0"/>
              </a:spcAft>
              <a:buNone/>
            </a:pPr>
            <a:r>
              <a:rPr sz="800" b="1" i="0">
                <a:solidFill>
                  <a:srgbClr val="A9322B"/>
                </a:solidFill>
                <a:latin typeface="Arial"/>
              </a:rPr>
              <a:t>EVALUATION</a:t>
            </a:r>
          </a:p>
        </p:txBody>
      </p:sp>
      <p:sp>
        <p:nvSpPr>
          <p:cNvPr id="109" name="TextBox 108"/>
          <p:cNvSpPr txBox="1"/>
          <p:nvPr/>
        </p:nvSpPr>
        <p:spPr>
          <a:xfrm>
            <a:off x="5599785" y="2212848"/>
            <a:ext cx="1360627" cy="420624"/>
          </a:xfrm>
          <a:prstGeom prst="rect">
            <a:avLst/>
          </a:prstGeom>
          <a:noFill/>
        </p:spPr>
        <p:txBody>
          <a:bodyPr wrap="square" anchor="ctr" lIns="36576" rIns="36576" tIns="36576" bIns="36576"/>
          <a:lstStyle/>
          <a:p>
            <a:pPr algn="ctr" marL="0" indent="0">
              <a:lnSpc>
                <a:spcPct val="100000"/>
              </a:lnSpc>
              <a:spcAft>
                <a:spcPts val="0"/>
              </a:spcAft>
              <a:buNone/>
            </a:pPr>
            <a:r>
              <a:rPr sz="1050" b="1" i="0">
                <a:solidFill>
                  <a:srgbClr val="1C4587"/>
                </a:solidFill>
                <a:latin typeface="Cambria"/>
              </a:rPr>
              <a:t>Spatial Critic Agent</a:t>
            </a:r>
          </a:p>
        </p:txBody>
      </p:sp>
      <p:sp>
        <p:nvSpPr>
          <p:cNvPr id="110" name="Rectangle 109"/>
          <p:cNvSpPr/>
          <p:nvPr/>
        </p:nvSpPr>
        <p:spPr>
          <a:xfrm>
            <a:off x="5618073" y="2651760"/>
            <a:ext cx="1324051" cy="256032"/>
          </a:xfrm>
          <a:prstGeom prst="rect">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5618073" y="2651760"/>
            <a:ext cx="1324051" cy="256032"/>
          </a:xfrm>
          <a:prstGeom prst="rect">
            <a:avLst/>
          </a:prstGeom>
          <a:noFill/>
        </p:spPr>
        <p:txBody>
          <a:bodyPr wrap="square" anchor="ctr" lIns="36576" rIns="36576" tIns="36576" bIns="36576"/>
          <a:lstStyle/>
          <a:p>
            <a:pPr algn="ctr" marL="0" indent="0">
              <a:lnSpc>
                <a:spcPct val="100000"/>
              </a:lnSpc>
              <a:spcAft>
                <a:spcPts val="0"/>
              </a:spcAft>
              <a:buNone/>
            </a:pPr>
            <a:r>
              <a:rPr sz="850" b="1" i="0">
                <a:solidFill>
                  <a:srgbClr val="13315F"/>
                </a:solidFill>
                <a:latin typeface="Arial"/>
              </a:rPr>
              <a:t>Spatial score</a:t>
            </a:r>
          </a:p>
        </p:txBody>
      </p:sp>
      <p:cxnSp>
        <p:nvCxnSpPr>
          <p:cNvPr id="112" name="Connector 111"/>
          <p:cNvCxnSpPr/>
          <p:nvPr/>
        </p:nvCxnSpPr>
        <p:spPr>
          <a:xfrm>
            <a:off x="5334609" y="2423160"/>
            <a:ext cx="182880" cy="0"/>
          </a:xfrm>
          <a:prstGeom prst="line">
            <a:avLst/>
          </a:prstGeom>
          <a:ln w="19050">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3" name="Rectangle 112"/>
          <p:cNvSpPr/>
          <p:nvPr/>
        </p:nvSpPr>
        <p:spPr>
          <a:xfrm>
            <a:off x="7253020" y="1865376"/>
            <a:ext cx="1470355" cy="1115568"/>
          </a:xfrm>
          <a:prstGeom prst="rect">
            <a:avLst/>
          </a:prstGeom>
          <a:solidFill>
            <a:srgbClr val="FFFFFF"/>
          </a:solidFill>
          <a:ln w="12700">
            <a:solidFill>
              <a:srgbClr val="1C45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Oval 113"/>
          <p:cNvSpPr/>
          <p:nvPr/>
        </p:nvSpPr>
        <p:spPr>
          <a:xfrm>
            <a:off x="7317028" y="1938528"/>
            <a:ext cx="237744" cy="237744"/>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000" b="1" i="0">
                <a:solidFill>
                  <a:srgbClr val="FFFFFF"/>
                </a:solidFill>
                <a:latin typeface="Arial"/>
              </a:rPr>
              <a:t>5</a:t>
            </a:r>
          </a:p>
        </p:txBody>
      </p:sp>
      <p:sp>
        <p:nvSpPr>
          <p:cNvPr id="115" name="TextBox 114"/>
          <p:cNvSpPr txBox="1"/>
          <p:nvPr/>
        </p:nvSpPr>
        <p:spPr>
          <a:xfrm>
            <a:off x="7582204" y="1901952"/>
            <a:ext cx="1104595" cy="329184"/>
          </a:xfrm>
          <a:prstGeom prst="rect">
            <a:avLst/>
          </a:prstGeom>
          <a:noFill/>
        </p:spPr>
        <p:txBody>
          <a:bodyPr wrap="square" anchor="ctr" lIns="36576" rIns="36576" tIns="36576" bIns="36576"/>
          <a:lstStyle/>
          <a:p>
            <a:pPr algn="l" marL="0" indent="0">
              <a:lnSpc>
                <a:spcPct val="100000"/>
              </a:lnSpc>
              <a:spcAft>
                <a:spcPts val="0"/>
              </a:spcAft>
              <a:buNone/>
            </a:pPr>
            <a:r>
              <a:rPr sz="800" b="1" i="0">
                <a:solidFill>
                  <a:srgbClr val="A9322B"/>
                </a:solidFill>
                <a:latin typeface="Arial"/>
              </a:rPr>
              <a:t>REFINEMENT</a:t>
            </a:r>
          </a:p>
        </p:txBody>
      </p:sp>
      <p:sp>
        <p:nvSpPr>
          <p:cNvPr id="116" name="TextBox 115"/>
          <p:cNvSpPr txBox="1"/>
          <p:nvPr/>
        </p:nvSpPr>
        <p:spPr>
          <a:xfrm>
            <a:off x="7307884" y="2212848"/>
            <a:ext cx="1360627" cy="420624"/>
          </a:xfrm>
          <a:prstGeom prst="rect">
            <a:avLst/>
          </a:prstGeom>
          <a:noFill/>
        </p:spPr>
        <p:txBody>
          <a:bodyPr wrap="square" anchor="ctr" lIns="36576" rIns="36576" tIns="36576" bIns="36576"/>
          <a:lstStyle/>
          <a:p>
            <a:pPr algn="ctr" marL="0" indent="0">
              <a:lnSpc>
                <a:spcPct val="100000"/>
              </a:lnSpc>
              <a:spcAft>
                <a:spcPts val="0"/>
              </a:spcAft>
              <a:buNone/>
            </a:pPr>
            <a:r>
              <a:rPr sz="1050" b="1" i="0">
                <a:solidFill>
                  <a:srgbClr val="1C4587"/>
                </a:solidFill>
                <a:latin typeface="Cambria"/>
              </a:rPr>
              <a:t>Optimization Agent</a:t>
            </a:r>
          </a:p>
        </p:txBody>
      </p:sp>
      <p:sp>
        <p:nvSpPr>
          <p:cNvPr id="117" name="Rectangle 116"/>
          <p:cNvSpPr/>
          <p:nvPr/>
        </p:nvSpPr>
        <p:spPr>
          <a:xfrm>
            <a:off x="7326172" y="2651760"/>
            <a:ext cx="1324051" cy="256032"/>
          </a:xfrm>
          <a:prstGeom prst="rect">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7326172" y="2651760"/>
            <a:ext cx="1324051" cy="256032"/>
          </a:xfrm>
          <a:prstGeom prst="rect">
            <a:avLst/>
          </a:prstGeom>
          <a:noFill/>
        </p:spPr>
        <p:txBody>
          <a:bodyPr wrap="square" anchor="ctr" lIns="36576" rIns="36576" tIns="36576" bIns="36576"/>
          <a:lstStyle/>
          <a:p>
            <a:pPr algn="ctr" marL="0" indent="0">
              <a:lnSpc>
                <a:spcPct val="100000"/>
              </a:lnSpc>
              <a:spcAft>
                <a:spcPts val="0"/>
              </a:spcAft>
              <a:buNone/>
            </a:pPr>
            <a:r>
              <a:rPr sz="850" b="1" i="0">
                <a:solidFill>
                  <a:srgbClr val="13315F"/>
                </a:solidFill>
                <a:latin typeface="Arial"/>
              </a:rPr>
              <a:t>Refined layout</a:t>
            </a:r>
          </a:p>
        </p:txBody>
      </p:sp>
      <p:cxnSp>
        <p:nvCxnSpPr>
          <p:cNvPr id="119" name="Connector 118"/>
          <p:cNvCxnSpPr/>
          <p:nvPr/>
        </p:nvCxnSpPr>
        <p:spPr>
          <a:xfrm>
            <a:off x="7042708" y="2423160"/>
            <a:ext cx="182880" cy="0"/>
          </a:xfrm>
          <a:prstGeom prst="line">
            <a:avLst/>
          </a:prstGeom>
          <a:ln w="19050">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155801" y="1645920"/>
            <a:ext cx="0" cy="201168"/>
          </a:xfrm>
          <a:prstGeom prst="line">
            <a:avLst/>
          </a:prstGeom>
          <a:ln w="19050">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7713878" y="2980944"/>
            <a:ext cx="0" cy="237743"/>
          </a:xfrm>
          <a:prstGeom prst="line">
            <a:avLst/>
          </a:prstGeom>
          <a:ln w="19050">
            <a:solidFill>
              <a:srgbClr val="A9322B"/>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a:off x="6280099" y="3218687"/>
            <a:ext cx="1433779" cy="0"/>
          </a:xfrm>
          <a:prstGeom prst="line">
            <a:avLst/>
          </a:prstGeom>
          <a:ln w="19050">
            <a:solidFill>
              <a:srgbClr val="A9322B"/>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6280099" y="2999232"/>
            <a:ext cx="0" cy="219455"/>
          </a:xfrm>
          <a:prstGeom prst="line">
            <a:avLst/>
          </a:prstGeom>
          <a:ln w="19050">
            <a:solidFill>
              <a:srgbClr val="A932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6280099" y="3236975"/>
            <a:ext cx="1525219" cy="219456"/>
          </a:xfrm>
          <a:prstGeom prst="rect">
            <a:avLst/>
          </a:prstGeom>
          <a:noFill/>
        </p:spPr>
        <p:txBody>
          <a:bodyPr wrap="square" anchor="t" lIns="36576" rIns="36576" tIns="36576" bIns="36576"/>
          <a:lstStyle/>
          <a:p>
            <a:pPr algn="ctr" marL="0" indent="0">
              <a:lnSpc>
                <a:spcPct val="100000"/>
              </a:lnSpc>
              <a:spcAft>
                <a:spcPts val="0"/>
              </a:spcAft>
              <a:buNone/>
            </a:pPr>
            <a:r>
              <a:rPr sz="850" b="1" i="0">
                <a:solidFill>
                  <a:srgbClr val="A9322B"/>
                </a:solidFill>
                <a:latin typeface="Arial"/>
              </a:rPr>
              <a:t>Iterate · Improve</a:t>
            </a:r>
          </a:p>
        </p:txBody>
      </p:sp>
      <p:sp>
        <p:nvSpPr>
          <p:cNvPr id="125" name="TextBox 124"/>
          <p:cNvSpPr txBox="1"/>
          <p:nvPr/>
        </p:nvSpPr>
        <p:spPr>
          <a:xfrm>
            <a:off x="420624" y="3054096"/>
            <a:ext cx="5722315" cy="457200"/>
          </a:xfrm>
          <a:prstGeom prst="rect">
            <a:avLst/>
          </a:prstGeom>
          <a:noFill/>
        </p:spPr>
        <p:txBody>
          <a:bodyPr wrap="square" anchor="ctr" lIns="36576" rIns="36576" tIns="36576" bIns="36576"/>
          <a:lstStyle/>
          <a:p>
            <a:pPr algn="l" marL="0" indent="0">
              <a:lnSpc>
                <a:spcPct val="100000"/>
              </a:lnSpc>
              <a:spcAft>
                <a:spcPts val="0"/>
              </a:spcAft>
              <a:buNone/>
            </a:pPr>
            <a:r>
              <a:rPr sz="900" b="1" i="0">
                <a:solidFill>
                  <a:srgbClr val="A9322B"/>
                </a:solidFill>
                <a:latin typeface="Arial"/>
              </a:rPr>
              <a:t>Optimization loop:  </a:t>
            </a:r>
            <a:r>
              <a:rPr sz="900" b="1" i="0">
                <a:solidFill>
                  <a:srgbClr val="1F2937"/>
                </a:solidFill>
                <a:latin typeface="Arial"/>
              </a:rPr>
              <a:t>Generate → Evaluate → Improve → Re-evaluate</a:t>
            </a:r>
            <a:r>
              <a:rPr sz="900" b="0" i="0">
                <a:solidFill>
                  <a:srgbClr val="4B5563"/>
                </a:solidFill>
                <a:latin typeface="Arial"/>
              </a:rPr>
              <a:t> — repeats until quality stabilises</a:t>
            </a:r>
          </a:p>
        </p:txBody>
      </p:sp>
      <p:cxnSp>
        <p:nvCxnSpPr>
          <p:cNvPr id="126" name="Connector 125"/>
          <p:cNvCxnSpPr/>
          <p:nvPr/>
        </p:nvCxnSpPr>
        <p:spPr>
          <a:xfrm>
            <a:off x="8262518" y="2980944"/>
            <a:ext cx="0" cy="640080"/>
          </a:xfrm>
          <a:prstGeom prst="line">
            <a:avLst/>
          </a:prstGeom>
          <a:ln w="19050">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7" name="Rectangle 126"/>
          <p:cNvSpPr/>
          <p:nvPr/>
        </p:nvSpPr>
        <p:spPr>
          <a:xfrm>
            <a:off x="420624" y="3639312"/>
            <a:ext cx="8302752" cy="822960"/>
          </a:xfrm>
          <a:prstGeom prst="rect">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603504" y="3675887"/>
            <a:ext cx="7936992" cy="749808"/>
          </a:xfrm>
          <a:prstGeom prst="rect">
            <a:avLst/>
          </a:prstGeom>
          <a:noFill/>
        </p:spPr>
        <p:txBody>
          <a:bodyPr wrap="square" anchor="ctr" lIns="36576" rIns="36576" tIns="36576" bIns="36576"/>
          <a:lstStyle/>
          <a:p>
            <a:pPr algn="ctr" marL="0" indent="0">
              <a:lnSpc>
                <a:spcPct val="100000"/>
              </a:lnSpc>
              <a:spcAft>
                <a:spcPts val="0"/>
              </a:spcAft>
              <a:buNone/>
            </a:pPr>
            <a:r>
              <a:rPr sz="1300" b="1" i="0">
                <a:solidFill>
                  <a:srgbClr val="FFFFFF"/>
                </a:solidFill>
                <a:latin typeface="Cambria"/>
              </a:rPr>
              <a:t>OPTIMIZED FLOOR PLAN</a:t>
            </a:r>
          </a:p>
          <a:p>
            <a:pPr algn="ctr" marL="0" indent="0">
              <a:lnSpc>
                <a:spcPct val="100000"/>
              </a:lnSpc>
              <a:spcBef>
                <a:spcPts val="200"/>
              </a:spcBef>
              <a:spcAft>
                <a:spcPts val="0"/>
              </a:spcAft>
              <a:buNone/>
            </a:pPr>
            <a:r>
              <a:rPr sz="1050" b="0" i="0">
                <a:solidFill>
                  <a:srgbClr val="DCE6F4"/>
                </a:solidFill>
                <a:latin typeface="Arial"/>
              </a:rPr>
              <a:t>Optimized 2D floor plan  ·  structured spatial representation (rooms, sizes, relationships)  ·  spatial evaluation score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a:ln cap="flat" cmpd="sng" w="9525">
            <a:solidFill>
              <a:srgbClr val="000000"/>
            </a:solidFill>
            <a:prstDash val="dash"/>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en" sz="2000">
                <a:solidFill>
                  <a:srgbClr val="1C4587"/>
                </a:solidFill>
                <a:latin typeface="Cambria"/>
                <a:ea typeface="Cambria"/>
                <a:cs typeface="Cambria"/>
                <a:sym typeface="Cambria"/>
              </a:rPr>
              <a:t>Module Description</a:t>
            </a:r>
            <a:endParaRPr b="1" sz="2000">
              <a:solidFill>
                <a:srgbClr val="1C4587"/>
              </a:solidFill>
              <a:latin typeface="Cambria"/>
              <a:ea typeface="Cambria"/>
              <a:cs typeface="Cambria"/>
              <a:sym typeface="Cambria"/>
            </a:endParaRPr>
          </a:p>
        </p:txBody>
      </p:sp>
      <p:sp>
        <p:nvSpPr>
          <p:cNvPr id="89" name="Google Shape;89;p18"/>
          <p:cNvSpPr txBox="1"/>
          <p:nvPr>
            <p:ph idx="1" type="body"/>
          </p:nvPr>
        </p:nvSpPr>
        <p:spPr>
          <a:xfrm>
            <a:off x="311700" y="1152475"/>
            <a:ext cx="8520600" cy="3416400"/>
          </a:xfrm>
          <a:prstGeom prst="rect">
            <a:avLst/>
          </a:prstGeom>
          <a:ln cap="flat" cmpd="sng" w="9525">
            <a:solidFill>
              <a:srgbClr val="000000"/>
            </a:solidFill>
            <a:prstDash val="dash"/>
            <a:round/>
            <a:headEnd len="sm" w="sm" type="none"/>
            <a:tailEnd len="sm" w="sm" type="none"/>
          </a:ln>
        </p:spPr>
        <p:txBody>
          <a:bodyPr anchorCtr="0" anchor="t" bIns="36576" lIns="36576" spcFirstLastPara="1" rIns="36576" wrap="square" tIns="36576"/>
          <a:lstStyle/>
          <a:p>
            <a:pPr indent="0" lvl="0" marL="0" marR="0" rtl="0" algn="l">
              <a:lnSpc>
                <a:spcPct val="100000"/>
              </a:lnSpc>
              <a:spcBef>
                <a:spcPts val="0"/>
              </a:spcBef>
              <a:spcAft>
                <a:spcPts val="0"/>
              </a:spcAft>
              <a:buNone/>
            </a:pPr>
            <a:r>
              <a:rPr sz="400" b="0" i="0">
                <a:solidFill>
                  <a:srgbClr val="1F2937"/>
                </a:solidFill>
                <a:latin typeface="Arial"/>
              </a:rPr>
              <a:t> </a:t>
            </a:r>
            <a:endParaRPr/>
          </a:p>
        </p:txBody>
      </p:sp>
      <p:sp>
        <p:nvSpPr>
          <p:cNvPr id="90" name="Rectangle 89"/>
          <p:cNvSpPr/>
          <p:nvPr/>
        </p:nvSpPr>
        <p:spPr>
          <a:xfrm>
            <a:off x="420624" y="1243584"/>
            <a:ext cx="8302752" cy="589788"/>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420624" y="1243584"/>
            <a:ext cx="2240280" cy="589788"/>
          </a:xfrm>
          <a:prstGeom prst="rect">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Oval 91"/>
          <p:cNvSpPr/>
          <p:nvPr/>
        </p:nvSpPr>
        <p:spPr>
          <a:xfrm>
            <a:off x="512064" y="1401318"/>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100" b="1" i="0">
                <a:solidFill>
                  <a:srgbClr val="1C4587"/>
                </a:solidFill>
                <a:latin typeface="Arial"/>
              </a:rPr>
              <a:t>1</a:t>
            </a:r>
          </a:p>
        </p:txBody>
      </p:sp>
      <p:sp>
        <p:nvSpPr>
          <p:cNvPr id="93" name="TextBox 92"/>
          <p:cNvSpPr txBox="1"/>
          <p:nvPr/>
        </p:nvSpPr>
        <p:spPr>
          <a:xfrm>
            <a:off x="859536" y="1243584"/>
            <a:ext cx="1764792" cy="589788"/>
          </a:xfrm>
          <a:prstGeom prst="rect">
            <a:avLst/>
          </a:prstGeom>
          <a:noFill/>
        </p:spPr>
        <p:txBody>
          <a:bodyPr wrap="square" anchor="ctr" lIns="36576" rIns="36576" tIns="36576" bIns="36576"/>
          <a:lstStyle/>
          <a:p>
            <a:pPr algn="l" marL="0" indent="0">
              <a:lnSpc>
                <a:spcPct val="100000"/>
              </a:lnSpc>
              <a:spcAft>
                <a:spcPts val="0"/>
              </a:spcAft>
              <a:buNone/>
            </a:pPr>
            <a:r>
              <a:rPr sz="1100" b="1" i="0">
                <a:solidFill>
                  <a:srgbClr val="FFFFFF"/>
                </a:solidFill>
                <a:latin typeface="Cambria"/>
              </a:rPr>
              <a:t>Requirement Agent</a:t>
            </a:r>
          </a:p>
          <a:p>
            <a:pPr algn="l" marL="0" indent="0">
              <a:lnSpc>
                <a:spcPct val="100000"/>
              </a:lnSpc>
              <a:spcBef>
                <a:spcPts val="100"/>
              </a:spcBef>
              <a:spcAft>
                <a:spcPts val="0"/>
              </a:spcAft>
              <a:buNone/>
            </a:pPr>
            <a:r>
              <a:rPr sz="800" b="1" i="0">
                <a:solidFill>
                  <a:srgbClr val="DCE6F4"/>
                </a:solidFill>
                <a:latin typeface="Arial"/>
              </a:rPr>
              <a:t>LLM</a:t>
            </a:r>
          </a:p>
        </p:txBody>
      </p:sp>
      <p:sp>
        <p:nvSpPr>
          <p:cNvPr id="94" name="TextBox 93"/>
          <p:cNvSpPr txBox="1"/>
          <p:nvPr/>
        </p:nvSpPr>
        <p:spPr>
          <a:xfrm>
            <a:off x="2770632" y="1243584"/>
            <a:ext cx="4306824" cy="589788"/>
          </a:xfrm>
          <a:prstGeom prst="rect">
            <a:avLst/>
          </a:prstGeom>
          <a:noFill/>
        </p:spPr>
        <p:txBody>
          <a:bodyPr wrap="square" anchor="ctr" lIns="36576" rIns="36576" tIns="36576" bIns="36576"/>
          <a:lstStyle/>
          <a:p>
            <a:pPr algn="l" marL="0" indent="0">
              <a:lnSpc>
                <a:spcPct val="100000"/>
              </a:lnSpc>
              <a:spcAft>
                <a:spcPts val="0"/>
              </a:spcAft>
              <a:buNone/>
            </a:pPr>
            <a:r>
              <a:rPr sz="1000" b="0" i="0">
                <a:solidFill>
                  <a:srgbClr val="1F2937"/>
                </a:solidFill>
                <a:latin typeface="Arial"/>
              </a:rPr>
              <a:t>Reads the natural-language brief and extracts the required spaces, approximate room sizes, plot dimensions and spatial preferences.</a:t>
            </a:r>
          </a:p>
        </p:txBody>
      </p:sp>
      <p:sp>
        <p:nvSpPr>
          <p:cNvPr id="95" name="Rounded Rectangle 94"/>
          <p:cNvSpPr/>
          <p:nvPr/>
        </p:nvSpPr>
        <p:spPr>
          <a:xfrm>
            <a:off x="7150608" y="1353312"/>
            <a:ext cx="1481328" cy="370332"/>
          </a:xfrm>
          <a:prstGeom prst="roundRect">
            <a:avLst>
              <a:gd name="adj" fmla="val 50000"/>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7150608" y="1353312"/>
            <a:ext cx="1481328" cy="370332"/>
          </a:xfrm>
          <a:prstGeom prst="rect">
            <a:avLst/>
          </a:prstGeom>
          <a:noFill/>
        </p:spPr>
        <p:txBody>
          <a:bodyPr wrap="square" anchor="ctr" lIns="36576" rIns="36576" tIns="36576" bIns="36576"/>
          <a:lstStyle/>
          <a:p>
            <a:pPr algn="ctr" marL="0" indent="0">
              <a:lnSpc>
                <a:spcPct val="100000"/>
              </a:lnSpc>
              <a:spcAft>
                <a:spcPts val="0"/>
              </a:spcAft>
              <a:buNone/>
            </a:pPr>
            <a:r>
              <a:rPr sz="750" b="1" i="0">
                <a:solidFill>
                  <a:srgbClr val="4B5563"/>
                </a:solidFill>
                <a:latin typeface="Arial"/>
              </a:rPr>
              <a:t>Output  </a:t>
            </a:r>
            <a:r>
              <a:rPr sz="950" b="1" i="0">
                <a:solidFill>
                  <a:srgbClr val="13315F"/>
                </a:solidFill>
                <a:latin typeface="Arial"/>
              </a:rPr>
              <a:t>Extracted requirements</a:t>
            </a:r>
          </a:p>
        </p:txBody>
      </p:sp>
      <p:sp>
        <p:nvSpPr>
          <p:cNvPr id="97" name="Rectangle 96"/>
          <p:cNvSpPr/>
          <p:nvPr/>
        </p:nvSpPr>
        <p:spPr>
          <a:xfrm>
            <a:off x="420624" y="1906524"/>
            <a:ext cx="8302752" cy="589788"/>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420624" y="1906524"/>
            <a:ext cx="2240280" cy="589788"/>
          </a:xfrm>
          <a:prstGeom prst="rect">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Oval 98"/>
          <p:cNvSpPr/>
          <p:nvPr/>
        </p:nvSpPr>
        <p:spPr>
          <a:xfrm>
            <a:off x="512064" y="2064257"/>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100" b="1" i="0">
                <a:solidFill>
                  <a:srgbClr val="1C4587"/>
                </a:solidFill>
                <a:latin typeface="Arial"/>
              </a:rPr>
              <a:t>2</a:t>
            </a:r>
          </a:p>
        </p:txBody>
      </p:sp>
      <p:sp>
        <p:nvSpPr>
          <p:cNvPr id="100" name="TextBox 99"/>
          <p:cNvSpPr txBox="1"/>
          <p:nvPr/>
        </p:nvSpPr>
        <p:spPr>
          <a:xfrm>
            <a:off x="859536" y="1906524"/>
            <a:ext cx="1764792" cy="589788"/>
          </a:xfrm>
          <a:prstGeom prst="rect">
            <a:avLst/>
          </a:prstGeom>
          <a:noFill/>
        </p:spPr>
        <p:txBody>
          <a:bodyPr wrap="square" anchor="ctr" lIns="36576" rIns="36576" tIns="36576" bIns="36576"/>
          <a:lstStyle/>
          <a:p>
            <a:pPr algn="l" marL="0" indent="0">
              <a:lnSpc>
                <a:spcPct val="100000"/>
              </a:lnSpc>
              <a:spcAft>
                <a:spcPts val="0"/>
              </a:spcAft>
              <a:buNone/>
            </a:pPr>
            <a:r>
              <a:rPr sz="1100" b="1" i="0">
                <a:solidFill>
                  <a:srgbClr val="FFFFFF"/>
                </a:solidFill>
                <a:latin typeface="Cambria"/>
              </a:rPr>
              <a:t>Spatial Planning Agent</a:t>
            </a:r>
          </a:p>
          <a:p>
            <a:pPr algn="l" marL="0" indent="0">
              <a:lnSpc>
                <a:spcPct val="100000"/>
              </a:lnSpc>
              <a:spcBef>
                <a:spcPts val="100"/>
              </a:spcBef>
              <a:spcAft>
                <a:spcPts val="0"/>
              </a:spcAft>
              <a:buNone/>
            </a:pPr>
            <a:r>
              <a:rPr sz="800" b="1" i="0">
                <a:solidFill>
                  <a:srgbClr val="DCE6F4"/>
                </a:solidFill>
                <a:latin typeface="Arial"/>
              </a:rPr>
              <a:t>REASONING</a:t>
            </a:r>
          </a:p>
        </p:txBody>
      </p:sp>
      <p:sp>
        <p:nvSpPr>
          <p:cNvPr id="101" name="TextBox 100"/>
          <p:cNvSpPr txBox="1"/>
          <p:nvPr/>
        </p:nvSpPr>
        <p:spPr>
          <a:xfrm>
            <a:off x="2770632" y="1906524"/>
            <a:ext cx="4306824" cy="589788"/>
          </a:xfrm>
          <a:prstGeom prst="rect">
            <a:avLst/>
          </a:prstGeom>
          <a:noFill/>
        </p:spPr>
        <p:txBody>
          <a:bodyPr wrap="square" anchor="ctr" lIns="36576" rIns="36576" tIns="36576" bIns="36576"/>
          <a:lstStyle/>
          <a:p>
            <a:pPr algn="l" marL="0" indent="0">
              <a:lnSpc>
                <a:spcPct val="100000"/>
              </a:lnSpc>
              <a:spcAft>
                <a:spcPts val="0"/>
              </a:spcAft>
              <a:buNone/>
            </a:pPr>
            <a:r>
              <a:rPr sz="1000" b="0" i="0">
                <a:solidFill>
                  <a:srgbClr val="1F2937"/>
                </a:solidFill>
                <a:latin typeface="Arial"/>
              </a:rPr>
              <a:t>Converts the requirements into an explicit relationship graph (near · away from · connected to), capturing adjacency, proximity, separation and connectivity before any layout is drawn.</a:t>
            </a:r>
          </a:p>
        </p:txBody>
      </p:sp>
      <p:sp>
        <p:nvSpPr>
          <p:cNvPr id="102" name="Rounded Rectangle 101"/>
          <p:cNvSpPr/>
          <p:nvPr/>
        </p:nvSpPr>
        <p:spPr>
          <a:xfrm>
            <a:off x="7150608" y="2016252"/>
            <a:ext cx="1481328" cy="370332"/>
          </a:xfrm>
          <a:prstGeom prst="roundRect">
            <a:avLst>
              <a:gd name="adj" fmla="val 50000"/>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7150608" y="2016252"/>
            <a:ext cx="1481328" cy="370332"/>
          </a:xfrm>
          <a:prstGeom prst="rect">
            <a:avLst/>
          </a:prstGeom>
          <a:noFill/>
        </p:spPr>
        <p:txBody>
          <a:bodyPr wrap="square" anchor="ctr" lIns="36576" rIns="36576" tIns="36576" bIns="36576"/>
          <a:lstStyle/>
          <a:p>
            <a:pPr algn="ctr" marL="0" indent="0">
              <a:lnSpc>
                <a:spcPct val="100000"/>
              </a:lnSpc>
              <a:spcAft>
                <a:spcPts val="0"/>
              </a:spcAft>
              <a:buNone/>
            </a:pPr>
            <a:r>
              <a:rPr sz="750" b="1" i="0">
                <a:solidFill>
                  <a:srgbClr val="4B5563"/>
                </a:solidFill>
                <a:latin typeface="Arial"/>
              </a:rPr>
              <a:t>Output  </a:t>
            </a:r>
            <a:r>
              <a:rPr sz="950" b="1" i="0">
                <a:solidFill>
                  <a:srgbClr val="13315F"/>
                </a:solidFill>
                <a:latin typeface="Arial"/>
              </a:rPr>
              <a:t>Spatial graph</a:t>
            </a:r>
          </a:p>
        </p:txBody>
      </p:sp>
      <p:sp>
        <p:nvSpPr>
          <p:cNvPr id="104" name="Rectangle 103"/>
          <p:cNvSpPr/>
          <p:nvPr/>
        </p:nvSpPr>
        <p:spPr>
          <a:xfrm>
            <a:off x="420624" y="2569464"/>
            <a:ext cx="8302752" cy="589788"/>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420624" y="2569464"/>
            <a:ext cx="2240280" cy="589788"/>
          </a:xfrm>
          <a:prstGeom prst="rect">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Oval 105"/>
          <p:cNvSpPr/>
          <p:nvPr/>
        </p:nvSpPr>
        <p:spPr>
          <a:xfrm>
            <a:off x="512064" y="2727198"/>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100" b="1" i="0">
                <a:solidFill>
                  <a:srgbClr val="1C4587"/>
                </a:solidFill>
                <a:latin typeface="Arial"/>
              </a:rPr>
              <a:t>3</a:t>
            </a:r>
          </a:p>
        </p:txBody>
      </p:sp>
      <p:sp>
        <p:nvSpPr>
          <p:cNvPr id="107" name="TextBox 106"/>
          <p:cNvSpPr txBox="1"/>
          <p:nvPr/>
        </p:nvSpPr>
        <p:spPr>
          <a:xfrm>
            <a:off x="859536" y="2569464"/>
            <a:ext cx="1764792" cy="589788"/>
          </a:xfrm>
          <a:prstGeom prst="rect">
            <a:avLst/>
          </a:prstGeom>
          <a:noFill/>
        </p:spPr>
        <p:txBody>
          <a:bodyPr wrap="square" anchor="ctr" lIns="36576" rIns="36576" tIns="36576" bIns="36576"/>
          <a:lstStyle/>
          <a:p>
            <a:pPr algn="l" marL="0" indent="0">
              <a:lnSpc>
                <a:spcPct val="100000"/>
              </a:lnSpc>
              <a:spcAft>
                <a:spcPts val="0"/>
              </a:spcAft>
              <a:buNone/>
            </a:pPr>
            <a:r>
              <a:rPr sz="1100" b="1" i="0">
                <a:solidFill>
                  <a:srgbClr val="FFFFFF"/>
                </a:solidFill>
                <a:latin typeface="Cambria"/>
              </a:rPr>
              <a:t>Floor-Plan Generation Model</a:t>
            </a:r>
          </a:p>
          <a:p>
            <a:pPr algn="l" marL="0" indent="0">
              <a:lnSpc>
                <a:spcPct val="100000"/>
              </a:lnSpc>
              <a:spcBef>
                <a:spcPts val="100"/>
              </a:spcBef>
              <a:spcAft>
                <a:spcPts val="0"/>
              </a:spcAft>
              <a:buNone/>
            </a:pPr>
            <a:r>
              <a:rPr sz="800" b="1" i="0">
                <a:solidFill>
                  <a:srgbClr val="DCE6F4"/>
                </a:solidFill>
                <a:latin typeface="Arial"/>
              </a:rPr>
              <a:t>GENERATIVE</a:t>
            </a:r>
          </a:p>
        </p:txBody>
      </p:sp>
      <p:sp>
        <p:nvSpPr>
          <p:cNvPr id="108" name="TextBox 107"/>
          <p:cNvSpPr txBox="1"/>
          <p:nvPr/>
        </p:nvSpPr>
        <p:spPr>
          <a:xfrm>
            <a:off x="2770632" y="2569464"/>
            <a:ext cx="4306824" cy="589788"/>
          </a:xfrm>
          <a:prstGeom prst="rect">
            <a:avLst/>
          </a:prstGeom>
          <a:noFill/>
        </p:spPr>
        <p:txBody>
          <a:bodyPr wrap="square" anchor="ctr" lIns="36576" rIns="36576" tIns="36576" bIns="36576"/>
          <a:lstStyle/>
          <a:p>
            <a:pPr algn="l" marL="0" indent="0">
              <a:lnSpc>
                <a:spcPct val="100000"/>
              </a:lnSpc>
              <a:spcAft>
                <a:spcPts val="0"/>
              </a:spcAft>
              <a:buNone/>
            </a:pPr>
            <a:r>
              <a:rPr sz="1000" b="0" i="0">
                <a:solidFill>
                  <a:srgbClr val="1F2937"/>
                </a:solidFill>
                <a:latin typeface="Arial"/>
              </a:rPr>
              <a:t>Produces multiple candidate layouts per requirement that respect the available plot dimensions and the extracted requirements.</a:t>
            </a:r>
          </a:p>
        </p:txBody>
      </p:sp>
      <p:sp>
        <p:nvSpPr>
          <p:cNvPr id="109" name="Rounded Rectangle 108"/>
          <p:cNvSpPr/>
          <p:nvPr/>
        </p:nvSpPr>
        <p:spPr>
          <a:xfrm>
            <a:off x="7150608" y="2679192"/>
            <a:ext cx="1481328" cy="370332"/>
          </a:xfrm>
          <a:prstGeom prst="roundRect">
            <a:avLst>
              <a:gd name="adj" fmla="val 50000"/>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7150608" y="2679192"/>
            <a:ext cx="1481328" cy="370332"/>
          </a:xfrm>
          <a:prstGeom prst="rect">
            <a:avLst/>
          </a:prstGeom>
          <a:noFill/>
        </p:spPr>
        <p:txBody>
          <a:bodyPr wrap="square" anchor="ctr" lIns="36576" rIns="36576" tIns="36576" bIns="36576"/>
          <a:lstStyle/>
          <a:p>
            <a:pPr algn="ctr" marL="0" indent="0">
              <a:lnSpc>
                <a:spcPct val="100000"/>
              </a:lnSpc>
              <a:spcAft>
                <a:spcPts val="0"/>
              </a:spcAft>
              <a:buNone/>
            </a:pPr>
            <a:r>
              <a:rPr sz="750" b="1" i="0">
                <a:solidFill>
                  <a:srgbClr val="4B5563"/>
                </a:solidFill>
                <a:latin typeface="Arial"/>
              </a:rPr>
              <a:t>Output  </a:t>
            </a:r>
            <a:r>
              <a:rPr sz="950" b="1" i="0">
                <a:solidFill>
                  <a:srgbClr val="13315F"/>
                </a:solidFill>
                <a:latin typeface="Arial"/>
              </a:rPr>
              <a:t>Candidate layouts</a:t>
            </a:r>
          </a:p>
        </p:txBody>
      </p:sp>
      <p:sp>
        <p:nvSpPr>
          <p:cNvPr id="111" name="Rectangle 110"/>
          <p:cNvSpPr/>
          <p:nvPr/>
        </p:nvSpPr>
        <p:spPr>
          <a:xfrm>
            <a:off x="420624" y="3232404"/>
            <a:ext cx="8302752" cy="589788"/>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420624" y="3232404"/>
            <a:ext cx="2240280" cy="589788"/>
          </a:xfrm>
          <a:prstGeom prst="rect">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Oval 112"/>
          <p:cNvSpPr/>
          <p:nvPr/>
        </p:nvSpPr>
        <p:spPr>
          <a:xfrm>
            <a:off x="512064" y="3390138"/>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100" b="1" i="0">
                <a:solidFill>
                  <a:srgbClr val="1C4587"/>
                </a:solidFill>
                <a:latin typeface="Arial"/>
              </a:rPr>
              <a:t>4</a:t>
            </a:r>
          </a:p>
        </p:txBody>
      </p:sp>
      <p:sp>
        <p:nvSpPr>
          <p:cNvPr id="114" name="TextBox 113"/>
          <p:cNvSpPr txBox="1"/>
          <p:nvPr/>
        </p:nvSpPr>
        <p:spPr>
          <a:xfrm>
            <a:off x="859536" y="3232404"/>
            <a:ext cx="1764792" cy="589788"/>
          </a:xfrm>
          <a:prstGeom prst="rect">
            <a:avLst/>
          </a:prstGeom>
          <a:noFill/>
        </p:spPr>
        <p:txBody>
          <a:bodyPr wrap="square" anchor="ctr" lIns="36576" rIns="36576" tIns="36576" bIns="36576"/>
          <a:lstStyle/>
          <a:p>
            <a:pPr algn="l" marL="0" indent="0">
              <a:lnSpc>
                <a:spcPct val="100000"/>
              </a:lnSpc>
              <a:spcAft>
                <a:spcPts val="0"/>
              </a:spcAft>
              <a:buNone/>
            </a:pPr>
            <a:r>
              <a:rPr sz="1100" b="1" i="0">
                <a:solidFill>
                  <a:srgbClr val="FFFFFF"/>
                </a:solidFill>
                <a:latin typeface="Cambria"/>
              </a:rPr>
              <a:t>Spatial Critic Agent</a:t>
            </a:r>
          </a:p>
          <a:p>
            <a:pPr algn="l" marL="0" indent="0">
              <a:lnSpc>
                <a:spcPct val="100000"/>
              </a:lnSpc>
              <a:spcBef>
                <a:spcPts val="100"/>
              </a:spcBef>
              <a:spcAft>
                <a:spcPts val="0"/>
              </a:spcAft>
              <a:buNone/>
            </a:pPr>
            <a:r>
              <a:rPr sz="800" b="1" i="0">
                <a:solidFill>
                  <a:srgbClr val="DCE6F4"/>
                </a:solidFill>
                <a:latin typeface="Arial"/>
              </a:rPr>
              <a:t>EVALUATION</a:t>
            </a:r>
          </a:p>
        </p:txBody>
      </p:sp>
      <p:sp>
        <p:nvSpPr>
          <p:cNvPr id="115" name="TextBox 114"/>
          <p:cNvSpPr txBox="1"/>
          <p:nvPr/>
        </p:nvSpPr>
        <p:spPr>
          <a:xfrm>
            <a:off x="2770632" y="3232404"/>
            <a:ext cx="4306824" cy="589788"/>
          </a:xfrm>
          <a:prstGeom prst="rect">
            <a:avLst/>
          </a:prstGeom>
          <a:noFill/>
        </p:spPr>
        <p:txBody>
          <a:bodyPr wrap="square" anchor="ctr" lIns="36576" rIns="36576" tIns="36576" bIns="36576"/>
          <a:lstStyle/>
          <a:p>
            <a:pPr algn="l" marL="0" indent="0">
              <a:lnSpc>
                <a:spcPct val="100000"/>
              </a:lnSpc>
              <a:spcAft>
                <a:spcPts val="0"/>
              </a:spcAft>
              <a:buNone/>
            </a:pPr>
            <a:r>
              <a:rPr sz="1000" b="0" i="0">
                <a:solidFill>
                  <a:srgbClr val="1F2937"/>
                </a:solidFill>
                <a:latin typeface="Arial"/>
              </a:rPr>
              <a:t>Scores each candidate against the extracted constraints: room sizes, required relationships, overlapping areas, connectivity, circulation and space utilization.</a:t>
            </a:r>
          </a:p>
        </p:txBody>
      </p:sp>
      <p:sp>
        <p:nvSpPr>
          <p:cNvPr id="116" name="Rounded Rectangle 115"/>
          <p:cNvSpPr/>
          <p:nvPr/>
        </p:nvSpPr>
        <p:spPr>
          <a:xfrm>
            <a:off x="7150608" y="3342132"/>
            <a:ext cx="1481328" cy="370332"/>
          </a:xfrm>
          <a:prstGeom prst="roundRect">
            <a:avLst>
              <a:gd name="adj" fmla="val 50000"/>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7150608" y="3342132"/>
            <a:ext cx="1481328" cy="370332"/>
          </a:xfrm>
          <a:prstGeom prst="rect">
            <a:avLst/>
          </a:prstGeom>
          <a:noFill/>
        </p:spPr>
        <p:txBody>
          <a:bodyPr wrap="square" anchor="ctr" lIns="36576" rIns="36576" tIns="36576" bIns="36576"/>
          <a:lstStyle/>
          <a:p>
            <a:pPr algn="ctr" marL="0" indent="0">
              <a:lnSpc>
                <a:spcPct val="100000"/>
              </a:lnSpc>
              <a:spcAft>
                <a:spcPts val="0"/>
              </a:spcAft>
              <a:buNone/>
            </a:pPr>
            <a:r>
              <a:rPr sz="750" b="1" i="0">
                <a:solidFill>
                  <a:srgbClr val="4B5563"/>
                </a:solidFill>
                <a:latin typeface="Arial"/>
              </a:rPr>
              <a:t>Output  </a:t>
            </a:r>
            <a:r>
              <a:rPr sz="950" b="1" i="0">
                <a:solidFill>
                  <a:srgbClr val="13315F"/>
                </a:solidFill>
                <a:latin typeface="Arial"/>
              </a:rPr>
              <a:t>Spatial score</a:t>
            </a:r>
          </a:p>
        </p:txBody>
      </p:sp>
      <p:sp>
        <p:nvSpPr>
          <p:cNvPr id="118" name="Rectangle 117"/>
          <p:cNvSpPr/>
          <p:nvPr/>
        </p:nvSpPr>
        <p:spPr>
          <a:xfrm>
            <a:off x="420624" y="3895344"/>
            <a:ext cx="8302752" cy="589788"/>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420624" y="3895344"/>
            <a:ext cx="2240280" cy="589788"/>
          </a:xfrm>
          <a:prstGeom prst="rect">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Oval 119"/>
          <p:cNvSpPr/>
          <p:nvPr/>
        </p:nvSpPr>
        <p:spPr>
          <a:xfrm>
            <a:off x="512064" y="4053078"/>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1100" b="1" i="0">
                <a:solidFill>
                  <a:srgbClr val="1C4587"/>
                </a:solidFill>
                <a:latin typeface="Arial"/>
              </a:rPr>
              <a:t>5</a:t>
            </a:r>
          </a:p>
        </p:txBody>
      </p:sp>
      <p:sp>
        <p:nvSpPr>
          <p:cNvPr id="121" name="TextBox 120"/>
          <p:cNvSpPr txBox="1"/>
          <p:nvPr/>
        </p:nvSpPr>
        <p:spPr>
          <a:xfrm>
            <a:off x="859536" y="3895344"/>
            <a:ext cx="1764792" cy="589788"/>
          </a:xfrm>
          <a:prstGeom prst="rect">
            <a:avLst/>
          </a:prstGeom>
          <a:noFill/>
        </p:spPr>
        <p:txBody>
          <a:bodyPr wrap="square" anchor="ctr" lIns="36576" rIns="36576" tIns="36576" bIns="36576"/>
          <a:lstStyle/>
          <a:p>
            <a:pPr algn="l" marL="0" indent="0">
              <a:lnSpc>
                <a:spcPct val="100000"/>
              </a:lnSpc>
              <a:spcAft>
                <a:spcPts val="0"/>
              </a:spcAft>
              <a:buNone/>
            </a:pPr>
            <a:r>
              <a:rPr sz="1100" b="1" i="0">
                <a:solidFill>
                  <a:srgbClr val="FFFFFF"/>
                </a:solidFill>
                <a:latin typeface="Cambria"/>
              </a:rPr>
              <a:t>Optimization Agent</a:t>
            </a:r>
          </a:p>
          <a:p>
            <a:pPr algn="l" marL="0" indent="0">
              <a:lnSpc>
                <a:spcPct val="100000"/>
              </a:lnSpc>
              <a:spcBef>
                <a:spcPts val="100"/>
              </a:spcBef>
              <a:spcAft>
                <a:spcPts val="0"/>
              </a:spcAft>
              <a:buNone/>
            </a:pPr>
            <a:r>
              <a:rPr sz="800" b="1" i="0">
                <a:solidFill>
                  <a:srgbClr val="DCE6F4"/>
                </a:solidFill>
                <a:latin typeface="Arial"/>
              </a:rPr>
              <a:t>REFINEMENT</a:t>
            </a:r>
          </a:p>
        </p:txBody>
      </p:sp>
      <p:sp>
        <p:nvSpPr>
          <p:cNvPr id="122" name="TextBox 121"/>
          <p:cNvSpPr txBox="1"/>
          <p:nvPr/>
        </p:nvSpPr>
        <p:spPr>
          <a:xfrm>
            <a:off x="2770632" y="3895344"/>
            <a:ext cx="4306824" cy="589788"/>
          </a:xfrm>
          <a:prstGeom prst="rect">
            <a:avLst/>
          </a:prstGeom>
          <a:noFill/>
        </p:spPr>
        <p:txBody>
          <a:bodyPr wrap="square" anchor="ctr" lIns="36576" rIns="36576" tIns="36576" bIns="36576"/>
          <a:lstStyle/>
          <a:p>
            <a:pPr algn="l" marL="0" indent="0">
              <a:lnSpc>
                <a:spcPct val="100000"/>
              </a:lnSpc>
              <a:spcAft>
                <a:spcPts val="0"/>
              </a:spcAft>
              <a:buNone/>
            </a:pPr>
            <a:r>
              <a:rPr sz="1000" b="0" i="0">
                <a:solidFill>
                  <a:srgbClr val="1F2937"/>
                </a:solidFill>
                <a:latin typeface="Arial"/>
              </a:rPr>
              <a:t>Identifies weak areas, targets the lowest-scoring constraints, modifies the layout and re-evaluates it — repeating until quality stabilises.</a:t>
            </a:r>
          </a:p>
        </p:txBody>
      </p:sp>
      <p:sp>
        <p:nvSpPr>
          <p:cNvPr id="123" name="Rounded Rectangle 122"/>
          <p:cNvSpPr/>
          <p:nvPr/>
        </p:nvSpPr>
        <p:spPr>
          <a:xfrm>
            <a:off x="7150608" y="4005072"/>
            <a:ext cx="1481328" cy="370332"/>
          </a:xfrm>
          <a:prstGeom prst="roundRect">
            <a:avLst>
              <a:gd name="adj" fmla="val 50000"/>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7150608" y="4005072"/>
            <a:ext cx="1481328" cy="370332"/>
          </a:xfrm>
          <a:prstGeom prst="rect">
            <a:avLst/>
          </a:prstGeom>
          <a:noFill/>
        </p:spPr>
        <p:txBody>
          <a:bodyPr wrap="square" anchor="ctr" lIns="36576" rIns="36576" tIns="36576" bIns="36576"/>
          <a:lstStyle/>
          <a:p>
            <a:pPr algn="ctr" marL="0" indent="0">
              <a:lnSpc>
                <a:spcPct val="100000"/>
              </a:lnSpc>
              <a:spcAft>
                <a:spcPts val="0"/>
              </a:spcAft>
              <a:buNone/>
            </a:pPr>
            <a:r>
              <a:rPr sz="750" b="1" i="0">
                <a:solidFill>
                  <a:srgbClr val="4B5563"/>
                </a:solidFill>
                <a:latin typeface="Arial"/>
              </a:rPr>
              <a:t>Output  </a:t>
            </a:r>
            <a:r>
              <a:rPr sz="950" b="1" i="0">
                <a:solidFill>
                  <a:srgbClr val="13315F"/>
                </a:solidFill>
                <a:latin typeface="Arial"/>
              </a:rPr>
              <a:t>Refined layout</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a:ln cap="flat" cmpd="sng" w="9525">
            <a:solidFill>
              <a:srgbClr val="000000"/>
            </a:solidFill>
            <a:prstDash val="dash"/>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en" sz="2000">
                <a:solidFill>
                  <a:srgbClr val="1C4587"/>
                </a:solidFill>
                <a:latin typeface="Cambria"/>
                <a:ea typeface="Cambria"/>
                <a:cs typeface="Cambria"/>
                <a:sym typeface="Cambria"/>
              </a:rPr>
              <a:t>Technical Architecture</a:t>
            </a:r>
            <a:endParaRPr b="1" sz="2000">
              <a:solidFill>
                <a:srgbClr val="1C4587"/>
              </a:solidFill>
              <a:latin typeface="Cambria"/>
              <a:ea typeface="Cambria"/>
              <a:cs typeface="Cambria"/>
              <a:sym typeface="Cambria"/>
            </a:endParaRPr>
          </a:p>
        </p:txBody>
      </p:sp>
      <p:sp>
        <p:nvSpPr>
          <p:cNvPr id="95" name="Google Shape;95;p19"/>
          <p:cNvSpPr txBox="1"/>
          <p:nvPr>
            <p:ph idx="1" type="body"/>
          </p:nvPr>
        </p:nvSpPr>
        <p:spPr>
          <a:xfrm>
            <a:off x="311700" y="1152475"/>
            <a:ext cx="8520600" cy="3416400"/>
          </a:xfrm>
          <a:prstGeom prst="rect">
            <a:avLst/>
          </a:prstGeom>
          <a:ln cap="flat" cmpd="sng" w="9525">
            <a:solidFill>
              <a:srgbClr val="000000"/>
            </a:solidFill>
            <a:prstDash val="dash"/>
            <a:round/>
            <a:headEnd len="sm" w="sm" type="none"/>
            <a:tailEnd len="sm" w="sm" type="none"/>
          </a:ln>
        </p:spPr>
        <p:txBody>
          <a:bodyPr anchorCtr="0" anchor="t" bIns="36576" lIns="36576" spcFirstLastPara="1" rIns="36576" wrap="square" tIns="36576"/>
          <a:lstStyle/>
          <a:p>
            <a:pPr indent="0" lvl="0" marL="0" marR="0" rtl="0" algn="l">
              <a:lnSpc>
                <a:spcPct val="100000"/>
              </a:lnSpc>
              <a:spcBef>
                <a:spcPts val="0"/>
              </a:spcBef>
              <a:spcAft>
                <a:spcPts val="0"/>
              </a:spcAft>
              <a:buNone/>
            </a:pPr>
            <a:r>
              <a:rPr sz="400" b="0" i="0">
                <a:solidFill>
                  <a:srgbClr val="1F2937"/>
                </a:solidFill>
                <a:latin typeface="Arial"/>
              </a:rPr>
              <a:t> </a:t>
            </a:r>
            <a:endParaRPr/>
          </a:p>
        </p:txBody>
      </p:sp>
      <p:sp>
        <p:nvSpPr>
          <p:cNvPr id="96" name="Rectangle 95"/>
          <p:cNvSpPr/>
          <p:nvPr/>
        </p:nvSpPr>
        <p:spPr>
          <a:xfrm>
            <a:off x="420624" y="1243584"/>
            <a:ext cx="1481328" cy="713232"/>
          </a:xfrm>
          <a:prstGeom prst="rect">
            <a:avLst/>
          </a:prstGeom>
          <a:solidFill>
            <a:srgbClr val="DCE6F4"/>
          </a:solidFill>
          <a:ln w="12700">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466344" y="1243584"/>
            <a:ext cx="1389888" cy="713232"/>
          </a:xfrm>
          <a:prstGeom prst="rect">
            <a:avLst/>
          </a:prstGeom>
          <a:noFill/>
        </p:spPr>
        <p:txBody>
          <a:bodyPr wrap="square" anchor="ctr" lIns="36576" rIns="36576" tIns="36576" bIns="36576"/>
          <a:lstStyle/>
          <a:p>
            <a:pPr algn="ctr" marL="0" indent="0">
              <a:lnSpc>
                <a:spcPct val="100000"/>
              </a:lnSpc>
              <a:spcAft>
                <a:spcPts val="0"/>
              </a:spcAft>
              <a:buNone/>
            </a:pPr>
            <a:r>
              <a:rPr sz="1100" b="1" i="0">
                <a:solidFill>
                  <a:srgbClr val="1C4587"/>
                </a:solidFill>
                <a:latin typeface="Cambria"/>
              </a:rPr>
              <a:t>User</a:t>
            </a:r>
          </a:p>
          <a:p>
            <a:pPr algn="ctr" marL="0" indent="0">
              <a:lnSpc>
                <a:spcPct val="100000"/>
              </a:lnSpc>
              <a:spcBef>
                <a:spcPts val="100"/>
              </a:spcBef>
              <a:spcAft>
                <a:spcPts val="0"/>
              </a:spcAft>
              <a:buNone/>
            </a:pPr>
            <a:r>
              <a:rPr sz="850" b="0" i="0">
                <a:solidFill>
                  <a:srgbClr val="4B5563"/>
                </a:solidFill>
                <a:latin typeface="Arial"/>
              </a:rPr>
              <a:t>natural-language brief</a:t>
            </a:r>
          </a:p>
        </p:txBody>
      </p:sp>
      <p:sp>
        <p:nvSpPr>
          <p:cNvPr id="98" name="Rectangle 97"/>
          <p:cNvSpPr/>
          <p:nvPr/>
        </p:nvSpPr>
        <p:spPr>
          <a:xfrm>
            <a:off x="420624" y="2276856"/>
            <a:ext cx="1481328" cy="713232"/>
          </a:xfrm>
          <a:prstGeom prst="rect">
            <a:avLst/>
          </a:prstGeom>
          <a:solidFill>
            <a:srgbClr val="FFFFFF"/>
          </a:solidFill>
          <a:ln w="12700">
            <a:solidFill>
              <a:srgbClr val="1C45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466344" y="2276856"/>
            <a:ext cx="1389888" cy="713232"/>
          </a:xfrm>
          <a:prstGeom prst="rect">
            <a:avLst/>
          </a:prstGeom>
          <a:noFill/>
        </p:spPr>
        <p:txBody>
          <a:bodyPr wrap="square" anchor="ctr" lIns="36576" rIns="36576" tIns="36576" bIns="36576"/>
          <a:lstStyle/>
          <a:p>
            <a:pPr algn="ctr" marL="0" indent="0">
              <a:lnSpc>
                <a:spcPct val="100000"/>
              </a:lnSpc>
              <a:spcAft>
                <a:spcPts val="0"/>
              </a:spcAft>
              <a:buNone/>
            </a:pPr>
            <a:r>
              <a:rPr sz="1100" b="1" i="0">
                <a:solidFill>
                  <a:srgbClr val="1C4587"/>
                </a:solidFill>
                <a:latin typeface="Cambria"/>
              </a:rPr>
              <a:t>Web UI</a:t>
            </a:r>
          </a:p>
          <a:p>
            <a:pPr algn="ctr" marL="0" indent="0">
              <a:lnSpc>
                <a:spcPct val="100000"/>
              </a:lnSpc>
              <a:spcBef>
                <a:spcPts val="100"/>
              </a:spcBef>
              <a:spcAft>
                <a:spcPts val="0"/>
              </a:spcAft>
              <a:buNone/>
            </a:pPr>
            <a:r>
              <a:rPr sz="850" b="0" i="0">
                <a:solidFill>
                  <a:srgbClr val="4B5563"/>
                </a:solidFill>
                <a:latin typeface="Arial"/>
              </a:rPr>
              <a:t>HTML · CSS · JavaScript</a:t>
            </a:r>
          </a:p>
        </p:txBody>
      </p:sp>
      <p:cxnSp>
        <p:nvCxnSpPr>
          <p:cNvPr id="100" name="Connector 99"/>
          <p:cNvCxnSpPr/>
          <p:nvPr/>
        </p:nvCxnSpPr>
        <p:spPr>
          <a:xfrm>
            <a:off x="1161288" y="1975104"/>
            <a:ext cx="0" cy="283464"/>
          </a:xfrm>
          <a:prstGeom prst="line">
            <a:avLst/>
          </a:prstGeom>
          <a:ln w="19050">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420624" y="3310128"/>
            <a:ext cx="1481328" cy="713232"/>
          </a:xfrm>
          <a:prstGeom prst="rect">
            <a:avLst/>
          </a:prstGeom>
          <a:solidFill>
            <a:srgbClr val="FFFFFF"/>
          </a:solidFill>
          <a:ln w="12700">
            <a:solidFill>
              <a:srgbClr val="1C45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466344" y="3310128"/>
            <a:ext cx="1389888" cy="713232"/>
          </a:xfrm>
          <a:prstGeom prst="rect">
            <a:avLst/>
          </a:prstGeom>
          <a:noFill/>
        </p:spPr>
        <p:txBody>
          <a:bodyPr wrap="square" anchor="ctr" lIns="36576" rIns="36576" tIns="36576" bIns="36576"/>
          <a:lstStyle/>
          <a:p>
            <a:pPr algn="ctr" marL="0" indent="0">
              <a:lnSpc>
                <a:spcPct val="100000"/>
              </a:lnSpc>
              <a:spcAft>
                <a:spcPts val="0"/>
              </a:spcAft>
              <a:buNone/>
            </a:pPr>
            <a:r>
              <a:rPr sz="1100" b="1" i="0">
                <a:solidFill>
                  <a:srgbClr val="1C4587"/>
                </a:solidFill>
                <a:latin typeface="Cambria"/>
              </a:rPr>
              <a:t>Flask REST API</a:t>
            </a:r>
          </a:p>
          <a:p>
            <a:pPr algn="ctr" marL="0" indent="0">
              <a:lnSpc>
                <a:spcPct val="100000"/>
              </a:lnSpc>
              <a:spcBef>
                <a:spcPts val="100"/>
              </a:spcBef>
              <a:spcAft>
                <a:spcPts val="0"/>
              </a:spcAft>
              <a:buNone/>
            </a:pPr>
            <a:r>
              <a:rPr sz="850" b="0" i="0">
                <a:solidFill>
                  <a:srgbClr val="4B5563"/>
                </a:solidFill>
                <a:latin typeface="Arial"/>
              </a:rPr>
              <a:t>POST /api/pipeline
(also CLI: run_pipeline.py)</a:t>
            </a:r>
          </a:p>
        </p:txBody>
      </p:sp>
      <p:cxnSp>
        <p:nvCxnSpPr>
          <p:cNvPr id="103" name="Connector 102"/>
          <p:cNvCxnSpPr/>
          <p:nvPr/>
        </p:nvCxnSpPr>
        <p:spPr>
          <a:xfrm>
            <a:off x="1161288" y="3008376"/>
            <a:ext cx="0" cy="283464"/>
          </a:xfrm>
          <a:prstGeom prst="line">
            <a:avLst/>
          </a:prstGeom>
          <a:ln w="19050">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2176272" y="1243584"/>
            <a:ext cx="4315968" cy="2779776"/>
          </a:xfrm>
          <a:prstGeom prst="rect">
            <a:avLst/>
          </a:prstGeom>
          <a:solidFill>
            <a:srgbClr val="F4F7FC"/>
          </a:solidFill>
          <a:ln w="12700">
            <a:solidFill>
              <a:srgbClr val="1C458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2267712" y="1271016"/>
            <a:ext cx="4133087" cy="237744"/>
          </a:xfrm>
          <a:prstGeom prst="rect">
            <a:avLst/>
          </a:prstGeom>
          <a:noFill/>
        </p:spPr>
        <p:txBody>
          <a:bodyPr wrap="square" anchor="t" lIns="36576" rIns="36576" tIns="36576" bIns="36576"/>
          <a:lstStyle/>
          <a:p>
            <a:pPr algn="l" marL="0" indent="0">
              <a:lnSpc>
                <a:spcPct val="100000"/>
              </a:lnSpc>
              <a:spcAft>
                <a:spcPts val="0"/>
              </a:spcAft>
              <a:buNone/>
            </a:pPr>
            <a:r>
              <a:rPr sz="900" b="1" i="0">
                <a:solidFill>
                  <a:srgbClr val="1C4587"/>
                </a:solidFill>
                <a:latin typeface="Arial"/>
              </a:rPr>
              <a:t>AGENTIC PIPELINE  (Python)</a:t>
            </a:r>
          </a:p>
        </p:txBody>
      </p:sp>
      <p:cxnSp>
        <p:nvCxnSpPr>
          <p:cNvPr id="106" name="Connector 105"/>
          <p:cNvCxnSpPr/>
          <p:nvPr/>
        </p:nvCxnSpPr>
        <p:spPr>
          <a:xfrm>
            <a:off x="1920240" y="3666744"/>
            <a:ext cx="237744" cy="0"/>
          </a:xfrm>
          <a:prstGeom prst="line">
            <a:avLst/>
          </a:prstGeom>
          <a:ln w="19050">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2560320" y="1554480"/>
            <a:ext cx="2331720" cy="411480"/>
          </a:xfrm>
          <a:prstGeom prst="rect">
            <a:avLst/>
          </a:prstGeom>
          <a:solidFill>
            <a:srgbClr val="FFFFFF"/>
          </a:solidFill>
          <a:ln w="12700">
            <a:solidFill>
              <a:srgbClr val="1C45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Oval 107"/>
          <p:cNvSpPr/>
          <p:nvPr/>
        </p:nvSpPr>
        <p:spPr>
          <a:xfrm>
            <a:off x="2624327" y="1650492"/>
            <a:ext cx="219456" cy="219456"/>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900" b="1" i="0">
                <a:solidFill>
                  <a:srgbClr val="FFFFFF"/>
                </a:solidFill>
                <a:latin typeface="Arial"/>
              </a:rPr>
              <a:t>1</a:t>
            </a:r>
          </a:p>
        </p:txBody>
      </p:sp>
      <p:sp>
        <p:nvSpPr>
          <p:cNvPr id="109" name="TextBox 108"/>
          <p:cNvSpPr txBox="1"/>
          <p:nvPr/>
        </p:nvSpPr>
        <p:spPr>
          <a:xfrm>
            <a:off x="2889503" y="1554480"/>
            <a:ext cx="1965960" cy="411480"/>
          </a:xfrm>
          <a:prstGeom prst="rect">
            <a:avLst/>
          </a:prstGeom>
          <a:noFill/>
        </p:spPr>
        <p:txBody>
          <a:bodyPr wrap="square" anchor="ctr" lIns="36576" rIns="36576" tIns="36576" bIns="36576"/>
          <a:lstStyle/>
          <a:p>
            <a:pPr algn="l" marL="0" indent="0">
              <a:lnSpc>
                <a:spcPct val="100000"/>
              </a:lnSpc>
              <a:spcAft>
                <a:spcPts val="0"/>
              </a:spcAft>
              <a:buNone/>
            </a:pPr>
            <a:r>
              <a:rPr sz="1000" b="1" i="0">
                <a:solidFill>
                  <a:srgbClr val="1C4587"/>
                </a:solidFill>
                <a:latin typeface="Arial"/>
              </a:rPr>
              <a:t>Requirement Agent</a:t>
            </a:r>
          </a:p>
        </p:txBody>
      </p:sp>
      <p:sp>
        <p:nvSpPr>
          <p:cNvPr id="110" name="Rounded Rectangle 109"/>
          <p:cNvSpPr/>
          <p:nvPr/>
        </p:nvSpPr>
        <p:spPr>
          <a:xfrm>
            <a:off x="5074920" y="1618488"/>
            <a:ext cx="1307591" cy="283464"/>
          </a:xfrm>
          <a:prstGeom prst="roundRect">
            <a:avLst>
              <a:gd name="adj" fmla="val 50000"/>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5074920" y="1618488"/>
            <a:ext cx="1307591" cy="283464"/>
          </a:xfrm>
          <a:prstGeom prst="rect">
            <a:avLst/>
          </a:prstGeom>
          <a:noFill/>
        </p:spPr>
        <p:txBody>
          <a:bodyPr wrap="square" anchor="ctr" lIns="36576" rIns="36576" tIns="36576" bIns="36576"/>
          <a:lstStyle/>
          <a:p>
            <a:pPr algn="ctr" marL="0" indent="0">
              <a:lnSpc>
                <a:spcPct val="100000"/>
              </a:lnSpc>
              <a:spcAft>
                <a:spcPts val="0"/>
              </a:spcAft>
              <a:buNone/>
            </a:pPr>
            <a:r>
              <a:rPr sz="850" b="1" i="0">
                <a:solidFill>
                  <a:srgbClr val="13315F"/>
                </a:solidFill>
                <a:latin typeface="Arial"/>
              </a:rPr>
              <a:t>LLM — Gemini</a:t>
            </a:r>
          </a:p>
        </p:txBody>
      </p:sp>
      <p:sp>
        <p:nvSpPr>
          <p:cNvPr id="112" name="Rectangle 111"/>
          <p:cNvSpPr/>
          <p:nvPr/>
        </p:nvSpPr>
        <p:spPr>
          <a:xfrm>
            <a:off x="2560320" y="2057400"/>
            <a:ext cx="2331720" cy="411480"/>
          </a:xfrm>
          <a:prstGeom prst="rect">
            <a:avLst/>
          </a:prstGeom>
          <a:solidFill>
            <a:srgbClr val="FFFFFF"/>
          </a:solidFill>
          <a:ln w="12700">
            <a:solidFill>
              <a:srgbClr val="1C45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Oval 112"/>
          <p:cNvSpPr/>
          <p:nvPr/>
        </p:nvSpPr>
        <p:spPr>
          <a:xfrm>
            <a:off x="2624327" y="2153412"/>
            <a:ext cx="219456" cy="219456"/>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900" b="1" i="0">
                <a:solidFill>
                  <a:srgbClr val="FFFFFF"/>
                </a:solidFill>
                <a:latin typeface="Arial"/>
              </a:rPr>
              <a:t>2</a:t>
            </a:r>
          </a:p>
        </p:txBody>
      </p:sp>
      <p:sp>
        <p:nvSpPr>
          <p:cNvPr id="114" name="TextBox 113"/>
          <p:cNvSpPr txBox="1"/>
          <p:nvPr/>
        </p:nvSpPr>
        <p:spPr>
          <a:xfrm>
            <a:off x="2889503" y="2057400"/>
            <a:ext cx="1965960" cy="411480"/>
          </a:xfrm>
          <a:prstGeom prst="rect">
            <a:avLst/>
          </a:prstGeom>
          <a:noFill/>
        </p:spPr>
        <p:txBody>
          <a:bodyPr wrap="square" anchor="ctr" lIns="36576" rIns="36576" tIns="36576" bIns="36576"/>
          <a:lstStyle/>
          <a:p>
            <a:pPr algn="l" marL="0" indent="0">
              <a:lnSpc>
                <a:spcPct val="100000"/>
              </a:lnSpc>
              <a:spcAft>
                <a:spcPts val="0"/>
              </a:spcAft>
              <a:buNone/>
            </a:pPr>
            <a:r>
              <a:rPr sz="1000" b="1" i="0">
                <a:solidFill>
                  <a:srgbClr val="1C4587"/>
                </a:solidFill>
                <a:latin typeface="Arial"/>
              </a:rPr>
              <a:t>Spatial Planning Agent</a:t>
            </a:r>
          </a:p>
        </p:txBody>
      </p:sp>
      <p:sp>
        <p:nvSpPr>
          <p:cNvPr id="115" name="Rounded Rectangle 114"/>
          <p:cNvSpPr/>
          <p:nvPr/>
        </p:nvSpPr>
        <p:spPr>
          <a:xfrm>
            <a:off x="5074920" y="2121408"/>
            <a:ext cx="1307591" cy="283464"/>
          </a:xfrm>
          <a:prstGeom prst="roundRect">
            <a:avLst>
              <a:gd name="adj" fmla="val 50000"/>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5074920" y="2121408"/>
            <a:ext cx="1307591" cy="283464"/>
          </a:xfrm>
          <a:prstGeom prst="rect">
            <a:avLst/>
          </a:prstGeom>
          <a:noFill/>
        </p:spPr>
        <p:txBody>
          <a:bodyPr wrap="square" anchor="ctr" lIns="36576" rIns="36576" tIns="36576" bIns="36576"/>
          <a:lstStyle/>
          <a:p>
            <a:pPr algn="ctr" marL="0" indent="0">
              <a:lnSpc>
                <a:spcPct val="100000"/>
              </a:lnSpc>
              <a:spcAft>
                <a:spcPts val="0"/>
              </a:spcAft>
              <a:buNone/>
            </a:pPr>
            <a:r>
              <a:rPr sz="850" b="1" i="0">
                <a:solidFill>
                  <a:srgbClr val="13315F"/>
                </a:solidFill>
                <a:latin typeface="Arial"/>
              </a:rPr>
              <a:t>NetworkX graph</a:t>
            </a:r>
          </a:p>
        </p:txBody>
      </p:sp>
      <p:cxnSp>
        <p:nvCxnSpPr>
          <p:cNvPr id="117" name="Connector 116"/>
          <p:cNvCxnSpPr/>
          <p:nvPr/>
        </p:nvCxnSpPr>
        <p:spPr>
          <a:xfrm>
            <a:off x="3726179" y="1975103"/>
            <a:ext cx="0" cy="73153"/>
          </a:xfrm>
          <a:prstGeom prst="line">
            <a:avLst/>
          </a:prstGeom>
          <a:ln w="15875">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2560320" y="2560320"/>
            <a:ext cx="2331720" cy="411480"/>
          </a:xfrm>
          <a:prstGeom prst="rect">
            <a:avLst/>
          </a:prstGeom>
          <a:solidFill>
            <a:srgbClr val="FFFFFF"/>
          </a:solidFill>
          <a:ln w="12700">
            <a:solidFill>
              <a:srgbClr val="1C45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Oval 118"/>
          <p:cNvSpPr/>
          <p:nvPr/>
        </p:nvSpPr>
        <p:spPr>
          <a:xfrm>
            <a:off x="2624327" y="2656332"/>
            <a:ext cx="219456" cy="219456"/>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900" b="1" i="0">
                <a:solidFill>
                  <a:srgbClr val="FFFFFF"/>
                </a:solidFill>
                <a:latin typeface="Arial"/>
              </a:rPr>
              <a:t>3</a:t>
            </a:r>
          </a:p>
        </p:txBody>
      </p:sp>
      <p:sp>
        <p:nvSpPr>
          <p:cNvPr id="120" name="TextBox 119"/>
          <p:cNvSpPr txBox="1"/>
          <p:nvPr/>
        </p:nvSpPr>
        <p:spPr>
          <a:xfrm>
            <a:off x="2889503" y="2560320"/>
            <a:ext cx="1965960" cy="411480"/>
          </a:xfrm>
          <a:prstGeom prst="rect">
            <a:avLst/>
          </a:prstGeom>
          <a:noFill/>
        </p:spPr>
        <p:txBody>
          <a:bodyPr wrap="square" anchor="ctr" lIns="36576" rIns="36576" tIns="36576" bIns="36576"/>
          <a:lstStyle/>
          <a:p>
            <a:pPr algn="l" marL="0" indent="0">
              <a:lnSpc>
                <a:spcPct val="100000"/>
              </a:lnSpc>
              <a:spcAft>
                <a:spcPts val="0"/>
              </a:spcAft>
              <a:buNone/>
            </a:pPr>
            <a:r>
              <a:rPr sz="1000" b="1" i="0">
                <a:solidFill>
                  <a:srgbClr val="1C4587"/>
                </a:solidFill>
                <a:latin typeface="Arial"/>
              </a:rPr>
              <a:t>Floor-Plan Generation Model</a:t>
            </a:r>
          </a:p>
        </p:txBody>
      </p:sp>
      <p:sp>
        <p:nvSpPr>
          <p:cNvPr id="121" name="Rounded Rectangle 120"/>
          <p:cNvSpPr/>
          <p:nvPr/>
        </p:nvSpPr>
        <p:spPr>
          <a:xfrm>
            <a:off x="5074920" y="2624328"/>
            <a:ext cx="1307591" cy="283464"/>
          </a:xfrm>
          <a:prstGeom prst="roundRect">
            <a:avLst>
              <a:gd name="adj" fmla="val 50000"/>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5074920" y="2624328"/>
            <a:ext cx="1307591" cy="283464"/>
          </a:xfrm>
          <a:prstGeom prst="rect">
            <a:avLst/>
          </a:prstGeom>
          <a:noFill/>
        </p:spPr>
        <p:txBody>
          <a:bodyPr wrap="square" anchor="ctr" lIns="36576" rIns="36576" tIns="36576" bIns="36576"/>
          <a:lstStyle/>
          <a:p>
            <a:pPr algn="ctr" marL="0" indent="0">
              <a:lnSpc>
                <a:spcPct val="100000"/>
              </a:lnSpc>
              <a:spcAft>
                <a:spcPts val="0"/>
              </a:spcAft>
              <a:buNone/>
            </a:pPr>
            <a:r>
              <a:rPr sz="850" b="1" i="0">
                <a:solidFill>
                  <a:srgbClr val="13315F"/>
                </a:solidFill>
                <a:latin typeface="Arial"/>
              </a:rPr>
              <a:t>Randomised layout sampling</a:t>
            </a:r>
          </a:p>
        </p:txBody>
      </p:sp>
      <p:cxnSp>
        <p:nvCxnSpPr>
          <p:cNvPr id="123" name="Connector 122"/>
          <p:cNvCxnSpPr/>
          <p:nvPr/>
        </p:nvCxnSpPr>
        <p:spPr>
          <a:xfrm>
            <a:off x="3726179" y="2478024"/>
            <a:ext cx="0" cy="73152"/>
          </a:xfrm>
          <a:prstGeom prst="line">
            <a:avLst/>
          </a:prstGeom>
          <a:ln w="15875">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4" name="Rectangle 123"/>
          <p:cNvSpPr/>
          <p:nvPr/>
        </p:nvSpPr>
        <p:spPr>
          <a:xfrm>
            <a:off x="2560320" y="3063240"/>
            <a:ext cx="2331720" cy="411480"/>
          </a:xfrm>
          <a:prstGeom prst="rect">
            <a:avLst/>
          </a:prstGeom>
          <a:solidFill>
            <a:srgbClr val="FFFFFF"/>
          </a:solidFill>
          <a:ln w="12700">
            <a:solidFill>
              <a:srgbClr val="1C45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Oval 124"/>
          <p:cNvSpPr/>
          <p:nvPr/>
        </p:nvSpPr>
        <p:spPr>
          <a:xfrm>
            <a:off x="2624327" y="3159252"/>
            <a:ext cx="219456" cy="219456"/>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900" b="1" i="0">
                <a:solidFill>
                  <a:srgbClr val="FFFFFF"/>
                </a:solidFill>
                <a:latin typeface="Arial"/>
              </a:rPr>
              <a:t>4</a:t>
            </a:r>
          </a:p>
        </p:txBody>
      </p:sp>
      <p:sp>
        <p:nvSpPr>
          <p:cNvPr id="126" name="TextBox 125"/>
          <p:cNvSpPr txBox="1"/>
          <p:nvPr/>
        </p:nvSpPr>
        <p:spPr>
          <a:xfrm>
            <a:off x="2889503" y="3063240"/>
            <a:ext cx="1965960" cy="411480"/>
          </a:xfrm>
          <a:prstGeom prst="rect">
            <a:avLst/>
          </a:prstGeom>
          <a:noFill/>
        </p:spPr>
        <p:txBody>
          <a:bodyPr wrap="square" anchor="ctr" lIns="36576" rIns="36576" tIns="36576" bIns="36576"/>
          <a:lstStyle/>
          <a:p>
            <a:pPr algn="l" marL="0" indent="0">
              <a:lnSpc>
                <a:spcPct val="100000"/>
              </a:lnSpc>
              <a:spcAft>
                <a:spcPts val="0"/>
              </a:spcAft>
              <a:buNone/>
            </a:pPr>
            <a:r>
              <a:rPr sz="1000" b="1" i="0">
                <a:solidFill>
                  <a:srgbClr val="1C4587"/>
                </a:solidFill>
                <a:latin typeface="Arial"/>
              </a:rPr>
              <a:t>Spatial Critic Agent</a:t>
            </a:r>
          </a:p>
        </p:txBody>
      </p:sp>
      <p:sp>
        <p:nvSpPr>
          <p:cNvPr id="127" name="Rounded Rectangle 126"/>
          <p:cNvSpPr/>
          <p:nvPr/>
        </p:nvSpPr>
        <p:spPr>
          <a:xfrm>
            <a:off x="5074920" y="3127248"/>
            <a:ext cx="1307591" cy="283464"/>
          </a:xfrm>
          <a:prstGeom prst="roundRect">
            <a:avLst>
              <a:gd name="adj" fmla="val 50000"/>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5074920" y="3127248"/>
            <a:ext cx="1307591" cy="283464"/>
          </a:xfrm>
          <a:prstGeom prst="rect">
            <a:avLst/>
          </a:prstGeom>
          <a:noFill/>
        </p:spPr>
        <p:txBody>
          <a:bodyPr wrap="square" anchor="ctr" lIns="36576" rIns="36576" tIns="36576" bIns="36576"/>
          <a:lstStyle/>
          <a:p>
            <a:pPr algn="ctr" marL="0" indent="0">
              <a:lnSpc>
                <a:spcPct val="100000"/>
              </a:lnSpc>
              <a:spcAft>
                <a:spcPts val="0"/>
              </a:spcAft>
              <a:buNone/>
            </a:pPr>
            <a:r>
              <a:rPr sz="850" b="1" i="0">
                <a:solidFill>
                  <a:srgbClr val="13315F"/>
                </a:solidFill>
                <a:latin typeface="Arial"/>
              </a:rPr>
              <a:t>Constraint scoring</a:t>
            </a:r>
          </a:p>
        </p:txBody>
      </p:sp>
      <p:cxnSp>
        <p:nvCxnSpPr>
          <p:cNvPr id="129" name="Connector 128"/>
          <p:cNvCxnSpPr/>
          <p:nvPr/>
        </p:nvCxnSpPr>
        <p:spPr>
          <a:xfrm>
            <a:off x="3726179" y="2980944"/>
            <a:ext cx="0" cy="73152"/>
          </a:xfrm>
          <a:prstGeom prst="line">
            <a:avLst/>
          </a:prstGeom>
          <a:ln w="15875">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0" name="Rectangle 129"/>
          <p:cNvSpPr/>
          <p:nvPr/>
        </p:nvSpPr>
        <p:spPr>
          <a:xfrm>
            <a:off x="2560320" y="3566160"/>
            <a:ext cx="2331720" cy="411480"/>
          </a:xfrm>
          <a:prstGeom prst="rect">
            <a:avLst/>
          </a:prstGeom>
          <a:solidFill>
            <a:srgbClr val="FFFFFF"/>
          </a:solidFill>
          <a:ln w="12700">
            <a:solidFill>
              <a:srgbClr val="1C45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Oval 130"/>
          <p:cNvSpPr/>
          <p:nvPr/>
        </p:nvSpPr>
        <p:spPr>
          <a:xfrm>
            <a:off x="2624327" y="3662172"/>
            <a:ext cx="219456" cy="219456"/>
          </a:xfrm>
          <a:prstGeom prst="ellipse">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lnSpc>
                <a:spcPct val="100000"/>
              </a:lnSpc>
              <a:spcAft>
                <a:spcPts val="0"/>
              </a:spcAft>
              <a:buNone/>
            </a:pPr>
            <a:r>
              <a:rPr sz="900" b="1" i="0">
                <a:solidFill>
                  <a:srgbClr val="FFFFFF"/>
                </a:solidFill>
                <a:latin typeface="Arial"/>
              </a:rPr>
              <a:t>5</a:t>
            </a:r>
          </a:p>
        </p:txBody>
      </p:sp>
      <p:sp>
        <p:nvSpPr>
          <p:cNvPr id="132" name="TextBox 131"/>
          <p:cNvSpPr txBox="1"/>
          <p:nvPr/>
        </p:nvSpPr>
        <p:spPr>
          <a:xfrm>
            <a:off x="2889503" y="3566160"/>
            <a:ext cx="1965960" cy="411480"/>
          </a:xfrm>
          <a:prstGeom prst="rect">
            <a:avLst/>
          </a:prstGeom>
          <a:noFill/>
        </p:spPr>
        <p:txBody>
          <a:bodyPr wrap="square" anchor="ctr" lIns="36576" rIns="36576" tIns="36576" bIns="36576"/>
          <a:lstStyle/>
          <a:p>
            <a:pPr algn="l" marL="0" indent="0">
              <a:lnSpc>
                <a:spcPct val="100000"/>
              </a:lnSpc>
              <a:spcAft>
                <a:spcPts val="0"/>
              </a:spcAft>
              <a:buNone/>
            </a:pPr>
            <a:r>
              <a:rPr sz="1000" b="1" i="0">
                <a:solidFill>
                  <a:srgbClr val="1C4587"/>
                </a:solidFill>
                <a:latin typeface="Arial"/>
              </a:rPr>
              <a:t>Optimization Agent</a:t>
            </a:r>
          </a:p>
        </p:txBody>
      </p:sp>
      <p:sp>
        <p:nvSpPr>
          <p:cNvPr id="133" name="Rounded Rectangle 132"/>
          <p:cNvSpPr/>
          <p:nvPr/>
        </p:nvSpPr>
        <p:spPr>
          <a:xfrm>
            <a:off x="5074920" y="3630168"/>
            <a:ext cx="1307591" cy="283464"/>
          </a:xfrm>
          <a:prstGeom prst="roundRect">
            <a:avLst>
              <a:gd name="adj" fmla="val 50000"/>
            </a:avLst>
          </a:prstGeom>
          <a:solidFill>
            <a:srgbClr val="DC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Box 133"/>
          <p:cNvSpPr txBox="1"/>
          <p:nvPr/>
        </p:nvSpPr>
        <p:spPr>
          <a:xfrm>
            <a:off x="5074920" y="3630168"/>
            <a:ext cx="1307591" cy="283464"/>
          </a:xfrm>
          <a:prstGeom prst="rect">
            <a:avLst/>
          </a:prstGeom>
          <a:noFill/>
        </p:spPr>
        <p:txBody>
          <a:bodyPr wrap="square" anchor="ctr" lIns="36576" rIns="36576" tIns="36576" bIns="36576"/>
          <a:lstStyle/>
          <a:p>
            <a:pPr algn="ctr" marL="0" indent="0">
              <a:lnSpc>
                <a:spcPct val="100000"/>
              </a:lnSpc>
              <a:spcAft>
                <a:spcPts val="0"/>
              </a:spcAft>
              <a:buNone/>
            </a:pPr>
            <a:r>
              <a:rPr sz="850" b="1" i="0">
                <a:solidFill>
                  <a:srgbClr val="13315F"/>
                </a:solidFill>
                <a:latin typeface="Arial"/>
              </a:rPr>
              <a:t>Simulated annealing</a:t>
            </a:r>
          </a:p>
        </p:txBody>
      </p:sp>
      <p:cxnSp>
        <p:nvCxnSpPr>
          <p:cNvPr id="135" name="Connector 134"/>
          <p:cNvCxnSpPr/>
          <p:nvPr/>
        </p:nvCxnSpPr>
        <p:spPr>
          <a:xfrm>
            <a:off x="3726179" y="3483864"/>
            <a:ext cx="0" cy="73152"/>
          </a:xfrm>
          <a:prstGeom prst="line">
            <a:avLst/>
          </a:prstGeom>
          <a:ln w="15875">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H="1">
            <a:off x="2359151" y="3771900"/>
            <a:ext cx="201169" cy="0"/>
          </a:xfrm>
          <a:prstGeom prst="line">
            <a:avLst/>
          </a:prstGeom>
          <a:ln w="19050">
            <a:solidFill>
              <a:srgbClr val="A9322B"/>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2359151" y="3268980"/>
            <a:ext cx="0" cy="502920"/>
          </a:xfrm>
          <a:prstGeom prst="line">
            <a:avLst/>
          </a:prstGeom>
          <a:ln w="19050">
            <a:solidFill>
              <a:srgbClr val="A9322B"/>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2359151" y="3268980"/>
            <a:ext cx="182881" cy="0"/>
          </a:xfrm>
          <a:prstGeom prst="line">
            <a:avLst/>
          </a:prstGeom>
          <a:ln w="19050">
            <a:solidFill>
              <a:srgbClr val="A932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2194560" y="2939796"/>
            <a:ext cx="365760" cy="274320"/>
          </a:xfrm>
          <a:prstGeom prst="rect">
            <a:avLst/>
          </a:prstGeom>
          <a:noFill/>
        </p:spPr>
        <p:txBody>
          <a:bodyPr wrap="square" anchor="t" lIns="36576" rIns="36576" tIns="36576" bIns="36576"/>
          <a:lstStyle/>
          <a:p>
            <a:pPr algn="ctr" marL="0" indent="0">
              <a:lnSpc>
                <a:spcPct val="100000"/>
              </a:lnSpc>
              <a:spcAft>
                <a:spcPts val="0"/>
              </a:spcAft>
              <a:buNone/>
            </a:pPr>
            <a:r>
              <a:rPr sz="750" b="1" i="0">
                <a:solidFill>
                  <a:srgbClr val="A9322B"/>
                </a:solidFill>
                <a:latin typeface="Arial"/>
              </a:rPr>
              <a:t>loop</a:t>
            </a:r>
          </a:p>
        </p:txBody>
      </p:sp>
      <p:sp>
        <p:nvSpPr>
          <p:cNvPr id="140" name="Rectangle 139"/>
          <p:cNvSpPr/>
          <p:nvPr/>
        </p:nvSpPr>
        <p:spPr>
          <a:xfrm>
            <a:off x="6766559" y="1243584"/>
            <a:ext cx="1956816" cy="2779776"/>
          </a:xfrm>
          <a:prstGeom prst="rect">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6857999" y="1298448"/>
            <a:ext cx="1773936" cy="2670048"/>
          </a:xfrm>
          <a:prstGeom prst="rect">
            <a:avLst/>
          </a:prstGeom>
          <a:noFill/>
        </p:spPr>
        <p:txBody>
          <a:bodyPr wrap="square" anchor="t" lIns="36576" rIns="36576" tIns="36576" bIns="36576"/>
          <a:lstStyle/>
          <a:p>
            <a:pPr algn="l" marL="0" indent="0">
              <a:lnSpc>
                <a:spcPct val="100000"/>
              </a:lnSpc>
              <a:spcAft>
                <a:spcPts val="0"/>
              </a:spcAft>
              <a:buNone/>
            </a:pPr>
            <a:r>
              <a:rPr sz="1100" b="1" i="0">
                <a:solidFill>
                  <a:srgbClr val="FFFFFF"/>
                </a:solidFill>
                <a:latin typeface="Cambria"/>
              </a:rPr>
              <a:t>OUTPUTS</a:t>
            </a:r>
          </a:p>
          <a:p>
            <a:pPr algn="l" marL="0" indent="0">
              <a:lnSpc>
                <a:spcPct val="100000"/>
              </a:lnSpc>
              <a:spcBef>
                <a:spcPts val="600"/>
              </a:spcBef>
              <a:spcAft>
                <a:spcPts val="0"/>
              </a:spcAft>
              <a:buNone/>
            </a:pPr>
            <a:r>
              <a:rPr sz="950" b="0" i="0">
                <a:solidFill>
                  <a:srgbClr val="DCE6F4"/>
                </a:solidFill>
                <a:latin typeface="Arial"/>
              </a:rPr>
              <a:t>▸ </a:t>
            </a:r>
            <a:r>
              <a:rPr sz="950" b="0" i="0">
                <a:solidFill>
                  <a:srgbClr val="FFFFFF"/>
                </a:solidFill>
                <a:latin typeface="Arial"/>
              </a:rPr>
              <a:t>Optimized 2D floor plan</a:t>
            </a:r>
          </a:p>
          <a:p>
            <a:pPr algn="l" marL="0" indent="0">
              <a:lnSpc>
                <a:spcPct val="100000"/>
              </a:lnSpc>
              <a:spcBef>
                <a:spcPts val="600"/>
              </a:spcBef>
              <a:spcAft>
                <a:spcPts val="0"/>
              </a:spcAft>
              <a:buNone/>
            </a:pPr>
            <a:r>
              <a:rPr sz="950" b="0" i="0">
                <a:solidFill>
                  <a:srgbClr val="DCE6F4"/>
                </a:solidFill>
                <a:latin typeface="Arial"/>
              </a:rPr>
              <a:t>▸ </a:t>
            </a:r>
            <a:r>
              <a:rPr sz="950" b="0" i="0">
                <a:solidFill>
                  <a:srgbClr val="FFFFFF"/>
                </a:solidFill>
                <a:latin typeface="Arial"/>
              </a:rPr>
              <a:t>Structured spatial representation (JSON)</a:t>
            </a:r>
          </a:p>
          <a:p>
            <a:pPr algn="l" marL="0" indent="0">
              <a:lnSpc>
                <a:spcPct val="100000"/>
              </a:lnSpc>
              <a:spcBef>
                <a:spcPts val="600"/>
              </a:spcBef>
              <a:spcAft>
                <a:spcPts val="0"/>
              </a:spcAft>
              <a:buNone/>
            </a:pPr>
            <a:r>
              <a:rPr sz="950" b="0" i="0">
                <a:solidFill>
                  <a:srgbClr val="DCE6F4"/>
                </a:solidFill>
                <a:latin typeface="Arial"/>
              </a:rPr>
              <a:t>▸ </a:t>
            </a:r>
            <a:r>
              <a:rPr sz="950" b="0" i="0">
                <a:solidFill>
                  <a:srgbClr val="FFFFFF"/>
                </a:solidFill>
                <a:latin typeface="Arial"/>
              </a:rPr>
              <a:t>Spatial evaluation score &amp; violations</a:t>
            </a:r>
          </a:p>
          <a:p>
            <a:pPr algn="l" marL="0" indent="0">
              <a:lnSpc>
                <a:spcPct val="100000"/>
              </a:lnSpc>
              <a:spcBef>
                <a:spcPts val="600"/>
              </a:spcBef>
              <a:spcAft>
                <a:spcPts val="0"/>
              </a:spcAft>
              <a:buNone/>
            </a:pPr>
            <a:r>
              <a:rPr sz="950" b="0" i="0">
                <a:solidFill>
                  <a:srgbClr val="DCE6F4"/>
                </a:solidFill>
                <a:latin typeface="Arial"/>
              </a:rPr>
              <a:t>▸ </a:t>
            </a:r>
            <a:r>
              <a:rPr sz="950" b="0" i="0">
                <a:solidFill>
                  <a:srgbClr val="FFFFFF"/>
                </a:solidFill>
                <a:latin typeface="Arial"/>
              </a:rPr>
              <a:t>Candidate plans, spatial graph &amp; convergence charts</a:t>
            </a:r>
          </a:p>
          <a:p>
            <a:pPr algn="l" marL="0" indent="0">
              <a:lnSpc>
                <a:spcPct val="100000"/>
              </a:lnSpc>
              <a:spcBef>
                <a:spcPts val="1000"/>
              </a:spcBef>
              <a:spcAft>
                <a:spcPts val="0"/>
              </a:spcAft>
              <a:buNone/>
            </a:pPr>
            <a:r>
              <a:rPr sz="800" b="0" i="1">
                <a:solidFill>
                  <a:srgbClr val="DCE6F4"/>
                </a:solidFill>
                <a:latin typeface="Arial"/>
              </a:rPr>
              <a:t>Rendered with Matplotlib, returned to the UI as JSON</a:t>
            </a:r>
          </a:p>
        </p:txBody>
      </p:sp>
      <p:cxnSp>
        <p:nvCxnSpPr>
          <p:cNvPr id="142" name="Connector 141"/>
          <p:cNvCxnSpPr/>
          <p:nvPr/>
        </p:nvCxnSpPr>
        <p:spPr>
          <a:xfrm>
            <a:off x="6510527" y="2633472"/>
            <a:ext cx="237745" cy="0"/>
          </a:xfrm>
          <a:prstGeom prst="line">
            <a:avLst/>
          </a:prstGeom>
          <a:ln w="19050">
            <a:solidFill>
              <a:srgbClr val="1C458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3" name="Rectangle 142"/>
          <p:cNvSpPr/>
          <p:nvPr/>
        </p:nvSpPr>
        <p:spPr>
          <a:xfrm>
            <a:off x="420624" y="4114800"/>
            <a:ext cx="8302752" cy="347472"/>
          </a:xfrm>
          <a:prstGeom prst="rect">
            <a:avLst/>
          </a:prstGeom>
          <a:noFill/>
          <a:ln w="9525">
            <a:solidFill>
              <a:srgbClr val="A9322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Box 143"/>
          <p:cNvSpPr txBox="1"/>
          <p:nvPr/>
        </p:nvSpPr>
        <p:spPr>
          <a:xfrm>
            <a:off x="530352" y="4114800"/>
            <a:ext cx="8083296" cy="347472"/>
          </a:xfrm>
          <a:prstGeom prst="rect">
            <a:avLst/>
          </a:prstGeom>
          <a:noFill/>
        </p:spPr>
        <p:txBody>
          <a:bodyPr wrap="square" anchor="ctr" lIns="36576" rIns="36576" tIns="36576" bIns="36576"/>
          <a:lstStyle/>
          <a:p>
            <a:pPr algn="ctr" marL="0" indent="0">
              <a:lnSpc>
                <a:spcPct val="100000"/>
              </a:lnSpc>
              <a:spcAft>
                <a:spcPts val="0"/>
              </a:spcAft>
              <a:buNone/>
            </a:pPr>
            <a:r>
              <a:rPr sz="950" b="1" i="0">
                <a:solidFill>
                  <a:srgbClr val="A9322B"/>
                </a:solidFill>
                <a:latin typeface="Arial"/>
              </a:rPr>
              <a:t>Future extensions — not part of the current scope:  </a:t>
            </a:r>
            <a:r>
              <a:rPr sz="950" b="0" i="0">
                <a:solidFill>
                  <a:srgbClr val="1F2937"/>
                </a:solidFill>
                <a:latin typeface="Arial"/>
              </a:rPr>
              <a:t>BIM generation  ·  Building-code compliance  ·  Cost estimation  ·  Environmental performance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a:ln cap="flat" cmpd="sng" w="9525">
            <a:solidFill>
              <a:srgbClr val="000000"/>
            </a:solidFill>
            <a:prstDash val="dash"/>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en" sz="2000">
                <a:solidFill>
                  <a:srgbClr val="1C4587"/>
                </a:solidFill>
                <a:latin typeface="Cambria"/>
                <a:ea typeface="Cambria"/>
                <a:cs typeface="Cambria"/>
                <a:sym typeface="Cambria"/>
              </a:rPr>
              <a:t>Tools, Technologies, and Models Used</a:t>
            </a:r>
            <a:endParaRPr b="1" sz="2000">
              <a:solidFill>
                <a:srgbClr val="1C4587"/>
              </a:solidFill>
              <a:latin typeface="Cambria"/>
              <a:ea typeface="Cambria"/>
              <a:cs typeface="Cambria"/>
              <a:sym typeface="Cambria"/>
            </a:endParaRPr>
          </a:p>
        </p:txBody>
      </p:sp>
      <p:sp>
        <p:nvSpPr>
          <p:cNvPr id="101" name="Google Shape;101;p20"/>
          <p:cNvSpPr txBox="1"/>
          <p:nvPr>
            <p:ph idx="1" type="body"/>
          </p:nvPr>
        </p:nvSpPr>
        <p:spPr>
          <a:xfrm>
            <a:off x="311700" y="1152475"/>
            <a:ext cx="8520600" cy="3416400"/>
          </a:xfrm>
          <a:prstGeom prst="rect">
            <a:avLst/>
          </a:prstGeom>
          <a:ln cap="flat" cmpd="sng" w="9525">
            <a:solidFill>
              <a:srgbClr val="000000"/>
            </a:solidFill>
            <a:prstDash val="dash"/>
            <a:round/>
            <a:headEnd len="sm" w="sm" type="none"/>
            <a:tailEnd len="sm" w="sm" type="none"/>
          </a:ln>
        </p:spPr>
        <p:txBody>
          <a:bodyPr anchorCtr="0" anchor="t" bIns="36576" lIns="36576" spcFirstLastPara="1" rIns="36576" wrap="square" tIns="36576"/>
          <a:lstStyle/>
          <a:p>
            <a:pPr indent="0" lvl="0" marL="0" marR="0" rtl="0" algn="l">
              <a:lnSpc>
                <a:spcPct val="100000"/>
              </a:lnSpc>
              <a:spcBef>
                <a:spcPts val="0"/>
              </a:spcBef>
              <a:spcAft>
                <a:spcPts val="0"/>
              </a:spcAft>
              <a:buNone/>
            </a:pPr>
            <a:r>
              <a:rPr sz="400" b="0" i="0">
                <a:solidFill>
                  <a:srgbClr val="1F2937"/>
                </a:solidFill>
                <a:latin typeface="Arial"/>
              </a:rPr>
              <a:t> </a:t>
            </a:r>
            <a:endParaRPr/>
          </a:p>
        </p:txBody>
      </p:sp>
      <p:sp>
        <p:nvSpPr>
          <p:cNvPr id="102" name="Rectangle 101"/>
          <p:cNvSpPr/>
          <p:nvPr/>
        </p:nvSpPr>
        <p:spPr>
          <a:xfrm>
            <a:off x="420624" y="1243584"/>
            <a:ext cx="4087368" cy="1554480"/>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420624" y="1243584"/>
            <a:ext cx="4087368" cy="310896"/>
          </a:xfrm>
          <a:prstGeom prst="rect">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530352" y="1243584"/>
            <a:ext cx="3867911" cy="310896"/>
          </a:xfrm>
          <a:prstGeom prst="rect">
            <a:avLst/>
          </a:prstGeom>
          <a:noFill/>
        </p:spPr>
        <p:txBody>
          <a:bodyPr wrap="square" anchor="ctr" lIns="36576" rIns="36576" tIns="36576" bIns="36576"/>
          <a:lstStyle/>
          <a:p>
            <a:pPr algn="l" marL="0" indent="0">
              <a:lnSpc>
                <a:spcPct val="100000"/>
              </a:lnSpc>
              <a:spcAft>
                <a:spcPts val="0"/>
              </a:spcAft>
              <a:buNone/>
            </a:pPr>
            <a:r>
              <a:rPr sz="1150" b="1" i="0">
                <a:solidFill>
                  <a:srgbClr val="FFFFFF"/>
                </a:solidFill>
                <a:latin typeface="Cambria"/>
              </a:rPr>
              <a:t>Languages &amp; Frameworks</a:t>
            </a:r>
          </a:p>
        </p:txBody>
      </p:sp>
      <p:sp>
        <p:nvSpPr>
          <p:cNvPr id="105" name="TextBox 104"/>
          <p:cNvSpPr txBox="1"/>
          <p:nvPr/>
        </p:nvSpPr>
        <p:spPr>
          <a:xfrm>
            <a:off x="530352" y="1609344"/>
            <a:ext cx="3867911" cy="1133856"/>
          </a:xfrm>
          <a:prstGeom prst="rect">
            <a:avLst/>
          </a:prstGeom>
          <a:noFill/>
        </p:spPr>
        <p:txBody>
          <a:bodyPr wrap="square" anchor="t" lIns="36576" rIns="36576" tIns="36576" bIns="36576"/>
          <a:lstStyle/>
          <a:p>
            <a:pPr algn="l" marL="0" indent="0">
              <a:lnSpc>
                <a:spcPct val="100000"/>
              </a:lnSpc>
              <a:spcAft>
                <a:spcPts val="0"/>
              </a:spcAft>
              <a:buNone/>
            </a:pPr>
            <a:r>
              <a:rPr sz="950" b="0" i="0">
                <a:solidFill>
                  <a:srgbClr val="A9322B"/>
                </a:solidFill>
                <a:latin typeface="Arial"/>
              </a:rPr>
              <a:t>▸ </a:t>
            </a:r>
            <a:r>
              <a:rPr sz="950" b="1" i="0">
                <a:solidFill>
                  <a:srgbClr val="13315F"/>
                </a:solidFill>
                <a:latin typeface="Arial"/>
              </a:rPr>
              <a:t>Python 3.10</a:t>
            </a:r>
            <a:r>
              <a:rPr sz="950" b="0" i="0">
                <a:solidFill>
                  <a:srgbClr val="1F2937"/>
                </a:solidFill>
                <a:latin typeface="Arial"/>
              </a:rPr>
              <a:t>  —  pipeline, agents and data models</a:t>
            </a:r>
          </a:p>
          <a:p>
            <a:pPr algn="l" marL="0" indent="0">
              <a:lnSpc>
                <a:spcPct val="100000"/>
              </a:lnSpc>
              <a:spcBef>
                <a:spcPts val="400"/>
              </a:spcBef>
              <a:spcAft>
                <a:spcPts val="0"/>
              </a:spcAft>
              <a:buNone/>
            </a:pPr>
            <a:r>
              <a:rPr sz="950" b="0" i="0">
                <a:solidFill>
                  <a:srgbClr val="A9322B"/>
                </a:solidFill>
                <a:latin typeface="Arial"/>
              </a:rPr>
              <a:t>▸ </a:t>
            </a:r>
            <a:r>
              <a:rPr sz="950" b="1" i="0">
                <a:solidFill>
                  <a:srgbClr val="13315F"/>
                </a:solidFill>
                <a:latin typeface="Arial"/>
              </a:rPr>
              <a:t>Flask</a:t>
            </a:r>
            <a:r>
              <a:rPr sz="950" b="0" i="0">
                <a:solidFill>
                  <a:srgbClr val="1F2937"/>
                </a:solidFill>
                <a:latin typeface="Arial"/>
              </a:rPr>
              <a:t>  —  REST API (POST /api/pipeline)</a:t>
            </a:r>
          </a:p>
          <a:p>
            <a:pPr algn="l" marL="0" indent="0">
              <a:lnSpc>
                <a:spcPct val="100000"/>
              </a:lnSpc>
              <a:spcBef>
                <a:spcPts val="400"/>
              </a:spcBef>
              <a:spcAft>
                <a:spcPts val="0"/>
              </a:spcAft>
              <a:buNone/>
            </a:pPr>
            <a:r>
              <a:rPr sz="950" b="0" i="0">
                <a:solidFill>
                  <a:srgbClr val="A9322B"/>
                </a:solidFill>
                <a:latin typeface="Arial"/>
              </a:rPr>
              <a:t>▸ </a:t>
            </a:r>
            <a:r>
              <a:rPr sz="950" b="1" i="0">
                <a:solidFill>
                  <a:srgbClr val="13315F"/>
                </a:solidFill>
                <a:latin typeface="Arial"/>
              </a:rPr>
              <a:t>HTML · CSS · JavaScript</a:t>
            </a:r>
            <a:r>
              <a:rPr sz="950" b="0" i="0">
                <a:solidFill>
                  <a:srgbClr val="1F2937"/>
                </a:solidFill>
                <a:latin typeface="Arial"/>
              </a:rPr>
              <a:t>  —  web interface</a:t>
            </a:r>
          </a:p>
          <a:p>
            <a:pPr algn="l" marL="0" indent="0">
              <a:lnSpc>
                <a:spcPct val="100000"/>
              </a:lnSpc>
              <a:spcBef>
                <a:spcPts val="400"/>
              </a:spcBef>
              <a:spcAft>
                <a:spcPts val="0"/>
              </a:spcAft>
              <a:buNone/>
            </a:pPr>
            <a:r>
              <a:rPr sz="950" b="0" i="0">
                <a:solidFill>
                  <a:srgbClr val="A9322B"/>
                </a:solidFill>
                <a:latin typeface="Arial"/>
              </a:rPr>
              <a:t>▸ </a:t>
            </a:r>
            <a:r>
              <a:rPr sz="950" b="1" i="0">
                <a:solidFill>
                  <a:srgbClr val="13315F"/>
                </a:solidFill>
                <a:latin typeface="Arial"/>
              </a:rPr>
              <a:t>unittest</a:t>
            </a:r>
            <a:r>
              <a:rPr sz="950" b="0" i="0">
                <a:solidFill>
                  <a:srgbClr val="1F2937"/>
                </a:solidFill>
                <a:latin typeface="Arial"/>
              </a:rPr>
              <a:t>  —  18-test pipeline test suite</a:t>
            </a:r>
          </a:p>
        </p:txBody>
      </p:sp>
      <p:sp>
        <p:nvSpPr>
          <p:cNvPr id="106" name="Rectangle 105"/>
          <p:cNvSpPr/>
          <p:nvPr/>
        </p:nvSpPr>
        <p:spPr>
          <a:xfrm>
            <a:off x="4636007" y="1243584"/>
            <a:ext cx="4087368" cy="1554480"/>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4636007" y="1243584"/>
            <a:ext cx="4087368" cy="310896"/>
          </a:xfrm>
          <a:prstGeom prst="rect">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4745736" y="1243584"/>
            <a:ext cx="3867911" cy="310896"/>
          </a:xfrm>
          <a:prstGeom prst="rect">
            <a:avLst/>
          </a:prstGeom>
          <a:noFill/>
        </p:spPr>
        <p:txBody>
          <a:bodyPr wrap="square" anchor="ctr" lIns="36576" rIns="36576" tIns="36576" bIns="36576"/>
          <a:lstStyle/>
          <a:p>
            <a:pPr algn="l" marL="0" indent="0">
              <a:lnSpc>
                <a:spcPct val="100000"/>
              </a:lnSpc>
              <a:spcAft>
                <a:spcPts val="0"/>
              </a:spcAft>
              <a:buNone/>
            </a:pPr>
            <a:r>
              <a:rPr sz="1150" b="1" i="0">
                <a:solidFill>
                  <a:srgbClr val="FFFFFF"/>
                </a:solidFill>
                <a:latin typeface="Cambria"/>
              </a:rPr>
              <a:t>AI Models</a:t>
            </a:r>
          </a:p>
        </p:txBody>
      </p:sp>
      <p:sp>
        <p:nvSpPr>
          <p:cNvPr id="109" name="TextBox 108"/>
          <p:cNvSpPr txBox="1"/>
          <p:nvPr/>
        </p:nvSpPr>
        <p:spPr>
          <a:xfrm>
            <a:off x="4745736" y="1609344"/>
            <a:ext cx="3867911" cy="1133856"/>
          </a:xfrm>
          <a:prstGeom prst="rect">
            <a:avLst/>
          </a:prstGeom>
          <a:noFill/>
        </p:spPr>
        <p:txBody>
          <a:bodyPr wrap="square" anchor="t" lIns="36576" rIns="36576" tIns="36576" bIns="36576"/>
          <a:lstStyle/>
          <a:p>
            <a:pPr algn="l" marL="0" indent="0">
              <a:lnSpc>
                <a:spcPct val="100000"/>
              </a:lnSpc>
              <a:spcAft>
                <a:spcPts val="0"/>
              </a:spcAft>
              <a:buNone/>
            </a:pPr>
            <a:r>
              <a:rPr sz="950" b="0" i="0">
                <a:solidFill>
                  <a:srgbClr val="A9322B"/>
                </a:solidFill>
                <a:latin typeface="Arial"/>
              </a:rPr>
              <a:t>▸ </a:t>
            </a:r>
            <a:r>
              <a:rPr sz="950" b="1" i="0">
                <a:solidFill>
                  <a:srgbClr val="13315F"/>
                </a:solidFill>
                <a:latin typeface="Arial"/>
              </a:rPr>
              <a:t>Google Gemini (gemini-3.8-flash)</a:t>
            </a:r>
            <a:r>
              <a:rPr sz="950" b="0" i="0">
                <a:solidFill>
                  <a:srgbClr val="1F2937"/>
                </a:solidFill>
                <a:latin typeface="Arial"/>
              </a:rPr>
              <a:t>  —  LLM for the Requirement Agent, via the google-genai SDK</a:t>
            </a:r>
          </a:p>
          <a:p>
            <a:pPr algn="l" marL="0" indent="0">
              <a:lnSpc>
                <a:spcPct val="100000"/>
              </a:lnSpc>
              <a:spcBef>
                <a:spcPts val="400"/>
              </a:spcBef>
              <a:spcAft>
                <a:spcPts val="0"/>
              </a:spcAft>
              <a:buNone/>
            </a:pPr>
            <a:r>
              <a:rPr sz="950" b="0" i="0">
                <a:solidFill>
                  <a:srgbClr val="A9322B"/>
                </a:solidFill>
                <a:latin typeface="Arial"/>
              </a:rPr>
              <a:t>▸ </a:t>
            </a:r>
            <a:r>
              <a:rPr sz="950" b="1" i="0">
                <a:solidFill>
                  <a:srgbClr val="13315F"/>
                </a:solidFill>
                <a:latin typeface="Arial"/>
              </a:rPr>
              <a:t>Rule-based parser</a:t>
            </a:r>
            <a:r>
              <a:rPr sz="950" b="0" i="0">
                <a:solidFill>
                  <a:srgbClr val="1F2937"/>
                </a:solidFill>
                <a:latin typeface="Arial"/>
              </a:rPr>
              <a:t>  —  offline fallback when no LLM key is available</a:t>
            </a:r>
          </a:p>
          <a:p>
            <a:pPr algn="l" marL="0" indent="0">
              <a:lnSpc>
                <a:spcPct val="100000"/>
              </a:lnSpc>
              <a:spcBef>
                <a:spcPts val="400"/>
              </a:spcBef>
              <a:spcAft>
                <a:spcPts val="0"/>
              </a:spcAft>
              <a:buNone/>
            </a:pPr>
            <a:r>
              <a:rPr sz="950" b="0" i="0">
                <a:solidFill>
                  <a:srgbClr val="A9322B"/>
                </a:solidFill>
                <a:latin typeface="Arial"/>
              </a:rPr>
              <a:t>▸ </a:t>
            </a:r>
            <a:r>
              <a:rPr sz="950" b="1" i="0">
                <a:solidFill>
                  <a:srgbClr val="13315F"/>
                </a:solidFill>
                <a:latin typeface="Arial"/>
              </a:rPr>
              <a:t>Floor-Plan Generation Model</a:t>
            </a:r>
            <a:r>
              <a:rPr sz="950" b="0" i="0">
                <a:solidFill>
                  <a:srgbClr val="1F2937"/>
                </a:solidFill>
                <a:latin typeface="Arial"/>
              </a:rPr>
              <a:t>  —  randomised, constraint-aware candidate sampling</a:t>
            </a:r>
          </a:p>
        </p:txBody>
      </p:sp>
      <p:sp>
        <p:nvSpPr>
          <p:cNvPr id="110" name="Rectangle 109"/>
          <p:cNvSpPr/>
          <p:nvPr/>
        </p:nvSpPr>
        <p:spPr>
          <a:xfrm>
            <a:off x="420624" y="2926080"/>
            <a:ext cx="4087368" cy="1554480"/>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420624" y="2926080"/>
            <a:ext cx="4087368" cy="310896"/>
          </a:xfrm>
          <a:prstGeom prst="rect">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530352" y="2926080"/>
            <a:ext cx="3867911" cy="310896"/>
          </a:xfrm>
          <a:prstGeom prst="rect">
            <a:avLst/>
          </a:prstGeom>
          <a:noFill/>
        </p:spPr>
        <p:txBody>
          <a:bodyPr wrap="square" anchor="ctr" lIns="36576" rIns="36576" tIns="36576" bIns="36576"/>
          <a:lstStyle/>
          <a:p>
            <a:pPr algn="l" marL="0" indent="0">
              <a:lnSpc>
                <a:spcPct val="100000"/>
              </a:lnSpc>
              <a:spcAft>
                <a:spcPts val="0"/>
              </a:spcAft>
              <a:buNone/>
            </a:pPr>
            <a:r>
              <a:rPr sz="1150" b="1" i="0">
                <a:solidFill>
                  <a:srgbClr val="FFFFFF"/>
                </a:solidFill>
                <a:latin typeface="Cambria"/>
              </a:rPr>
              <a:t>Libraries</a:t>
            </a:r>
          </a:p>
        </p:txBody>
      </p:sp>
      <p:sp>
        <p:nvSpPr>
          <p:cNvPr id="113" name="TextBox 112"/>
          <p:cNvSpPr txBox="1"/>
          <p:nvPr/>
        </p:nvSpPr>
        <p:spPr>
          <a:xfrm>
            <a:off x="530352" y="3291840"/>
            <a:ext cx="3867911" cy="1133856"/>
          </a:xfrm>
          <a:prstGeom prst="rect">
            <a:avLst/>
          </a:prstGeom>
          <a:noFill/>
        </p:spPr>
        <p:txBody>
          <a:bodyPr wrap="square" anchor="t" lIns="36576" rIns="36576" tIns="36576" bIns="36576"/>
          <a:lstStyle/>
          <a:p>
            <a:pPr algn="l" marL="0" indent="0">
              <a:lnSpc>
                <a:spcPct val="100000"/>
              </a:lnSpc>
              <a:spcAft>
                <a:spcPts val="0"/>
              </a:spcAft>
              <a:buNone/>
            </a:pPr>
            <a:r>
              <a:rPr sz="950" b="0" i="0">
                <a:solidFill>
                  <a:srgbClr val="A9322B"/>
                </a:solidFill>
                <a:latin typeface="Arial"/>
              </a:rPr>
              <a:t>▸ </a:t>
            </a:r>
            <a:r>
              <a:rPr sz="950" b="1" i="0">
                <a:solidFill>
                  <a:srgbClr val="13315F"/>
                </a:solidFill>
                <a:latin typeface="Arial"/>
              </a:rPr>
              <a:t>NetworkX</a:t>
            </a:r>
            <a:r>
              <a:rPr sz="950" b="0" i="0">
                <a:solidFill>
                  <a:srgbClr val="1F2937"/>
                </a:solidFill>
                <a:latin typeface="Arial"/>
              </a:rPr>
              <a:t>  —  spatial relationship graph</a:t>
            </a:r>
          </a:p>
          <a:p>
            <a:pPr algn="l" marL="0" indent="0">
              <a:lnSpc>
                <a:spcPct val="100000"/>
              </a:lnSpc>
              <a:spcBef>
                <a:spcPts val="400"/>
              </a:spcBef>
              <a:spcAft>
                <a:spcPts val="0"/>
              </a:spcAft>
              <a:buNone/>
            </a:pPr>
            <a:r>
              <a:rPr sz="950" b="0" i="0">
                <a:solidFill>
                  <a:srgbClr val="A9322B"/>
                </a:solidFill>
                <a:latin typeface="Arial"/>
              </a:rPr>
              <a:t>▸ </a:t>
            </a:r>
            <a:r>
              <a:rPr sz="950" b="1" i="0">
                <a:solidFill>
                  <a:srgbClr val="13315F"/>
                </a:solidFill>
                <a:latin typeface="Arial"/>
              </a:rPr>
              <a:t>NumPy</a:t>
            </a:r>
            <a:r>
              <a:rPr sz="950" b="0" i="0">
                <a:solidFill>
                  <a:srgbClr val="1F2937"/>
                </a:solidFill>
                <a:latin typeface="Arial"/>
              </a:rPr>
              <a:t>  —  numerical computation</a:t>
            </a:r>
          </a:p>
          <a:p>
            <a:pPr algn="l" marL="0" indent="0">
              <a:lnSpc>
                <a:spcPct val="100000"/>
              </a:lnSpc>
              <a:spcBef>
                <a:spcPts val="400"/>
              </a:spcBef>
              <a:spcAft>
                <a:spcPts val="0"/>
              </a:spcAft>
              <a:buNone/>
            </a:pPr>
            <a:r>
              <a:rPr sz="950" b="0" i="0">
                <a:solidFill>
                  <a:srgbClr val="A9322B"/>
                </a:solidFill>
                <a:latin typeface="Arial"/>
              </a:rPr>
              <a:t>▸ </a:t>
            </a:r>
            <a:r>
              <a:rPr sz="950" b="1" i="0">
                <a:solidFill>
                  <a:srgbClr val="13315F"/>
                </a:solidFill>
                <a:latin typeface="Arial"/>
              </a:rPr>
              <a:t>Matplotlib · Pillow</a:t>
            </a:r>
            <a:r>
              <a:rPr sz="950" b="0" i="0">
                <a:solidFill>
                  <a:srgbClr val="1F2937"/>
                </a:solidFill>
                <a:latin typeface="Arial"/>
              </a:rPr>
              <a:t>  —  floor-plan, graph and convergence rendering</a:t>
            </a:r>
          </a:p>
          <a:p>
            <a:pPr algn="l" marL="0" indent="0">
              <a:lnSpc>
                <a:spcPct val="100000"/>
              </a:lnSpc>
              <a:spcBef>
                <a:spcPts val="400"/>
              </a:spcBef>
              <a:spcAft>
                <a:spcPts val="0"/>
              </a:spcAft>
              <a:buNone/>
            </a:pPr>
            <a:r>
              <a:rPr sz="950" b="0" i="0">
                <a:solidFill>
                  <a:srgbClr val="A9322B"/>
                </a:solidFill>
                <a:latin typeface="Arial"/>
              </a:rPr>
              <a:t>▸ </a:t>
            </a:r>
            <a:r>
              <a:rPr sz="950" b="1" i="0">
                <a:solidFill>
                  <a:srgbClr val="13315F"/>
                </a:solidFill>
                <a:latin typeface="Arial"/>
              </a:rPr>
              <a:t>python-dotenv</a:t>
            </a:r>
            <a:r>
              <a:rPr sz="950" b="0" i="0">
                <a:solidFill>
                  <a:srgbClr val="1F2937"/>
                </a:solidFill>
                <a:latin typeface="Arial"/>
              </a:rPr>
              <a:t>  —  API-key configuration</a:t>
            </a:r>
          </a:p>
        </p:txBody>
      </p:sp>
      <p:sp>
        <p:nvSpPr>
          <p:cNvPr id="114" name="Rectangle 113"/>
          <p:cNvSpPr/>
          <p:nvPr/>
        </p:nvSpPr>
        <p:spPr>
          <a:xfrm>
            <a:off x="4636007" y="2926080"/>
            <a:ext cx="4087368" cy="1554480"/>
          </a:xfrm>
          <a:prstGeom prst="rect">
            <a:avLst/>
          </a:prstGeom>
          <a:solidFill>
            <a:srgbClr val="FFFFFF"/>
          </a:solidFill>
          <a:ln w="9525">
            <a:solidFill>
              <a:srgbClr val="C5D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4636007" y="2926080"/>
            <a:ext cx="4087368" cy="310896"/>
          </a:xfrm>
          <a:prstGeom prst="rect">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4745736" y="2926080"/>
            <a:ext cx="3867911" cy="310896"/>
          </a:xfrm>
          <a:prstGeom prst="rect">
            <a:avLst/>
          </a:prstGeom>
          <a:noFill/>
        </p:spPr>
        <p:txBody>
          <a:bodyPr wrap="square" anchor="ctr" lIns="36576" rIns="36576" tIns="36576" bIns="36576"/>
          <a:lstStyle/>
          <a:p>
            <a:pPr algn="l" marL="0" indent="0">
              <a:lnSpc>
                <a:spcPct val="100000"/>
              </a:lnSpc>
              <a:spcAft>
                <a:spcPts val="0"/>
              </a:spcAft>
              <a:buNone/>
            </a:pPr>
            <a:r>
              <a:rPr sz="1150" b="1" i="0">
                <a:solidFill>
                  <a:srgbClr val="FFFFFF"/>
                </a:solidFill>
                <a:latin typeface="Cambria"/>
              </a:rPr>
              <a:t>Algorithms &amp; Techniques</a:t>
            </a:r>
          </a:p>
        </p:txBody>
      </p:sp>
      <p:sp>
        <p:nvSpPr>
          <p:cNvPr id="117" name="TextBox 116"/>
          <p:cNvSpPr txBox="1"/>
          <p:nvPr/>
        </p:nvSpPr>
        <p:spPr>
          <a:xfrm>
            <a:off x="4745736" y="3291840"/>
            <a:ext cx="3867911" cy="1133856"/>
          </a:xfrm>
          <a:prstGeom prst="rect">
            <a:avLst/>
          </a:prstGeom>
          <a:noFill/>
        </p:spPr>
        <p:txBody>
          <a:bodyPr wrap="square" anchor="t" lIns="36576" rIns="36576" tIns="36576" bIns="36576"/>
          <a:lstStyle/>
          <a:p>
            <a:pPr algn="l" marL="0" indent="0">
              <a:lnSpc>
                <a:spcPct val="100000"/>
              </a:lnSpc>
              <a:spcAft>
                <a:spcPts val="0"/>
              </a:spcAft>
              <a:buNone/>
            </a:pPr>
            <a:r>
              <a:rPr sz="950" b="0" i="0">
                <a:solidFill>
                  <a:srgbClr val="A9322B"/>
                </a:solidFill>
                <a:latin typeface="Arial"/>
              </a:rPr>
              <a:t>▸ </a:t>
            </a:r>
            <a:r>
              <a:rPr sz="950" b="1" i="0">
                <a:solidFill>
                  <a:srgbClr val="13315F"/>
                </a:solidFill>
                <a:latin typeface="Arial"/>
              </a:rPr>
              <a:t>Relationship graph</a:t>
            </a:r>
            <a:r>
              <a:rPr sz="950" b="0" i="0">
                <a:solidFill>
                  <a:srgbClr val="1F2937"/>
                </a:solidFill>
                <a:latin typeface="Arial"/>
              </a:rPr>
              <a:t>  —  near · away from · connected to</a:t>
            </a:r>
          </a:p>
          <a:p>
            <a:pPr algn="l" marL="0" indent="0">
              <a:lnSpc>
                <a:spcPct val="100000"/>
              </a:lnSpc>
              <a:spcBef>
                <a:spcPts val="400"/>
              </a:spcBef>
              <a:spcAft>
                <a:spcPts val="0"/>
              </a:spcAft>
              <a:buNone/>
            </a:pPr>
            <a:r>
              <a:rPr sz="950" b="0" i="0">
                <a:solidFill>
                  <a:srgbClr val="A9322B"/>
                </a:solidFill>
                <a:latin typeface="Arial"/>
              </a:rPr>
              <a:t>▸ </a:t>
            </a:r>
            <a:r>
              <a:rPr sz="950" b="1" i="0">
                <a:solidFill>
                  <a:srgbClr val="13315F"/>
                </a:solidFill>
                <a:latin typeface="Arial"/>
              </a:rPr>
              <a:t>Constraint-based critic</a:t>
            </a:r>
            <a:r>
              <a:rPr sz="950" b="0" i="0">
                <a:solidFill>
                  <a:srgbClr val="1F2937"/>
                </a:solidFill>
                <a:latin typeface="Arial"/>
              </a:rPr>
              <a:t>  —  deterministic, interpretable spatial score</a:t>
            </a:r>
          </a:p>
          <a:p>
            <a:pPr algn="l" marL="0" indent="0">
              <a:lnSpc>
                <a:spcPct val="100000"/>
              </a:lnSpc>
              <a:spcBef>
                <a:spcPts val="400"/>
              </a:spcBef>
              <a:spcAft>
                <a:spcPts val="0"/>
              </a:spcAft>
              <a:buNone/>
            </a:pPr>
            <a:r>
              <a:rPr sz="950" b="0" i="0">
                <a:solidFill>
                  <a:srgbClr val="A9322B"/>
                </a:solidFill>
                <a:latin typeface="Arial"/>
              </a:rPr>
              <a:t>▸ </a:t>
            </a:r>
            <a:r>
              <a:rPr sz="950" b="1" i="0">
                <a:solidFill>
                  <a:srgbClr val="13315F"/>
                </a:solidFill>
                <a:latin typeface="Arial"/>
              </a:rPr>
              <a:t>Simulated annealing</a:t>
            </a:r>
            <a:r>
              <a:rPr sz="950" b="0" i="0">
                <a:solidFill>
                  <a:srgbClr val="1F2937"/>
                </a:solidFill>
                <a:latin typeface="Arial"/>
              </a:rPr>
              <a:t>  —  targets the lowest-scoring constraints</a:t>
            </a:r>
          </a:p>
          <a:p>
            <a:pPr algn="l" marL="0" indent="0">
              <a:lnSpc>
                <a:spcPct val="100000"/>
              </a:lnSpc>
              <a:spcBef>
                <a:spcPts val="400"/>
              </a:spcBef>
              <a:spcAft>
                <a:spcPts val="0"/>
              </a:spcAft>
              <a:buNone/>
            </a:pPr>
            <a:r>
              <a:rPr sz="950" b="0" i="0">
                <a:solidFill>
                  <a:srgbClr val="A9322B"/>
                </a:solidFill>
                <a:latin typeface="Arial"/>
              </a:rPr>
              <a:t>▸ </a:t>
            </a:r>
            <a:r>
              <a:rPr sz="950" b="1" i="0">
                <a:solidFill>
                  <a:srgbClr val="13315F"/>
                </a:solidFill>
                <a:latin typeface="Arial"/>
              </a:rPr>
              <a:t>Closed loop</a:t>
            </a:r>
            <a:r>
              <a:rPr sz="950" b="0" i="0">
                <a:solidFill>
                  <a:srgbClr val="1F2937"/>
                </a:solidFill>
                <a:latin typeface="Arial"/>
              </a:rPr>
              <a:t>  —  generate → evaluate → improve → re-evaluate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a:ln cap="flat" cmpd="sng" w="9525">
            <a:solidFill>
              <a:srgbClr val="000000"/>
            </a:solidFill>
            <a:prstDash val="dash"/>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en" sz="2000">
                <a:solidFill>
                  <a:srgbClr val="1C4587"/>
                </a:solidFill>
                <a:latin typeface="Cambria"/>
                <a:ea typeface="Cambria"/>
                <a:cs typeface="Cambria"/>
                <a:sym typeface="Cambria"/>
              </a:rPr>
              <a:t>References</a:t>
            </a:r>
            <a:endParaRPr b="1" sz="2000">
              <a:solidFill>
                <a:srgbClr val="1C4587"/>
              </a:solidFill>
              <a:latin typeface="Cambria"/>
              <a:ea typeface="Cambria"/>
              <a:cs typeface="Cambria"/>
              <a:sym typeface="Cambria"/>
            </a:endParaRPr>
          </a:p>
        </p:txBody>
      </p:sp>
      <p:sp>
        <p:nvSpPr>
          <p:cNvPr id="107" name="Google Shape;107;p21"/>
          <p:cNvSpPr txBox="1"/>
          <p:nvPr>
            <p:ph idx="1" type="body"/>
          </p:nvPr>
        </p:nvSpPr>
        <p:spPr>
          <a:xfrm>
            <a:off x="311700" y="1152475"/>
            <a:ext cx="8520600" cy="3416400"/>
          </a:xfrm>
          <a:prstGeom prst="rect">
            <a:avLst/>
          </a:prstGeom>
          <a:ln cap="flat" cmpd="sng" w="9525">
            <a:solidFill>
              <a:srgbClr val="000000"/>
            </a:solidFill>
            <a:prstDash val="dash"/>
            <a:round/>
            <a:headEnd len="sm" w="sm" type="none"/>
            <a:tailEnd len="sm" w="sm" type="none"/>
          </a:ln>
        </p:spPr>
        <p:txBody>
          <a:bodyPr anchorCtr="0" anchor="t" bIns="146304" lIns="146304" spcFirstLastPara="1" rIns="146304" wrap="square" tIns="146304"/>
          <a:lstStyle/>
          <a:p>
            <a:pPr indent="0" lvl="0" marL="0" marR="0" rtl="0" algn="l">
              <a:lnSpc>
                <a:spcPct val="110000"/>
              </a:lnSpc>
              <a:spcBef>
                <a:spcPts val="0"/>
              </a:spcBef>
              <a:spcAft>
                <a:spcPts val="0"/>
              </a:spcAft>
              <a:buNone/>
            </a:pPr>
            <a:r>
              <a:rPr sz="1250" b="0" i="0">
                <a:solidFill>
                  <a:srgbClr val="1F2937"/>
                </a:solidFill>
                <a:latin typeface="Arial"/>
              </a:rPr>
              <a:t>[1]  A. B. Yenew, B. G. Assefa, and E. G. Belay, “HouseGanDi: A Hybrid Approach to Strike a Balance of Sampling Time and Diversity in Floorplan Generation,” </a:t>
            </a:r>
            <a:r>
              <a:rPr sz="1250" b="0" i="1">
                <a:solidFill>
                  <a:srgbClr val="1F2937"/>
                </a:solidFill>
                <a:latin typeface="Arial"/>
              </a:rPr>
              <a:t>IEEE Access</a:t>
            </a:r>
            <a:r>
              <a:rPr sz="1250" b="0" i="0">
                <a:solidFill>
                  <a:srgbClr val="1F2937"/>
                </a:solidFill>
                <a:latin typeface="Arial"/>
              </a:rPr>
              <a:t>, vol. 12, pp. 125235–125252, 2024, doi: 10.1109/ACCESS.2024.3451406.  </a:t>
            </a:r>
            <a:r>
              <a:rPr sz="1250" b="1" i="0">
                <a:solidFill>
                  <a:srgbClr val="A9322B"/>
                </a:solidFill>
                <a:latin typeface="Arial"/>
              </a:rPr>
              <a:t>[Base paper]</a:t>
            </a:r>
            <a:endParaRPr/>
          </a:p>
          <a:p>
            <a:pPr algn="l" marL="0" indent="0">
              <a:lnSpc>
                <a:spcPct val="110000"/>
              </a:lnSpc>
              <a:spcBef>
                <a:spcPts val="1400"/>
              </a:spcBef>
              <a:spcAft>
                <a:spcPts val="0"/>
              </a:spcAft>
              <a:buNone/>
            </a:pPr>
            <a:r>
              <a:rPr sz="1250" b="0" i="0">
                <a:solidFill>
                  <a:srgbClr val="1F2937"/>
                </a:solidFill>
                <a:latin typeface="Arial"/>
              </a:rPr>
              <a:t>[2]  Y. Wei and X. Li, “Graph-Augmented Text-Based Floorplan Generation,” in </a:t>
            </a:r>
            <a:r>
              <a:rPr sz="1250" b="0" i="1">
                <a:solidFill>
                  <a:srgbClr val="1F2937"/>
                </a:solidFill>
                <a:latin typeface="Arial"/>
              </a:rPr>
              <a:t>2024 IEEE Int. Conf. on Automation in Manufacturing, Transportation and Logistics (ICaMaL)</a:t>
            </a:r>
            <a:r>
              <a:rPr sz="1250" b="0" i="0">
                <a:solidFill>
                  <a:srgbClr val="1F2937"/>
                </a:solidFill>
                <a:latin typeface="Arial"/>
              </a:rPr>
              <a:t>, 2024, doi: 10.1109/ICaMaL62577.2024.10919609.</a:t>
            </a:r>
          </a:p>
          <a:p>
            <a:pPr algn="l" marL="0" indent="0">
              <a:lnSpc>
                <a:spcPct val="110000"/>
              </a:lnSpc>
              <a:spcBef>
                <a:spcPts val="1400"/>
              </a:spcBef>
              <a:spcAft>
                <a:spcPts val="0"/>
              </a:spcAft>
              <a:buNone/>
            </a:pPr>
            <a:r>
              <a:rPr sz="1250" b="0" i="0">
                <a:solidFill>
                  <a:srgbClr val="1F2937"/>
                </a:solidFill>
                <a:latin typeface="Arial"/>
              </a:rPr>
              <a:t>[3]  Y. Xin, Y. Zhou, and Y. Liu, “Prompts to Layouts: Hybrid Graph Neural Network and Agent-Based Model for Generative Architectural Design,” </a:t>
            </a:r>
            <a:r>
              <a:rPr sz="1250" b="0" i="1">
                <a:solidFill>
                  <a:srgbClr val="1F2937"/>
                </a:solidFill>
                <a:latin typeface="Arial"/>
              </a:rPr>
              <a:t>Automation in Construction</a:t>
            </a:r>
            <a:r>
              <a:rPr sz="1250" b="0" i="0">
                <a:solidFill>
                  <a:srgbClr val="1F2937"/>
                </a:solidFill>
                <a:latin typeface="Arial"/>
              </a:rPr>
              <a:t>, vol. 176, 2025, Art. no. 106253.</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