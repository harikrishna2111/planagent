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title. Note that the 0th review covers the base paper, the research gap, and the proposed agentic framework. Current scope is architectural space planning; BIM is a future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as a constraint-satisfaction task, not just an image-generation task. Emphasise the closing question — it is the research question for the whole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clearly what the base paper solves: efficient and diverse floor-plan synthesis. Be explicit that it is purely generative — no natural-language input, no agents, no evaluation loop. That distinction sets up the research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diagram top to bottom: dataset, training, the two generative branches, hybrid generation, then evaluation of diversity and quality. Stress that evaluation here is of the model's output distribution, not of a single layout against user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the base paper fails. The gap is one of scope: it solves generation efficiently; we are targeting the surrounding reasoning, evaluation and optimization loop. Highlighted stages on the right column are the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slide. Walk left to right through the five stages, name the artifact each produces, then show the dashed feedback loop from the Optimization Agent back to layout generation. Emphasise that the critic and optimizer are the components that distinguish us from the base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requirement agent is an LLM performing structured extraction, and that the spatial planning agent turns those requirements into a graph of typed relationships. The graph is the interface between language and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of the pipeline. The critic scores against the same constraint list extracted in part 1, which keeps evaluation grounded in the user's stated requirements. The loop runs until layout quality stops improving.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deliverables: the layout, the machine-readable spatial representation, and the constraint evaluation. Stress that the numbers shown are placeholders illustrating the output format — no results have been produced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scope expansion rather than as a criticism of the base paper. The right column is what the 0th review is proposing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Make it explicit to the panel that BIM, code compliance, cost and environmental analysis are downstream extensions, and that the 0th review scope is architectural space planning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1 is the base paper for this review. References 2 and 3 support the requirement-to-layout and agent-based design directions of the proposed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4B"/>
        </a:solidFill>
      </p:bgPr>
    </p:bg>
    <p:spTree>
      <p:nvGrpSpPr>
        <p:cNvPr id="1" name=""/>
        <p:cNvGrpSpPr/>
        <p:nvPr/>
      </p:nvGrpSpPr>
      <p:grpSpPr>
        <a:xfrm>
          <a:off x="0" y="0"/>
          <a:ext cx="0" cy="0"/>
          <a:chOff x="0" y="0"/>
          <a:chExt cx="0" cy="0"/>
        </a:xfrm>
      </p:grpSpPr>
      <p:sp>
        <p:nvSpPr>
          <p:cNvPr id="2" name="Shape 0"/>
          <p:cNvSpPr/>
          <p:nvPr/>
        </p:nvSpPr>
        <p:spPr>
          <a:xfrm>
            <a:off x="566928" y="0"/>
            <a:ext cx="0" cy="6858000"/>
          </a:xfrm>
          <a:prstGeom prst="line">
            <a:avLst/>
          </a:prstGeom>
          <a:noFill/>
          <a:ln w="6350">
            <a:solidFill>
              <a:srgbClr val="1D3A63"/>
            </a:solidFill>
            <a:prstDash val="solid"/>
          </a:ln>
        </p:spPr>
      </p:sp>
      <p:sp>
        <p:nvSpPr>
          <p:cNvPr id="3" name="Shape 1"/>
          <p:cNvSpPr/>
          <p:nvPr/>
        </p:nvSpPr>
        <p:spPr>
          <a:xfrm>
            <a:off x="1133856" y="0"/>
            <a:ext cx="0" cy="6858000"/>
          </a:xfrm>
          <a:prstGeom prst="line">
            <a:avLst/>
          </a:prstGeom>
          <a:noFill/>
          <a:ln w="6350">
            <a:solidFill>
              <a:srgbClr val="1D3A63"/>
            </a:solidFill>
            <a:prstDash val="solid"/>
          </a:ln>
        </p:spPr>
      </p:sp>
      <p:sp>
        <p:nvSpPr>
          <p:cNvPr id="4" name="Shape 2"/>
          <p:cNvSpPr/>
          <p:nvPr/>
        </p:nvSpPr>
        <p:spPr>
          <a:xfrm>
            <a:off x="1700784" y="0"/>
            <a:ext cx="0" cy="6858000"/>
          </a:xfrm>
          <a:prstGeom prst="line">
            <a:avLst/>
          </a:prstGeom>
          <a:noFill/>
          <a:ln w="6350">
            <a:solidFill>
              <a:srgbClr val="1D3A63"/>
            </a:solidFill>
            <a:prstDash val="solid"/>
          </a:ln>
        </p:spPr>
      </p:sp>
      <p:sp>
        <p:nvSpPr>
          <p:cNvPr id="5" name="Shape 3"/>
          <p:cNvSpPr/>
          <p:nvPr/>
        </p:nvSpPr>
        <p:spPr>
          <a:xfrm>
            <a:off x="2267712" y="0"/>
            <a:ext cx="0" cy="6858000"/>
          </a:xfrm>
          <a:prstGeom prst="line">
            <a:avLst/>
          </a:prstGeom>
          <a:noFill/>
          <a:ln w="6350">
            <a:solidFill>
              <a:srgbClr val="1D3A63"/>
            </a:solidFill>
            <a:prstDash val="solid"/>
          </a:ln>
        </p:spPr>
      </p:sp>
      <p:sp>
        <p:nvSpPr>
          <p:cNvPr id="6" name="Shape 4"/>
          <p:cNvSpPr/>
          <p:nvPr/>
        </p:nvSpPr>
        <p:spPr>
          <a:xfrm>
            <a:off x="2834640" y="0"/>
            <a:ext cx="0" cy="6858000"/>
          </a:xfrm>
          <a:prstGeom prst="line">
            <a:avLst/>
          </a:prstGeom>
          <a:noFill/>
          <a:ln w="6350">
            <a:solidFill>
              <a:srgbClr val="1D3A63"/>
            </a:solidFill>
            <a:prstDash val="solid"/>
          </a:ln>
        </p:spPr>
      </p:sp>
      <p:sp>
        <p:nvSpPr>
          <p:cNvPr id="7" name="Shape 5"/>
          <p:cNvSpPr/>
          <p:nvPr/>
        </p:nvSpPr>
        <p:spPr>
          <a:xfrm>
            <a:off x="3401568" y="0"/>
            <a:ext cx="0" cy="6858000"/>
          </a:xfrm>
          <a:prstGeom prst="line">
            <a:avLst/>
          </a:prstGeom>
          <a:noFill/>
          <a:ln w="6350">
            <a:solidFill>
              <a:srgbClr val="1D3A63"/>
            </a:solidFill>
            <a:prstDash val="solid"/>
          </a:ln>
        </p:spPr>
      </p:sp>
      <p:sp>
        <p:nvSpPr>
          <p:cNvPr id="8" name="Shape 6"/>
          <p:cNvSpPr/>
          <p:nvPr/>
        </p:nvSpPr>
        <p:spPr>
          <a:xfrm>
            <a:off x="3968496" y="0"/>
            <a:ext cx="0" cy="6858000"/>
          </a:xfrm>
          <a:prstGeom prst="line">
            <a:avLst/>
          </a:prstGeom>
          <a:noFill/>
          <a:ln w="6350">
            <a:solidFill>
              <a:srgbClr val="1D3A63"/>
            </a:solidFill>
            <a:prstDash val="solid"/>
          </a:ln>
        </p:spPr>
      </p:sp>
      <p:sp>
        <p:nvSpPr>
          <p:cNvPr id="9" name="Shape 7"/>
          <p:cNvSpPr/>
          <p:nvPr/>
        </p:nvSpPr>
        <p:spPr>
          <a:xfrm>
            <a:off x="4535424" y="0"/>
            <a:ext cx="0" cy="6858000"/>
          </a:xfrm>
          <a:prstGeom prst="line">
            <a:avLst/>
          </a:prstGeom>
          <a:noFill/>
          <a:ln w="6350">
            <a:solidFill>
              <a:srgbClr val="1D3A63"/>
            </a:solidFill>
            <a:prstDash val="solid"/>
          </a:ln>
        </p:spPr>
      </p:sp>
      <p:sp>
        <p:nvSpPr>
          <p:cNvPr id="10" name="Shape 8"/>
          <p:cNvSpPr/>
          <p:nvPr/>
        </p:nvSpPr>
        <p:spPr>
          <a:xfrm>
            <a:off x="5102352" y="0"/>
            <a:ext cx="0" cy="6858000"/>
          </a:xfrm>
          <a:prstGeom prst="line">
            <a:avLst/>
          </a:prstGeom>
          <a:noFill/>
          <a:ln w="6350">
            <a:solidFill>
              <a:srgbClr val="1D3A63"/>
            </a:solidFill>
            <a:prstDash val="solid"/>
          </a:ln>
        </p:spPr>
      </p:sp>
      <p:sp>
        <p:nvSpPr>
          <p:cNvPr id="11" name="Shape 9"/>
          <p:cNvSpPr/>
          <p:nvPr/>
        </p:nvSpPr>
        <p:spPr>
          <a:xfrm>
            <a:off x="5669280" y="0"/>
            <a:ext cx="0" cy="6858000"/>
          </a:xfrm>
          <a:prstGeom prst="line">
            <a:avLst/>
          </a:prstGeom>
          <a:noFill/>
          <a:ln w="6350">
            <a:solidFill>
              <a:srgbClr val="1D3A63"/>
            </a:solidFill>
            <a:prstDash val="solid"/>
          </a:ln>
        </p:spPr>
      </p:sp>
      <p:sp>
        <p:nvSpPr>
          <p:cNvPr id="12" name="Shape 10"/>
          <p:cNvSpPr/>
          <p:nvPr/>
        </p:nvSpPr>
        <p:spPr>
          <a:xfrm>
            <a:off x="6236208" y="0"/>
            <a:ext cx="0" cy="6858000"/>
          </a:xfrm>
          <a:prstGeom prst="line">
            <a:avLst/>
          </a:prstGeom>
          <a:noFill/>
          <a:ln w="6350">
            <a:solidFill>
              <a:srgbClr val="1D3A63"/>
            </a:solidFill>
            <a:prstDash val="solid"/>
          </a:ln>
        </p:spPr>
      </p:sp>
      <p:sp>
        <p:nvSpPr>
          <p:cNvPr id="13" name="Shape 11"/>
          <p:cNvSpPr/>
          <p:nvPr/>
        </p:nvSpPr>
        <p:spPr>
          <a:xfrm>
            <a:off x="6803136" y="0"/>
            <a:ext cx="0" cy="6858000"/>
          </a:xfrm>
          <a:prstGeom prst="line">
            <a:avLst/>
          </a:prstGeom>
          <a:noFill/>
          <a:ln w="6350">
            <a:solidFill>
              <a:srgbClr val="1D3A63"/>
            </a:solidFill>
            <a:prstDash val="solid"/>
          </a:ln>
        </p:spPr>
      </p:sp>
      <p:sp>
        <p:nvSpPr>
          <p:cNvPr id="14" name="Shape 12"/>
          <p:cNvSpPr/>
          <p:nvPr/>
        </p:nvSpPr>
        <p:spPr>
          <a:xfrm>
            <a:off x="7370064" y="0"/>
            <a:ext cx="0" cy="6858000"/>
          </a:xfrm>
          <a:prstGeom prst="line">
            <a:avLst/>
          </a:prstGeom>
          <a:noFill/>
          <a:ln w="6350">
            <a:solidFill>
              <a:srgbClr val="1D3A63"/>
            </a:solidFill>
            <a:prstDash val="solid"/>
          </a:ln>
        </p:spPr>
      </p:sp>
      <p:sp>
        <p:nvSpPr>
          <p:cNvPr id="15" name="Shape 13"/>
          <p:cNvSpPr/>
          <p:nvPr/>
        </p:nvSpPr>
        <p:spPr>
          <a:xfrm>
            <a:off x="7936992" y="0"/>
            <a:ext cx="0" cy="6858000"/>
          </a:xfrm>
          <a:prstGeom prst="line">
            <a:avLst/>
          </a:prstGeom>
          <a:noFill/>
          <a:ln w="6350">
            <a:solidFill>
              <a:srgbClr val="1D3A63"/>
            </a:solidFill>
            <a:prstDash val="solid"/>
          </a:ln>
        </p:spPr>
      </p:sp>
      <p:sp>
        <p:nvSpPr>
          <p:cNvPr id="16" name="Shape 14"/>
          <p:cNvSpPr/>
          <p:nvPr/>
        </p:nvSpPr>
        <p:spPr>
          <a:xfrm>
            <a:off x="8503920" y="0"/>
            <a:ext cx="0" cy="6858000"/>
          </a:xfrm>
          <a:prstGeom prst="line">
            <a:avLst/>
          </a:prstGeom>
          <a:noFill/>
          <a:ln w="6350">
            <a:solidFill>
              <a:srgbClr val="1D3A63"/>
            </a:solidFill>
            <a:prstDash val="solid"/>
          </a:ln>
        </p:spPr>
      </p:sp>
      <p:sp>
        <p:nvSpPr>
          <p:cNvPr id="17" name="Shape 15"/>
          <p:cNvSpPr/>
          <p:nvPr/>
        </p:nvSpPr>
        <p:spPr>
          <a:xfrm>
            <a:off x="9070848" y="0"/>
            <a:ext cx="0" cy="6858000"/>
          </a:xfrm>
          <a:prstGeom prst="line">
            <a:avLst/>
          </a:prstGeom>
          <a:noFill/>
          <a:ln w="6350">
            <a:solidFill>
              <a:srgbClr val="1D3A63"/>
            </a:solidFill>
            <a:prstDash val="solid"/>
          </a:ln>
        </p:spPr>
      </p:sp>
      <p:sp>
        <p:nvSpPr>
          <p:cNvPr id="18" name="Shape 16"/>
          <p:cNvSpPr/>
          <p:nvPr/>
        </p:nvSpPr>
        <p:spPr>
          <a:xfrm>
            <a:off x="9637776" y="0"/>
            <a:ext cx="0" cy="6858000"/>
          </a:xfrm>
          <a:prstGeom prst="line">
            <a:avLst/>
          </a:prstGeom>
          <a:noFill/>
          <a:ln w="6350">
            <a:solidFill>
              <a:srgbClr val="1D3A63"/>
            </a:solidFill>
            <a:prstDash val="solid"/>
          </a:ln>
        </p:spPr>
      </p:sp>
      <p:sp>
        <p:nvSpPr>
          <p:cNvPr id="19" name="Shape 17"/>
          <p:cNvSpPr/>
          <p:nvPr/>
        </p:nvSpPr>
        <p:spPr>
          <a:xfrm>
            <a:off x="10204704" y="0"/>
            <a:ext cx="0" cy="6858000"/>
          </a:xfrm>
          <a:prstGeom prst="line">
            <a:avLst/>
          </a:prstGeom>
          <a:noFill/>
          <a:ln w="6350">
            <a:solidFill>
              <a:srgbClr val="1D3A63"/>
            </a:solidFill>
            <a:prstDash val="solid"/>
          </a:ln>
        </p:spPr>
      </p:sp>
      <p:sp>
        <p:nvSpPr>
          <p:cNvPr id="20" name="Shape 18"/>
          <p:cNvSpPr/>
          <p:nvPr/>
        </p:nvSpPr>
        <p:spPr>
          <a:xfrm>
            <a:off x="10771632" y="0"/>
            <a:ext cx="0" cy="6858000"/>
          </a:xfrm>
          <a:prstGeom prst="line">
            <a:avLst/>
          </a:prstGeom>
          <a:noFill/>
          <a:ln w="6350">
            <a:solidFill>
              <a:srgbClr val="1D3A63"/>
            </a:solidFill>
            <a:prstDash val="solid"/>
          </a:ln>
        </p:spPr>
      </p:sp>
      <p:sp>
        <p:nvSpPr>
          <p:cNvPr id="21" name="Shape 19"/>
          <p:cNvSpPr/>
          <p:nvPr/>
        </p:nvSpPr>
        <p:spPr>
          <a:xfrm>
            <a:off x="11338560" y="0"/>
            <a:ext cx="0" cy="6858000"/>
          </a:xfrm>
          <a:prstGeom prst="line">
            <a:avLst/>
          </a:prstGeom>
          <a:noFill/>
          <a:ln w="6350">
            <a:solidFill>
              <a:srgbClr val="1D3A63"/>
            </a:solidFill>
            <a:prstDash val="solid"/>
          </a:ln>
        </p:spPr>
      </p:sp>
      <p:sp>
        <p:nvSpPr>
          <p:cNvPr id="22" name="Shape 20"/>
          <p:cNvSpPr/>
          <p:nvPr/>
        </p:nvSpPr>
        <p:spPr>
          <a:xfrm>
            <a:off x="11905488" y="0"/>
            <a:ext cx="0" cy="6858000"/>
          </a:xfrm>
          <a:prstGeom prst="line">
            <a:avLst/>
          </a:prstGeom>
          <a:noFill/>
          <a:ln w="6350">
            <a:solidFill>
              <a:srgbClr val="1D3A63"/>
            </a:solidFill>
            <a:prstDash val="solid"/>
          </a:ln>
        </p:spPr>
      </p:sp>
      <p:sp>
        <p:nvSpPr>
          <p:cNvPr id="23" name="Shape 21"/>
          <p:cNvSpPr/>
          <p:nvPr/>
        </p:nvSpPr>
        <p:spPr>
          <a:xfrm>
            <a:off x="0" y="566928"/>
            <a:ext cx="12188952" cy="0"/>
          </a:xfrm>
          <a:prstGeom prst="line">
            <a:avLst/>
          </a:prstGeom>
          <a:noFill/>
          <a:ln w="6350">
            <a:solidFill>
              <a:srgbClr val="1D3A63"/>
            </a:solidFill>
            <a:prstDash val="solid"/>
          </a:ln>
        </p:spPr>
      </p:sp>
      <p:sp>
        <p:nvSpPr>
          <p:cNvPr id="24" name="Shape 22"/>
          <p:cNvSpPr/>
          <p:nvPr/>
        </p:nvSpPr>
        <p:spPr>
          <a:xfrm>
            <a:off x="0" y="1133856"/>
            <a:ext cx="12188952" cy="0"/>
          </a:xfrm>
          <a:prstGeom prst="line">
            <a:avLst/>
          </a:prstGeom>
          <a:noFill/>
          <a:ln w="6350">
            <a:solidFill>
              <a:srgbClr val="1D3A63"/>
            </a:solidFill>
            <a:prstDash val="solid"/>
          </a:ln>
        </p:spPr>
      </p:sp>
      <p:sp>
        <p:nvSpPr>
          <p:cNvPr id="25" name="Shape 23"/>
          <p:cNvSpPr/>
          <p:nvPr/>
        </p:nvSpPr>
        <p:spPr>
          <a:xfrm>
            <a:off x="0" y="1700784"/>
            <a:ext cx="12188952" cy="0"/>
          </a:xfrm>
          <a:prstGeom prst="line">
            <a:avLst/>
          </a:prstGeom>
          <a:noFill/>
          <a:ln w="6350">
            <a:solidFill>
              <a:srgbClr val="1D3A63"/>
            </a:solidFill>
            <a:prstDash val="solid"/>
          </a:ln>
        </p:spPr>
      </p:sp>
      <p:sp>
        <p:nvSpPr>
          <p:cNvPr id="26" name="Shape 24"/>
          <p:cNvSpPr/>
          <p:nvPr/>
        </p:nvSpPr>
        <p:spPr>
          <a:xfrm>
            <a:off x="0" y="2267712"/>
            <a:ext cx="12188952" cy="0"/>
          </a:xfrm>
          <a:prstGeom prst="line">
            <a:avLst/>
          </a:prstGeom>
          <a:noFill/>
          <a:ln w="6350">
            <a:solidFill>
              <a:srgbClr val="1D3A63"/>
            </a:solidFill>
            <a:prstDash val="solid"/>
          </a:ln>
        </p:spPr>
      </p:sp>
      <p:sp>
        <p:nvSpPr>
          <p:cNvPr id="27" name="Shape 25"/>
          <p:cNvSpPr/>
          <p:nvPr/>
        </p:nvSpPr>
        <p:spPr>
          <a:xfrm>
            <a:off x="0" y="2834640"/>
            <a:ext cx="12188952" cy="0"/>
          </a:xfrm>
          <a:prstGeom prst="line">
            <a:avLst/>
          </a:prstGeom>
          <a:noFill/>
          <a:ln w="6350">
            <a:solidFill>
              <a:srgbClr val="1D3A63"/>
            </a:solidFill>
            <a:prstDash val="solid"/>
          </a:ln>
        </p:spPr>
      </p:sp>
      <p:sp>
        <p:nvSpPr>
          <p:cNvPr id="28" name="Shape 26"/>
          <p:cNvSpPr/>
          <p:nvPr/>
        </p:nvSpPr>
        <p:spPr>
          <a:xfrm>
            <a:off x="0" y="3401568"/>
            <a:ext cx="12188952" cy="0"/>
          </a:xfrm>
          <a:prstGeom prst="line">
            <a:avLst/>
          </a:prstGeom>
          <a:noFill/>
          <a:ln w="6350">
            <a:solidFill>
              <a:srgbClr val="1D3A63"/>
            </a:solidFill>
            <a:prstDash val="solid"/>
          </a:ln>
        </p:spPr>
      </p:sp>
      <p:sp>
        <p:nvSpPr>
          <p:cNvPr id="29" name="Shape 27"/>
          <p:cNvSpPr/>
          <p:nvPr/>
        </p:nvSpPr>
        <p:spPr>
          <a:xfrm>
            <a:off x="0" y="3968496"/>
            <a:ext cx="12188952" cy="0"/>
          </a:xfrm>
          <a:prstGeom prst="line">
            <a:avLst/>
          </a:prstGeom>
          <a:noFill/>
          <a:ln w="6350">
            <a:solidFill>
              <a:srgbClr val="1D3A63"/>
            </a:solidFill>
            <a:prstDash val="solid"/>
          </a:ln>
        </p:spPr>
      </p:sp>
      <p:sp>
        <p:nvSpPr>
          <p:cNvPr id="30" name="Shape 28"/>
          <p:cNvSpPr/>
          <p:nvPr/>
        </p:nvSpPr>
        <p:spPr>
          <a:xfrm>
            <a:off x="0" y="4535424"/>
            <a:ext cx="12188952" cy="0"/>
          </a:xfrm>
          <a:prstGeom prst="line">
            <a:avLst/>
          </a:prstGeom>
          <a:noFill/>
          <a:ln w="6350">
            <a:solidFill>
              <a:srgbClr val="1D3A63"/>
            </a:solidFill>
            <a:prstDash val="solid"/>
          </a:ln>
        </p:spPr>
      </p:sp>
      <p:sp>
        <p:nvSpPr>
          <p:cNvPr id="31" name="Shape 29"/>
          <p:cNvSpPr/>
          <p:nvPr/>
        </p:nvSpPr>
        <p:spPr>
          <a:xfrm>
            <a:off x="0" y="5102352"/>
            <a:ext cx="12188952" cy="0"/>
          </a:xfrm>
          <a:prstGeom prst="line">
            <a:avLst/>
          </a:prstGeom>
          <a:noFill/>
          <a:ln w="6350">
            <a:solidFill>
              <a:srgbClr val="1D3A63"/>
            </a:solidFill>
            <a:prstDash val="solid"/>
          </a:ln>
        </p:spPr>
      </p:sp>
      <p:sp>
        <p:nvSpPr>
          <p:cNvPr id="32" name="Shape 30"/>
          <p:cNvSpPr/>
          <p:nvPr/>
        </p:nvSpPr>
        <p:spPr>
          <a:xfrm>
            <a:off x="0" y="5669280"/>
            <a:ext cx="12188952" cy="0"/>
          </a:xfrm>
          <a:prstGeom prst="line">
            <a:avLst/>
          </a:prstGeom>
          <a:noFill/>
          <a:ln w="6350">
            <a:solidFill>
              <a:srgbClr val="1D3A63"/>
            </a:solidFill>
            <a:prstDash val="solid"/>
          </a:ln>
        </p:spPr>
      </p:sp>
      <p:sp>
        <p:nvSpPr>
          <p:cNvPr id="33" name="Shape 31"/>
          <p:cNvSpPr/>
          <p:nvPr/>
        </p:nvSpPr>
        <p:spPr>
          <a:xfrm>
            <a:off x="0" y="6236208"/>
            <a:ext cx="12188952" cy="0"/>
          </a:xfrm>
          <a:prstGeom prst="line">
            <a:avLst/>
          </a:prstGeom>
          <a:noFill/>
          <a:ln w="6350">
            <a:solidFill>
              <a:srgbClr val="1D3A63"/>
            </a:solidFill>
            <a:prstDash val="solid"/>
          </a:ln>
        </p:spPr>
      </p:sp>
      <p:sp>
        <p:nvSpPr>
          <p:cNvPr id="34" name="Shape 32"/>
          <p:cNvSpPr/>
          <p:nvPr/>
        </p:nvSpPr>
        <p:spPr>
          <a:xfrm>
            <a:off x="0" y="6803136"/>
            <a:ext cx="12188952" cy="0"/>
          </a:xfrm>
          <a:prstGeom prst="line">
            <a:avLst/>
          </a:prstGeom>
          <a:noFill/>
          <a:ln w="6350">
            <a:solidFill>
              <a:srgbClr val="1D3A63"/>
            </a:solidFill>
            <a:prstDash val="solid"/>
          </a:ln>
        </p:spPr>
      </p:sp>
      <p:sp>
        <p:nvSpPr>
          <p:cNvPr id="35" name="Shape 33"/>
          <p:cNvSpPr/>
          <p:nvPr/>
        </p:nvSpPr>
        <p:spPr>
          <a:xfrm>
            <a:off x="7818120" y="1371600"/>
            <a:ext cx="3657600" cy="2468880"/>
          </a:xfrm>
          <a:prstGeom prst="rect">
            <a:avLst/>
          </a:prstGeom>
          <a:solidFill>
            <a:srgbClr val="13294B"/>
          </a:solidFill>
          <a:ln w="19050">
            <a:solidFill>
              <a:srgbClr val="3E6491"/>
            </a:solidFill>
            <a:prstDash val="solid"/>
          </a:ln>
        </p:spPr>
      </p:sp>
      <p:sp>
        <p:nvSpPr>
          <p:cNvPr id="36" name="Shape 34"/>
          <p:cNvSpPr/>
          <p:nvPr/>
        </p:nvSpPr>
        <p:spPr>
          <a:xfrm>
            <a:off x="9372600" y="1371600"/>
            <a:ext cx="0" cy="1325880"/>
          </a:xfrm>
          <a:prstGeom prst="line">
            <a:avLst/>
          </a:prstGeom>
          <a:noFill/>
          <a:ln w="12700">
            <a:solidFill>
              <a:srgbClr val="3E6491"/>
            </a:solidFill>
            <a:prstDash val="solid"/>
          </a:ln>
        </p:spPr>
      </p:sp>
      <p:sp>
        <p:nvSpPr>
          <p:cNvPr id="37" name="Shape 35"/>
          <p:cNvSpPr/>
          <p:nvPr/>
        </p:nvSpPr>
        <p:spPr>
          <a:xfrm>
            <a:off x="7818120" y="2697480"/>
            <a:ext cx="3657600" cy="0"/>
          </a:xfrm>
          <a:prstGeom prst="line">
            <a:avLst/>
          </a:prstGeom>
          <a:noFill/>
          <a:ln w="12700">
            <a:solidFill>
              <a:srgbClr val="3E6491"/>
            </a:solidFill>
            <a:prstDash val="solid"/>
          </a:ln>
        </p:spPr>
      </p:sp>
      <p:sp>
        <p:nvSpPr>
          <p:cNvPr id="38" name="Shape 36"/>
          <p:cNvSpPr/>
          <p:nvPr/>
        </p:nvSpPr>
        <p:spPr>
          <a:xfrm>
            <a:off x="10195560" y="2697480"/>
            <a:ext cx="0" cy="1143000"/>
          </a:xfrm>
          <a:prstGeom prst="line">
            <a:avLst/>
          </a:prstGeom>
          <a:noFill/>
          <a:ln w="12700">
            <a:solidFill>
              <a:srgbClr val="3E6491"/>
            </a:solidFill>
            <a:prstDash val="solid"/>
          </a:ln>
        </p:spPr>
      </p:sp>
      <p:sp>
        <p:nvSpPr>
          <p:cNvPr id="39" name="Shape 37"/>
          <p:cNvSpPr/>
          <p:nvPr/>
        </p:nvSpPr>
        <p:spPr>
          <a:xfrm>
            <a:off x="9372600" y="2029968"/>
            <a:ext cx="2103120" cy="0"/>
          </a:xfrm>
          <a:prstGeom prst="line">
            <a:avLst/>
          </a:prstGeom>
          <a:noFill/>
          <a:ln w="12700">
            <a:solidFill>
              <a:srgbClr val="3E6491"/>
            </a:solidFill>
            <a:prstDash val="solid"/>
          </a:ln>
        </p:spPr>
      </p:sp>
      <p:sp>
        <p:nvSpPr>
          <p:cNvPr id="40" name="Shape 38"/>
          <p:cNvSpPr/>
          <p:nvPr/>
        </p:nvSpPr>
        <p:spPr>
          <a:xfrm>
            <a:off x="685800" y="658368"/>
            <a:ext cx="1874520" cy="329184"/>
          </a:xfrm>
          <a:prstGeom prst="roundRect">
            <a:avLst>
              <a:gd name="adj" fmla="val 13889"/>
            </a:avLst>
          </a:prstGeom>
          <a:solidFill>
            <a:srgbClr val="C05621"/>
          </a:solidFill>
          <a:ln w="12700">
            <a:solidFill>
              <a:srgbClr val="C05621"/>
            </a:solidFill>
            <a:prstDash val="solid"/>
          </a:ln>
        </p:spPr>
      </p:sp>
      <p:sp>
        <p:nvSpPr>
          <p:cNvPr id="41" name="Text 39"/>
          <p:cNvSpPr txBox="1"/>
          <p:nvPr/>
        </p:nvSpPr>
        <p:spPr>
          <a:xfrm>
            <a:off x="685800" y="658368"/>
            <a:ext cx="1874520" cy="329184"/>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0TH PROJECT REVIEW</a:t>
            </a:r>
            <a:endParaRPr lang="en-US" sz="1050" dirty="0"/>
          </a:p>
        </p:txBody>
      </p:sp>
      <p:sp>
        <p:nvSpPr>
          <p:cNvPr id="42" name="Text 40"/>
          <p:cNvSpPr txBox="1"/>
          <p:nvPr/>
        </p:nvSpPr>
        <p:spPr>
          <a:xfrm>
            <a:off x="685800" y="1280160"/>
            <a:ext cx="6858000" cy="2103120"/>
          </a:xfrm>
          <a:prstGeom prst="rect">
            <a:avLst/>
          </a:prstGeom>
          <a:noFill/>
          <a:ln/>
        </p:spPr>
        <p:txBody>
          <a:bodyPr wrap="square" lIns="0" tIns="0" rIns="0" bIns="0" rtlCol="0" anchor="t"/>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Agentic AI Framework for</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Constraint-Aware Architectural Design</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and BIM-Based Decision Support</a:t>
            </a:r>
            <a:endParaRPr lang="en-US" sz="3000" dirty="0"/>
          </a:p>
        </p:txBody>
      </p:sp>
      <p:sp>
        <p:nvSpPr>
          <p:cNvPr id="43" name="Text 41"/>
          <p:cNvSpPr txBox="1"/>
          <p:nvPr/>
        </p:nvSpPr>
        <p:spPr>
          <a:xfrm>
            <a:off x="685800" y="3520440"/>
            <a:ext cx="6858000" cy="256032"/>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AD3811 – Project Work</a:t>
            </a:r>
            <a:endParaRPr lang="en-US" sz="1300" dirty="0"/>
          </a:p>
        </p:txBody>
      </p:sp>
      <p:sp>
        <p:nvSpPr>
          <p:cNvPr id="44" name="Text 42"/>
          <p:cNvSpPr txBox="1"/>
          <p:nvPr/>
        </p:nvSpPr>
        <p:spPr>
          <a:xfrm>
            <a:off x="685800" y="3822192"/>
            <a:ext cx="6858000" cy="640080"/>
          </a:xfrm>
          <a:prstGeom prst="rect">
            <a:avLst/>
          </a:prstGeom>
          <a:noFill/>
          <a:ln/>
        </p:spPr>
        <p:txBody>
          <a:bodyPr wrap="square" lIns="0" tIns="0" rIns="0" bIns="0" rtlCol="0" anchor="ctr"/>
          <a:lstStyle/>
          <a:p>
            <a:pPr indent="0" marL="0">
              <a:lnSpc>
                <a:spcPts val="2000"/>
              </a:lnSpc>
              <a:buNone/>
            </a:pPr>
            <a:r>
              <a:rPr lang="en-US" sz="1350" dirty="0">
                <a:solidFill>
                  <a:srgbClr val="FFFFFF"/>
                </a:solidFill>
                <a:latin typeface="Calibri" pitchFamily="34" charset="0"/>
                <a:ea typeface="Calibri" pitchFamily="34" charset="-122"/>
                <a:cs typeface="Calibri" pitchFamily="34" charset="-120"/>
              </a:rPr>
              <a:t>Department of Artificial Intelligence &amp; Data Science</a:t>
            </a:r>
            <a:endParaRPr lang="en-US" sz="1350" dirty="0"/>
          </a:p>
          <a:p>
            <a:pPr indent="0" marL="0">
              <a:lnSpc>
                <a:spcPts val="2000"/>
              </a:lnSpc>
              <a:buNone/>
            </a:pPr>
            <a:r>
              <a:rPr lang="en-US" sz="1350" dirty="0">
                <a:solidFill>
                  <a:srgbClr val="FFFFFF"/>
                </a:solidFill>
                <a:latin typeface="Calibri" pitchFamily="34" charset="0"/>
                <a:ea typeface="Calibri" pitchFamily="34" charset="-122"/>
                <a:cs typeface="Calibri" pitchFamily="34" charset="-120"/>
              </a:rPr>
              <a:t>PSG Institute of Technology and Applied Research</a:t>
            </a:r>
            <a:endParaRPr lang="en-US" sz="1350" dirty="0"/>
          </a:p>
        </p:txBody>
      </p:sp>
      <p:sp>
        <p:nvSpPr>
          <p:cNvPr id="45" name="Text 43"/>
          <p:cNvSpPr txBox="1"/>
          <p:nvPr/>
        </p:nvSpPr>
        <p:spPr>
          <a:xfrm>
            <a:off x="685800" y="4572000"/>
            <a:ext cx="4572000" cy="274320"/>
          </a:xfrm>
          <a:prstGeom prst="rect">
            <a:avLst/>
          </a:prstGeom>
          <a:noFill/>
          <a:ln/>
        </p:spPr>
        <p:txBody>
          <a:bodyPr wrap="square" lIns="0" tIns="0" rIns="0" bIns="0" rtlCol="0" anchor="ctr"/>
          <a:lstStyle/>
          <a:p>
            <a:pPr indent="0" marL="0">
              <a:buNone/>
            </a:pPr>
            <a:r>
              <a:rPr lang="en-US" sz="1250" dirty="0">
                <a:solidFill>
                  <a:srgbClr val="9FB8D6"/>
                </a:solidFill>
                <a:latin typeface="Calibri" pitchFamily="34" charset="0"/>
                <a:ea typeface="Calibri" pitchFamily="34" charset="-122"/>
                <a:cs typeface="Calibri" pitchFamily="34" charset="-120"/>
              </a:rPr>
              <a:t>Guide:  </a:t>
            </a:r>
            <a:pPr indent="0" marL="0">
              <a:buNone/>
            </a:pPr>
            <a:r>
              <a:rPr lang="en-US" sz="1300" b="1" dirty="0">
                <a:solidFill>
                  <a:srgbClr val="FFFFFF"/>
                </a:solidFill>
                <a:latin typeface="Calibri" pitchFamily="34" charset="0"/>
                <a:ea typeface="Calibri" pitchFamily="34" charset="-122"/>
                <a:cs typeface="Calibri" pitchFamily="34" charset="-120"/>
              </a:rPr>
              <a:t>Mr. R Muthukumar</a:t>
            </a:r>
            <a:endParaRPr lang="en-US" sz="1250" dirty="0"/>
          </a:p>
        </p:txBody>
      </p:sp>
      <p:sp>
        <p:nvSpPr>
          <p:cNvPr id="46" name="Shape 44"/>
          <p:cNvSpPr/>
          <p:nvPr/>
        </p:nvSpPr>
        <p:spPr>
          <a:xfrm>
            <a:off x="685800" y="5074920"/>
            <a:ext cx="2606040" cy="749808"/>
          </a:xfrm>
          <a:prstGeom prst="roundRect">
            <a:avLst>
              <a:gd name="adj" fmla="val 6098"/>
            </a:avLst>
          </a:prstGeom>
          <a:solidFill>
            <a:srgbClr val="1B3A66"/>
          </a:solidFill>
          <a:ln w="12700">
            <a:solidFill>
              <a:srgbClr val="35597F"/>
            </a:solidFill>
            <a:prstDash val="solid"/>
          </a:ln>
        </p:spPr>
      </p:sp>
      <p:sp>
        <p:nvSpPr>
          <p:cNvPr id="47" name="Text 45"/>
          <p:cNvSpPr txBox="1"/>
          <p:nvPr/>
        </p:nvSpPr>
        <p:spPr>
          <a:xfrm>
            <a:off x="795528" y="5175504"/>
            <a:ext cx="2386584"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HARIKRISHNA S</a:t>
            </a:r>
            <a:endParaRPr lang="en-US" sz="1150" dirty="0"/>
          </a:p>
        </p:txBody>
      </p:sp>
      <p:sp>
        <p:nvSpPr>
          <p:cNvPr id="48" name="Text 46"/>
          <p:cNvSpPr txBox="1"/>
          <p:nvPr/>
        </p:nvSpPr>
        <p:spPr>
          <a:xfrm>
            <a:off x="795528" y="5449824"/>
            <a:ext cx="2386584" cy="237744"/>
          </a:xfrm>
          <a:prstGeom prst="rect">
            <a:avLst/>
          </a:prstGeom>
          <a:noFill/>
          <a:ln/>
        </p:spPr>
        <p:txBody>
          <a:bodyPr wrap="square" lIns="0" tIns="0" rIns="0" bIns="0" rtlCol="0" anchor="ctr"/>
          <a:lstStyle/>
          <a:p>
            <a:pPr algn="ctr" indent="0" marL="0">
              <a:buNone/>
            </a:pPr>
            <a:r>
              <a:rPr lang="en-US" sz="1050" dirty="0">
                <a:solidFill>
                  <a:srgbClr val="9FB8D6"/>
                </a:solidFill>
                <a:latin typeface="Calibri" pitchFamily="34" charset="0"/>
                <a:ea typeface="Calibri" pitchFamily="34" charset="-122"/>
                <a:cs typeface="Calibri" pitchFamily="34" charset="-120"/>
              </a:rPr>
              <a:t>715523243014</a:t>
            </a:r>
            <a:endParaRPr lang="en-US" sz="1050" dirty="0"/>
          </a:p>
        </p:txBody>
      </p:sp>
      <p:sp>
        <p:nvSpPr>
          <p:cNvPr id="49" name="Shape 47"/>
          <p:cNvSpPr/>
          <p:nvPr/>
        </p:nvSpPr>
        <p:spPr>
          <a:xfrm>
            <a:off x="3547872" y="5074920"/>
            <a:ext cx="2606040" cy="749808"/>
          </a:xfrm>
          <a:prstGeom prst="roundRect">
            <a:avLst>
              <a:gd name="adj" fmla="val 6098"/>
            </a:avLst>
          </a:prstGeom>
          <a:solidFill>
            <a:srgbClr val="1B3A66"/>
          </a:solidFill>
          <a:ln w="12700">
            <a:solidFill>
              <a:srgbClr val="35597F"/>
            </a:solidFill>
            <a:prstDash val="solid"/>
          </a:ln>
        </p:spPr>
      </p:sp>
      <p:sp>
        <p:nvSpPr>
          <p:cNvPr id="50" name="Text 48"/>
          <p:cNvSpPr txBox="1"/>
          <p:nvPr/>
        </p:nvSpPr>
        <p:spPr>
          <a:xfrm>
            <a:off x="3657600" y="5175504"/>
            <a:ext cx="2386584"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KISHORE M</a:t>
            </a:r>
            <a:endParaRPr lang="en-US" sz="1150" dirty="0"/>
          </a:p>
        </p:txBody>
      </p:sp>
      <p:sp>
        <p:nvSpPr>
          <p:cNvPr id="51" name="Text 49"/>
          <p:cNvSpPr txBox="1"/>
          <p:nvPr/>
        </p:nvSpPr>
        <p:spPr>
          <a:xfrm>
            <a:off x="3657600" y="5449824"/>
            <a:ext cx="2386584" cy="237744"/>
          </a:xfrm>
          <a:prstGeom prst="rect">
            <a:avLst/>
          </a:prstGeom>
          <a:noFill/>
          <a:ln/>
        </p:spPr>
        <p:txBody>
          <a:bodyPr wrap="square" lIns="0" tIns="0" rIns="0" bIns="0" rtlCol="0" anchor="ctr"/>
          <a:lstStyle/>
          <a:p>
            <a:pPr algn="ctr" indent="0" marL="0">
              <a:buNone/>
            </a:pPr>
            <a:r>
              <a:rPr lang="en-US" sz="1050" dirty="0">
                <a:solidFill>
                  <a:srgbClr val="9FB8D6"/>
                </a:solidFill>
                <a:latin typeface="Calibri" pitchFamily="34" charset="0"/>
                <a:ea typeface="Calibri" pitchFamily="34" charset="-122"/>
                <a:cs typeface="Calibri" pitchFamily="34" charset="-120"/>
              </a:rPr>
              <a:t>715523243016</a:t>
            </a:r>
            <a:endParaRPr lang="en-US" sz="1050" dirty="0"/>
          </a:p>
        </p:txBody>
      </p:sp>
      <p:sp>
        <p:nvSpPr>
          <p:cNvPr id="52" name="Shape 50"/>
          <p:cNvSpPr/>
          <p:nvPr/>
        </p:nvSpPr>
        <p:spPr>
          <a:xfrm>
            <a:off x="6409944" y="5074920"/>
            <a:ext cx="2606040" cy="749808"/>
          </a:xfrm>
          <a:prstGeom prst="roundRect">
            <a:avLst>
              <a:gd name="adj" fmla="val 6098"/>
            </a:avLst>
          </a:prstGeom>
          <a:solidFill>
            <a:srgbClr val="1B3A66"/>
          </a:solidFill>
          <a:ln w="12700">
            <a:solidFill>
              <a:srgbClr val="35597F"/>
            </a:solidFill>
            <a:prstDash val="solid"/>
          </a:ln>
        </p:spPr>
      </p:sp>
      <p:sp>
        <p:nvSpPr>
          <p:cNvPr id="53" name="Text 51"/>
          <p:cNvSpPr txBox="1"/>
          <p:nvPr/>
        </p:nvSpPr>
        <p:spPr>
          <a:xfrm>
            <a:off x="6519672" y="5175504"/>
            <a:ext cx="2386584"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SACHIN S</a:t>
            </a:r>
            <a:endParaRPr lang="en-US" sz="1150" dirty="0"/>
          </a:p>
        </p:txBody>
      </p:sp>
      <p:sp>
        <p:nvSpPr>
          <p:cNvPr id="54" name="Text 52"/>
          <p:cNvSpPr txBox="1"/>
          <p:nvPr/>
        </p:nvSpPr>
        <p:spPr>
          <a:xfrm>
            <a:off x="6519672" y="5449824"/>
            <a:ext cx="2386584" cy="237744"/>
          </a:xfrm>
          <a:prstGeom prst="rect">
            <a:avLst/>
          </a:prstGeom>
          <a:noFill/>
          <a:ln/>
        </p:spPr>
        <p:txBody>
          <a:bodyPr wrap="square" lIns="0" tIns="0" rIns="0" bIns="0" rtlCol="0" anchor="ctr"/>
          <a:lstStyle/>
          <a:p>
            <a:pPr algn="ctr" indent="0" marL="0">
              <a:buNone/>
            </a:pPr>
            <a:r>
              <a:rPr lang="en-US" sz="1050" dirty="0">
                <a:solidFill>
                  <a:srgbClr val="9FB8D6"/>
                </a:solidFill>
                <a:latin typeface="Calibri" pitchFamily="34" charset="0"/>
                <a:ea typeface="Calibri" pitchFamily="34" charset="-122"/>
                <a:cs typeface="Calibri" pitchFamily="34" charset="-120"/>
              </a:rPr>
              <a:t>715523243045</a:t>
            </a:r>
            <a:endParaRPr lang="en-US" sz="1050" dirty="0"/>
          </a:p>
        </p:txBody>
      </p:sp>
      <p:sp>
        <p:nvSpPr>
          <p:cNvPr id="55" name="Shape 53"/>
          <p:cNvSpPr/>
          <p:nvPr/>
        </p:nvSpPr>
        <p:spPr>
          <a:xfrm>
            <a:off x="9272016" y="5074920"/>
            <a:ext cx="2606040" cy="749808"/>
          </a:xfrm>
          <a:prstGeom prst="roundRect">
            <a:avLst>
              <a:gd name="adj" fmla="val 6098"/>
            </a:avLst>
          </a:prstGeom>
          <a:solidFill>
            <a:srgbClr val="1B3A66"/>
          </a:solidFill>
          <a:ln w="12700">
            <a:solidFill>
              <a:srgbClr val="35597F"/>
            </a:solidFill>
            <a:prstDash val="solid"/>
          </a:ln>
        </p:spPr>
      </p:sp>
      <p:sp>
        <p:nvSpPr>
          <p:cNvPr id="56" name="Text 54"/>
          <p:cNvSpPr txBox="1"/>
          <p:nvPr/>
        </p:nvSpPr>
        <p:spPr>
          <a:xfrm>
            <a:off x="9381744" y="5175504"/>
            <a:ext cx="2386584" cy="25603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SELVAKANNAN M</a:t>
            </a:r>
            <a:endParaRPr lang="en-US" sz="1150" dirty="0"/>
          </a:p>
        </p:txBody>
      </p:sp>
      <p:sp>
        <p:nvSpPr>
          <p:cNvPr id="57" name="Text 55"/>
          <p:cNvSpPr txBox="1"/>
          <p:nvPr/>
        </p:nvSpPr>
        <p:spPr>
          <a:xfrm>
            <a:off x="9381744" y="5449824"/>
            <a:ext cx="2386584" cy="237744"/>
          </a:xfrm>
          <a:prstGeom prst="rect">
            <a:avLst/>
          </a:prstGeom>
          <a:noFill/>
          <a:ln/>
        </p:spPr>
        <p:txBody>
          <a:bodyPr wrap="square" lIns="0" tIns="0" rIns="0" bIns="0" rtlCol="0" anchor="ctr"/>
          <a:lstStyle/>
          <a:p>
            <a:pPr algn="ctr" indent="0" marL="0">
              <a:buNone/>
            </a:pPr>
            <a:r>
              <a:rPr lang="en-US" sz="1050" dirty="0">
                <a:solidFill>
                  <a:srgbClr val="9FB8D6"/>
                </a:solidFill>
                <a:latin typeface="Calibri" pitchFamily="34" charset="0"/>
                <a:ea typeface="Calibri" pitchFamily="34" charset="-122"/>
                <a:cs typeface="Calibri" pitchFamily="34" charset="-120"/>
              </a:rPr>
              <a:t>715523243051</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327648"/>
            <a:ext cx="457200" cy="274320"/>
          </a:xfrm>
          <a:prstGeom prst="rect">
            <a:avLst/>
          </a:prstGeom>
          <a:noFill/>
          <a:ln/>
        </p:spPr>
        <p:txBody>
          <a:bodyPr wrap="square" lIns="0" tIns="0" rIns="0" bIns="0" rtlCol="0" anchor="ctr"/>
          <a:lstStyle/>
          <a:p>
            <a:pPr algn="r" indent="0" marL="0">
              <a:buNone/>
            </a:pPr>
            <a:r>
              <a:rPr lang="en-US" sz="900" dirty="0">
                <a:solidFill>
                  <a:srgbClr val="5C7C9E"/>
                </a:solidFill>
                <a:latin typeface="Calibri" pitchFamily="34" charset="0"/>
                <a:ea typeface="Calibri" pitchFamily="34" charset="-122"/>
                <a:cs typeface="Calibri" pitchFamily="34" charset="-120"/>
              </a:rPr>
              <a:t>02</a:t>
            </a:r>
            <a:endParaRPr lang="en-US" sz="900" dirty="0"/>
          </a:p>
        </p:txBody>
      </p:sp>
      <p:sp>
        <p:nvSpPr>
          <p:cNvPr id="3" name="Text 1"/>
          <p:cNvSpPr txBox="1"/>
          <p:nvPr/>
        </p:nvSpPr>
        <p:spPr>
          <a:xfrm>
            <a:off x="548640" y="310896"/>
            <a:ext cx="11064240" cy="502920"/>
          </a:xfrm>
          <a:prstGeom prst="rect">
            <a:avLst/>
          </a:prstGeom>
          <a:noFill/>
          <a:ln/>
        </p:spPr>
        <p:txBody>
          <a:bodyPr wrap="square" lIns="0" tIns="0" rIns="0" bIns="0" rtlCol="0" anchor="ctr"/>
          <a:lstStyle/>
          <a:p>
            <a:pPr indent="0" marL="0">
              <a:buNone/>
            </a:pPr>
            <a:r>
              <a:rPr lang="en-US" sz="2900" b="1" dirty="0">
                <a:solidFill>
                  <a:srgbClr val="13294B"/>
                </a:solidFill>
                <a:latin typeface="Cambria" pitchFamily="34" charset="0"/>
                <a:ea typeface="Cambria" pitchFamily="34" charset="-122"/>
                <a:cs typeface="Cambria" pitchFamily="34" charset="-120"/>
              </a:rPr>
              <a:t>Problem Statement</a:t>
            </a:r>
            <a:endParaRPr lang="en-US" sz="2900" dirty="0"/>
          </a:p>
        </p:txBody>
      </p:sp>
      <p:sp>
        <p:nvSpPr>
          <p:cNvPr id="4" name="Text 2"/>
          <p:cNvSpPr txBox="1"/>
          <p:nvPr/>
        </p:nvSpPr>
        <p:spPr>
          <a:xfrm>
            <a:off x="548640" y="841248"/>
            <a:ext cx="1106424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Architectural floor-plan design must satisfy several interacting spatial requirements</a:t>
            </a:r>
            <a:endParaRPr lang="en-US" sz="1200" dirty="0"/>
          </a:p>
        </p:txBody>
      </p:sp>
      <p:sp>
        <p:nvSpPr>
          <p:cNvPr id="5" name="Shape 3"/>
          <p:cNvSpPr/>
          <p:nvPr/>
        </p:nvSpPr>
        <p:spPr>
          <a:xfrm>
            <a:off x="548640" y="1371600"/>
            <a:ext cx="2606040" cy="713232"/>
          </a:xfrm>
          <a:prstGeom prst="roundRect">
            <a:avLst>
              <a:gd name="adj" fmla="val 7692"/>
            </a:avLst>
          </a:prstGeom>
          <a:solidFill>
            <a:srgbClr val="EEF3F9"/>
          </a:solidFill>
          <a:ln w="12700">
            <a:solidFill>
              <a:srgbClr val="CBD8E6"/>
            </a:solidFill>
            <a:prstDash val="solid"/>
          </a:ln>
        </p:spPr>
      </p:sp>
      <p:sp>
        <p:nvSpPr>
          <p:cNvPr id="6" name="Shape 4"/>
          <p:cNvSpPr/>
          <p:nvPr/>
        </p:nvSpPr>
        <p:spPr>
          <a:xfrm>
            <a:off x="694944" y="1586484"/>
            <a:ext cx="283464" cy="283464"/>
          </a:xfrm>
          <a:prstGeom prst="ellipse">
            <a:avLst/>
          </a:prstGeom>
          <a:solidFill>
            <a:srgbClr val="13294B"/>
          </a:solidFill>
          <a:ln w="12700">
            <a:solidFill>
              <a:srgbClr val="13294B"/>
            </a:solidFill>
            <a:prstDash val="solid"/>
          </a:ln>
        </p:spPr>
      </p:sp>
      <p:sp>
        <p:nvSpPr>
          <p:cNvPr id="7" name="Text 5"/>
          <p:cNvSpPr txBox="1"/>
          <p:nvPr/>
        </p:nvSpPr>
        <p:spPr>
          <a:xfrm>
            <a:off x="694944" y="1586484"/>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txBox="1"/>
          <p:nvPr/>
        </p:nvSpPr>
        <p:spPr>
          <a:xfrm>
            <a:off x="1078992" y="1426464"/>
            <a:ext cx="1947672" cy="603504"/>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Required rooms </a:t>
            </a:r>
            <a:pPr indent="0" marL="0">
              <a:buNone/>
            </a:pPr>
            <a:r>
              <a:rPr lang="en-US" sz="1150" dirty="0">
                <a:solidFill>
                  <a:srgbClr val="1B2430"/>
                </a:solidFill>
                <a:latin typeface="Calibri" pitchFamily="34" charset="0"/>
                <a:ea typeface="Calibri" pitchFamily="34" charset="-122"/>
                <a:cs typeface="Calibri" pitchFamily="34" charset="-120"/>
              </a:rPr>
              <a:t>and their dimensions</a:t>
            </a:r>
            <a:endParaRPr lang="en-US" sz="1150" dirty="0"/>
          </a:p>
        </p:txBody>
      </p:sp>
      <p:sp>
        <p:nvSpPr>
          <p:cNvPr id="9" name="Shape 7"/>
          <p:cNvSpPr/>
          <p:nvPr/>
        </p:nvSpPr>
        <p:spPr>
          <a:xfrm>
            <a:off x="3410712" y="1371600"/>
            <a:ext cx="2606040" cy="713232"/>
          </a:xfrm>
          <a:prstGeom prst="roundRect">
            <a:avLst>
              <a:gd name="adj" fmla="val 7692"/>
            </a:avLst>
          </a:prstGeom>
          <a:solidFill>
            <a:srgbClr val="EEF3F9"/>
          </a:solidFill>
          <a:ln w="12700">
            <a:solidFill>
              <a:srgbClr val="CBD8E6"/>
            </a:solidFill>
            <a:prstDash val="solid"/>
          </a:ln>
        </p:spPr>
      </p:sp>
      <p:sp>
        <p:nvSpPr>
          <p:cNvPr id="10" name="Shape 8"/>
          <p:cNvSpPr/>
          <p:nvPr/>
        </p:nvSpPr>
        <p:spPr>
          <a:xfrm>
            <a:off x="3557016" y="1586484"/>
            <a:ext cx="283464" cy="283464"/>
          </a:xfrm>
          <a:prstGeom prst="ellipse">
            <a:avLst/>
          </a:prstGeom>
          <a:solidFill>
            <a:srgbClr val="13294B"/>
          </a:solidFill>
          <a:ln w="12700">
            <a:solidFill>
              <a:srgbClr val="13294B"/>
            </a:solidFill>
            <a:prstDash val="solid"/>
          </a:ln>
        </p:spPr>
      </p:sp>
      <p:sp>
        <p:nvSpPr>
          <p:cNvPr id="11" name="Text 9"/>
          <p:cNvSpPr txBox="1"/>
          <p:nvPr/>
        </p:nvSpPr>
        <p:spPr>
          <a:xfrm>
            <a:off x="3557016" y="1586484"/>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2" name="Text 10"/>
          <p:cNvSpPr txBox="1"/>
          <p:nvPr/>
        </p:nvSpPr>
        <p:spPr>
          <a:xfrm>
            <a:off x="3941064" y="1426464"/>
            <a:ext cx="1947672" cy="603504"/>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Room-to-room </a:t>
            </a:r>
            <a:pPr indent="0" marL="0">
              <a:buNone/>
            </a:pPr>
            <a:r>
              <a:rPr lang="en-US" sz="1150" dirty="0">
                <a:solidFill>
                  <a:srgbClr val="1B2430"/>
                </a:solidFill>
                <a:latin typeface="Calibri" pitchFamily="34" charset="0"/>
                <a:ea typeface="Calibri" pitchFamily="34" charset="-122"/>
                <a:cs typeface="Calibri" pitchFamily="34" charset="-120"/>
              </a:rPr>
              <a:t>spatial relationships</a:t>
            </a:r>
            <a:endParaRPr lang="en-US" sz="1150" dirty="0"/>
          </a:p>
        </p:txBody>
      </p:sp>
      <p:sp>
        <p:nvSpPr>
          <p:cNvPr id="13" name="Shape 11"/>
          <p:cNvSpPr/>
          <p:nvPr/>
        </p:nvSpPr>
        <p:spPr>
          <a:xfrm>
            <a:off x="548640" y="2322576"/>
            <a:ext cx="2606040" cy="713232"/>
          </a:xfrm>
          <a:prstGeom prst="roundRect">
            <a:avLst>
              <a:gd name="adj" fmla="val 7692"/>
            </a:avLst>
          </a:prstGeom>
          <a:solidFill>
            <a:srgbClr val="EEF3F9"/>
          </a:solidFill>
          <a:ln w="12700">
            <a:solidFill>
              <a:srgbClr val="CBD8E6"/>
            </a:solidFill>
            <a:prstDash val="solid"/>
          </a:ln>
        </p:spPr>
      </p:sp>
      <p:sp>
        <p:nvSpPr>
          <p:cNvPr id="14" name="Shape 12"/>
          <p:cNvSpPr/>
          <p:nvPr/>
        </p:nvSpPr>
        <p:spPr>
          <a:xfrm>
            <a:off x="694944" y="2537460"/>
            <a:ext cx="283464" cy="283464"/>
          </a:xfrm>
          <a:prstGeom prst="ellipse">
            <a:avLst/>
          </a:prstGeom>
          <a:solidFill>
            <a:srgbClr val="13294B"/>
          </a:solidFill>
          <a:ln w="12700">
            <a:solidFill>
              <a:srgbClr val="13294B"/>
            </a:solidFill>
            <a:prstDash val="solid"/>
          </a:ln>
        </p:spPr>
      </p:sp>
      <p:sp>
        <p:nvSpPr>
          <p:cNvPr id="15" name="Text 13"/>
          <p:cNvSpPr txBox="1"/>
          <p:nvPr/>
        </p:nvSpPr>
        <p:spPr>
          <a:xfrm>
            <a:off x="694944" y="2537460"/>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6" name="Text 14"/>
          <p:cNvSpPr txBox="1"/>
          <p:nvPr/>
        </p:nvSpPr>
        <p:spPr>
          <a:xfrm>
            <a:off x="1078992" y="2377440"/>
            <a:ext cx="1947672" cy="603504"/>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Adjacency and </a:t>
            </a:r>
            <a:pPr indent="0" marL="0">
              <a:buNone/>
            </a:pPr>
            <a:r>
              <a:rPr lang="en-US" sz="1150" dirty="0">
                <a:solidFill>
                  <a:srgbClr val="1B2430"/>
                </a:solidFill>
                <a:latin typeface="Calibri" pitchFamily="34" charset="0"/>
                <a:ea typeface="Calibri" pitchFamily="34" charset="-122"/>
                <a:cs typeface="Calibri" pitchFamily="34" charset="-120"/>
              </a:rPr>
              <a:t>proximity requirements</a:t>
            </a:r>
            <a:endParaRPr lang="en-US" sz="1150" dirty="0"/>
          </a:p>
        </p:txBody>
      </p:sp>
      <p:sp>
        <p:nvSpPr>
          <p:cNvPr id="17" name="Shape 15"/>
          <p:cNvSpPr/>
          <p:nvPr/>
        </p:nvSpPr>
        <p:spPr>
          <a:xfrm>
            <a:off x="3410712" y="2322576"/>
            <a:ext cx="2606040" cy="713232"/>
          </a:xfrm>
          <a:prstGeom prst="roundRect">
            <a:avLst>
              <a:gd name="adj" fmla="val 7692"/>
            </a:avLst>
          </a:prstGeom>
          <a:solidFill>
            <a:srgbClr val="EEF3F9"/>
          </a:solidFill>
          <a:ln w="12700">
            <a:solidFill>
              <a:srgbClr val="CBD8E6"/>
            </a:solidFill>
            <a:prstDash val="solid"/>
          </a:ln>
        </p:spPr>
      </p:sp>
      <p:sp>
        <p:nvSpPr>
          <p:cNvPr id="18" name="Shape 16"/>
          <p:cNvSpPr/>
          <p:nvPr/>
        </p:nvSpPr>
        <p:spPr>
          <a:xfrm>
            <a:off x="3557016" y="2537460"/>
            <a:ext cx="283464" cy="283464"/>
          </a:xfrm>
          <a:prstGeom prst="ellipse">
            <a:avLst/>
          </a:prstGeom>
          <a:solidFill>
            <a:srgbClr val="13294B"/>
          </a:solidFill>
          <a:ln w="12700">
            <a:solidFill>
              <a:srgbClr val="13294B"/>
            </a:solidFill>
            <a:prstDash val="solid"/>
          </a:ln>
        </p:spPr>
      </p:sp>
      <p:sp>
        <p:nvSpPr>
          <p:cNvPr id="19" name="Text 17"/>
          <p:cNvSpPr txBox="1"/>
          <p:nvPr/>
        </p:nvSpPr>
        <p:spPr>
          <a:xfrm>
            <a:off x="3557016" y="2537460"/>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0" name="Text 18"/>
          <p:cNvSpPr txBox="1"/>
          <p:nvPr/>
        </p:nvSpPr>
        <p:spPr>
          <a:xfrm>
            <a:off x="3941064" y="2377440"/>
            <a:ext cx="1947672" cy="603504"/>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Separation </a:t>
            </a:r>
            <a:pPr indent="0" marL="0">
              <a:buNone/>
            </a:pPr>
            <a:r>
              <a:rPr lang="en-US" sz="1150" dirty="0">
                <a:solidFill>
                  <a:srgbClr val="1B2430"/>
                </a:solidFill>
                <a:latin typeface="Calibri" pitchFamily="34" charset="0"/>
                <a:ea typeface="Calibri" pitchFamily="34" charset="-122"/>
                <a:cs typeface="Calibri" pitchFamily="34" charset="-120"/>
              </a:rPr>
              <a:t>between certain spaces</a:t>
            </a:r>
            <a:endParaRPr lang="en-US" sz="1150" dirty="0"/>
          </a:p>
        </p:txBody>
      </p:sp>
      <p:sp>
        <p:nvSpPr>
          <p:cNvPr id="21" name="Shape 19"/>
          <p:cNvSpPr/>
          <p:nvPr/>
        </p:nvSpPr>
        <p:spPr>
          <a:xfrm>
            <a:off x="548640" y="3273552"/>
            <a:ext cx="2606040" cy="713232"/>
          </a:xfrm>
          <a:prstGeom prst="roundRect">
            <a:avLst>
              <a:gd name="adj" fmla="val 7692"/>
            </a:avLst>
          </a:prstGeom>
          <a:solidFill>
            <a:srgbClr val="EEF3F9"/>
          </a:solidFill>
          <a:ln w="12700">
            <a:solidFill>
              <a:srgbClr val="CBD8E6"/>
            </a:solidFill>
            <a:prstDash val="solid"/>
          </a:ln>
        </p:spPr>
      </p:sp>
      <p:sp>
        <p:nvSpPr>
          <p:cNvPr id="22" name="Shape 20"/>
          <p:cNvSpPr/>
          <p:nvPr/>
        </p:nvSpPr>
        <p:spPr>
          <a:xfrm>
            <a:off x="694944" y="3488436"/>
            <a:ext cx="283464" cy="283464"/>
          </a:xfrm>
          <a:prstGeom prst="ellipse">
            <a:avLst/>
          </a:prstGeom>
          <a:solidFill>
            <a:srgbClr val="13294B"/>
          </a:solidFill>
          <a:ln w="12700">
            <a:solidFill>
              <a:srgbClr val="13294B"/>
            </a:solidFill>
            <a:prstDash val="solid"/>
          </a:ln>
        </p:spPr>
      </p:sp>
      <p:sp>
        <p:nvSpPr>
          <p:cNvPr id="23" name="Text 21"/>
          <p:cNvSpPr txBox="1"/>
          <p:nvPr/>
        </p:nvSpPr>
        <p:spPr>
          <a:xfrm>
            <a:off x="694944" y="3488436"/>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4" name="Text 22"/>
          <p:cNvSpPr txBox="1"/>
          <p:nvPr/>
        </p:nvSpPr>
        <p:spPr>
          <a:xfrm>
            <a:off x="1078992" y="3328416"/>
            <a:ext cx="1947672" cy="603504"/>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Connectivity </a:t>
            </a:r>
            <a:pPr indent="0" marL="0">
              <a:buNone/>
            </a:pPr>
            <a:r>
              <a:rPr lang="en-US" sz="1150" dirty="0">
                <a:solidFill>
                  <a:srgbClr val="1B2430"/>
                </a:solidFill>
                <a:latin typeface="Calibri" pitchFamily="34" charset="0"/>
                <a:ea typeface="Calibri" pitchFamily="34" charset="-122"/>
                <a:cs typeface="Calibri" pitchFamily="34" charset="-120"/>
              </a:rPr>
              <a:t>and circulation paths</a:t>
            </a:r>
            <a:endParaRPr lang="en-US" sz="1150" dirty="0"/>
          </a:p>
        </p:txBody>
      </p:sp>
      <p:sp>
        <p:nvSpPr>
          <p:cNvPr id="25" name="Shape 23"/>
          <p:cNvSpPr/>
          <p:nvPr/>
        </p:nvSpPr>
        <p:spPr>
          <a:xfrm>
            <a:off x="3410712" y="3273552"/>
            <a:ext cx="2606040" cy="713232"/>
          </a:xfrm>
          <a:prstGeom prst="roundRect">
            <a:avLst>
              <a:gd name="adj" fmla="val 7692"/>
            </a:avLst>
          </a:prstGeom>
          <a:solidFill>
            <a:srgbClr val="EEF3F9"/>
          </a:solidFill>
          <a:ln w="12700">
            <a:solidFill>
              <a:srgbClr val="CBD8E6"/>
            </a:solidFill>
            <a:prstDash val="solid"/>
          </a:ln>
        </p:spPr>
      </p:sp>
      <p:sp>
        <p:nvSpPr>
          <p:cNvPr id="26" name="Shape 24"/>
          <p:cNvSpPr/>
          <p:nvPr/>
        </p:nvSpPr>
        <p:spPr>
          <a:xfrm>
            <a:off x="3557016" y="3488436"/>
            <a:ext cx="283464" cy="283464"/>
          </a:xfrm>
          <a:prstGeom prst="ellipse">
            <a:avLst/>
          </a:prstGeom>
          <a:solidFill>
            <a:srgbClr val="13294B"/>
          </a:solidFill>
          <a:ln w="12700">
            <a:solidFill>
              <a:srgbClr val="13294B"/>
            </a:solidFill>
            <a:prstDash val="solid"/>
          </a:ln>
        </p:spPr>
      </p:sp>
      <p:sp>
        <p:nvSpPr>
          <p:cNvPr id="27" name="Text 25"/>
          <p:cNvSpPr txBox="1"/>
          <p:nvPr/>
        </p:nvSpPr>
        <p:spPr>
          <a:xfrm>
            <a:off x="3557016" y="3488436"/>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28" name="Text 26"/>
          <p:cNvSpPr txBox="1"/>
          <p:nvPr/>
        </p:nvSpPr>
        <p:spPr>
          <a:xfrm>
            <a:off x="3941064" y="3328416"/>
            <a:ext cx="1947672" cy="603504"/>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Efficient utilization </a:t>
            </a:r>
            <a:pPr indent="0" marL="0">
              <a:buNone/>
            </a:pPr>
            <a:r>
              <a:rPr lang="en-US" sz="1150" dirty="0">
                <a:solidFill>
                  <a:srgbClr val="1B2430"/>
                </a:solidFill>
                <a:latin typeface="Calibri" pitchFamily="34" charset="0"/>
                <a:ea typeface="Calibri" pitchFamily="34" charset="-122"/>
                <a:cs typeface="Calibri" pitchFamily="34" charset="-120"/>
              </a:rPr>
              <a:t>of the available plot</a:t>
            </a:r>
            <a:endParaRPr lang="en-US" sz="1150" dirty="0"/>
          </a:p>
        </p:txBody>
      </p:sp>
      <p:sp>
        <p:nvSpPr>
          <p:cNvPr id="29" name="Text 27"/>
          <p:cNvSpPr txBox="1"/>
          <p:nvPr/>
        </p:nvSpPr>
        <p:spPr>
          <a:xfrm>
            <a:off x="6263640" y="1335024"/>
            <a:ext cx="5394960" cy="274320"/>
          </a:xfrm>
          <a:prstGeom prst="rect">
            <a:avLst/>
          </a:prstGeom>
          <a:noFill/>
          <a:ln/>
        </p:spPr>
        <p:txBody>
          <a:bodyPr wrap="square" lIns="0" tIns="0" rIns="0" bIns="0" rtlCol="0" anchor="ctr"/>
          <a:lstStyle/>
          <a:p>
            <a:pPr indent="0" marL="0">
              <a:buNone/>
            </a:pPr>
            <a:r>
              <a:rPr lang="en-US" sz="1400" b="1" dirty="0">
                <a:solidFill>
                  <a:srgbClr val="13294B"/>
                </a:solidFill>
                <a:latin typeface="Cambria" pitchFamily="34" charset="0"/>
                <a:ea typeface="Cambria" pitchFamily="34" charset="-122"/>
                <a:cs typeface="Cambria" pitchFamily="34" charset="-120"/>
              </a:rPr>
              <a:t>Existing challenge</a:t>
            </a:r>
            <a:endParaRPr lang="en-US" sz="1400" dirty="0"/>
          </a:p>
        </p:txBody>
      </p:sp>
      <p:sp>
        <p:nvSpPr>
          <p:cNvPr id="30" name="Text 28"/>
          <p:cNvSpPr txBox="1"/>
          <p:nvPr/>
        </p:nvSpPr>
        <p:spPr>
          <a:xfrm>
            <a:off x="6263640" y="1645920"/>
            <a:ext cx="5349240" cy="777240"/>
          </a:xfrm>
          <a:prstGeom prst="rect">
            <a:avLst/>
          </a:prstGeom>
          <a:noFill/>
          <a:ln/>
        </p:spPr>
        <p:txBody>
          <a:bodyPr wrap="square" lIns="0" tIns="0" rIns="0" bIns="0" rtlCol="0" anchor="t"/>
          <a:lstStyle/>
          <a:p>
            <a:pPr indent="0" marL="0">
              <a:lnSpc>
                <a:spcPts val="1700"/>
              </a:lnSpc>
              <a:buNone/>
            </a:pPr>
            <a:r>
              <a:rPr lang="en-US" sz="1250" dirty="0">
                <a:solidFill>
                  <a:srgbClr val="1B2430"/>
                </a:solidFill>
                <a:latin typeface="Calibri" pitchFamily="34" charset="0"/>
                <a:ea typeface="Calibri" pitchFamily="34" charset="-122"/>
                <a:cs typeface="Calibri" pitchFamily="34" charset="-120"/>
              </a:rPr>
              <a:t>Traditional design involves repeated manual modification to satisfy these requirements. Recent AI methods can generate plans, but often focus on layout generation itself rather than an end-to-end process.</a:t>
            </a:r>
            <a:endParaRPr lang="en-US" sz="1250" dirty="0"/>
          </a:p>
        </p:txBody>
      </p:sp>
      <p:sp>
        <p:nvSpPr>
          <p:cNvPr id="31" name="Shape 29"/>
          <p:cNvSpPr/>
          <p:nvPr/>
        </p:nvSpPr>
        <p:spPr>
          <a:xfrm>
            <a:off x="6263640" y="2606040"/>
            <a:ext cx="2286000" cy="566928"/>
          </a:xfrm>
          <a:prstGeom prst="roundRect">
            <a:avLst>
              <a:gd name="adj" fmla="val 8065"/>
            </a:avLst>
          </a:prstGeom>
          <a:solidFill>
            <a:srgbClr val="FFFFFF"/>
          </a:solidFill>
          <a:ln w="15875">
            <a:solidFill>
              <a:srgbClr val="1F4E79"/>
            </a:solidFill>
            <a:prstDash val="solid"/>
          </a:ln>
        </p:spPr>
      </p:sp>
      <p:sp>
        <p:nvSpPr>
          <p:cNvPr id="32" name="Text 30"/>
          <p:cNvSpPr txBox="1"/>
          <p:nvPr/>
        </p:nvSpPr>
        <p:spPr>
          <a:xfrm>
            <a:off x="6300216" y="2606040"/>
            <a:ext cx="2212848" cy="566928"/>
          </a:xfrm>
          <a:prstGeom prst="rect">
            <a:avLst/>
          </a:prstGeom>
          <a:noFill/>
          <a:ln/>
        </p:spPr>
        <p:txBody>
          <a:bodyPr wrap="square" lIns="0" tIns="0" rIns="0" bIns="0" rtlCol="0" anchor="ctr"/>
          <a:lstStyle/>
          <a:p>
            <a:pPr algn="ctr" indent="0" marL="0">
              <a:buNone/>
            </a:pPr>
            <a:r>
              <a:rPr lang="en-US" sz="1150" b="1" dirty="0">
                <a:solidFill>
                  <a:srgbClr val="13294B"/>
                </a:solidFill>
                <a:latin typeface="Calibri" pitchFamily="34" charset="0"/>
                <a:ea typeface="Calibri" pitchFamily="34" charset="-122"/>
                <a:cs typeface="Calibri" pitchFamily="34" charset="-120"/>
              </a:rPr>
              <a:t>User Requirements</a:t>
            </a:r>
            <a:endParaRPr lang="en-US" sz="1150" dirty="0"/>
          </a:p>
        </p:txBody>
      </p:sp>
      <p:sp>
        <p:nvSpPr>
          <p:cNvPr id="33" name="Shape 31"/>
          <p:cNvSpPr/>
          <p:nvPr/>
        </p:nvSpPr>
        <p:spPr>
          <a:xfrm>
            <a:off x="8641080" y="2889504"/>
            <a:ext cx="685800" cy="0"/>
          </a:xfrm>
          <a:prstGeom prst="line">
            <a:avLst/>
          </a:prstGeom>
          <a:noFill/>
          <a:ln w="19050">
            <a:solidFill>
              <a:srgbClr val="5C7C9E"/>
            </a:solidFill>
            <a:prstDash val="solid"/>
            <a:tailEnd type="triangle"/>
          </a:ln>
        </p:spPr>
      </p:sp>
      <p:sp>
        <p:nvSpPr>
          <p:cNvPr id="34" name="Shape 32"/>
          <p:cNvSpPr/>
          <p:nvPr/>
        </p:nvSpPr>
        <p:spPr>
          <a:xfrm>
            <a:off x="9418320" y="2606040"/>
            <a:ext cx="2212848" cy="566928"/>
          </a:xfrm>
          <a:prstGeom prst="roundRect">
            <a:avLst>
              <a:gd name="adj" fmla="val 8065"/>
            </a:avLst>
          </a:prstGeom>
          <a:solidFill>
            <a:srgbClr val="FFFFFF"/>
          </a:solidFill>
          <a:ln w="15875">
            <a:solidFill>
              <a:srgbClr val="1F4E79"/>
            </a:solidFill>
            <a:prstDash val="solid"/>
          </a:ln>
        </p:spPr>
      </p:sp>
      <p:sp>
        <p:nvSpPr>
          <p:cNvPr id="35" name="Text 33"/>
          <p:cNvSpPr txBox="1"/>
          <p:nvPr/>
        </p:nvSpPr>
        <p:spPr>
          <a:xfrm>
            <a:off x="9454896" y="2606040"/>
            <a:ext cx="2139696" cy="566928"/>
          </a:xfrm>
          <a:prstGeom prst="rect">
            <a:avLst/>
          </a:prstGeom>
          <a:noFill/>
          <a:ln/>
        </p:spPr>
        <p:txBody>
          <a:bodyPr wrap="square" lIns="0" tIns="0" rIns="0" bIns="0" rtlCol="0" anchor="ctr"/>
          <a:lstStyle/>
          <a:p>
            <a:pPr algn="ctr" indent="0" marL="0">
              <a:buNone/>
            </a:pPr>
            <a:r>
              <a:rPr lang="en-US" sz="1150" b="1" dirty="0">
                <a:solidFill>
                  <a:srgbClr val="13294B"/>
                </a:solidFill>
                <a:latin typeface="Calibri" pitchFamily="34" charset="0"/>
                <a:ea typeface="Calibri" pitchFamily="34" charset="-122"/>
                <a:cs typeface="Calibri" pitchFamily="34" charset="-120"/>
              </a:rPr>
              <a:t>Floor-Plan Generation</a:t>
            </a:r>
            <a:endParaRPr lang="en-US" sz="1150" dirty="0"/>
          </a:p>
        </p:txBody>
      </p:sp>
      <p:sp>
        <p:nvSpPr>
          <p:cNvPr id="36" name="Shape 34"/>
          <p:cNvSpPr/>
          <p:nvPr/>
        </p:nvSpPr>
        <p:spPr>
          <a:xfrm>
            <a:off x="6263640" y="3364992"/>
            <a:ext cx="5367528" cy="658368"/>
          </a:xfrm>
          <a:prstGeom prst="roundRect">
            <a:avLst>
              <a:gd name="adj" fmla="val 8333"/>
            </a:avLst>
          </a:prstGeom>
          <a:solidFill>
            <a:srgbClr val="FCEDE2"/>
          </a:solidFill>
          <a:ln w="12700">
            <a:solidFill>
              <a:srgbClr val="E9C3A6"/>
            </a:solidFill>
            <a:prstDash val="solid"/>
          </a:ln>
        </p:spPr>
      </p:sp>
      <p:sp>
        <p:nvSpPr>
          <p:cNvPr id="37" name="Text 35"/>
          <p:cNvSpPr txBox="1"/>
          <p:nvPr/>
        </p:nvSpPr>
        <p:spPr>
          <a:xfrm>
            <a:off x="6355080" y="3364992"/>
            <a:ext cx="5184648" cy="658368"/>
          </a:xfrm>
          <a:prstGeom prst="rect">
            <a:avLst/>
          </a:prstGeom>
          <a:noFill/>
          <a:ln/>
        </p:spPr>
        <p:txBody>
          <a:bodyPr wrap="square" lIns="0" tIns="0" rIns="0" bIns="0" rtlCol="0" anchor="ctr"/>
          <a:lstStyle/>
          <a:p>
            <a:pPr algn="ctr" indent="0" marL="0">
              <a:buNone/>
            </a:pPr>
            <a:r>
              <a:rPr lang="en-US" sz="1300" b="1" dirty="0">
                <a:solidFill>
                  <a:srgbClr val="C05621"/>
                </a:solidFill>
                <a:latin typeface="Calibri" pitchFamily="34" charset="0"/>
                <a:ea typeface="Calibri" pitchFamily="34" charset="-122"/>
                <a:cs typeface="Calibri" pitchFamily="34" charset="-120"/>
              </a:rPr>
              <a:t>Generation  </a:t>
            </a:r>
            <a:pPr algn="ctr" indent="0" marL="0">
              <a:buNone/>
            </a:pPr>
            <a:r>
              <a:rPr lang="en-US" sz="1500" b="1" dirty="0">
                <a:solidFill>
                  <a:srgbClr val="C05621"/>
                </a:solidFill>
                <a:latin typeface="Calibri" pitchFamily="34" charset="0"/>
                <a:ea typeface="Calibri" pitchFamily="34" charset="-122"/>
                <a:cs typeface="Calibri" pitchFamily="34" charset="-120"/>
              </a:rPr>
              <a:t>≠</a:t>
            </a:r>
            <a:pPr algn="ctr" indent="0" marL="0">
              <a:buNone/>
            </a:pPr>
            <a:r>
              <a:rPr lang="en-US" sz="1300" b="1" dirty="0">
                <a:solidFill>
                  <a:srgbClr val="C05621"/>
                </a:solidFill>
                <a:latin typeface="Calibri" pitchFamily="34" charset="0"/>
                <a:ea typeface="Calibri" pitchFamily="34" charset="-122"/>
                <a:cs typeface="Calibri" pitchFamily="34" charset="-120"/>
              </a:rPr>
              <a:t>  Reasoning + Evaluation + Optimization</a:t>
            </a:r>
            <a:endParaRPr lang="en-US" sz="1300" dirty="0"/>
          </a:p>
        </p:txBody>
      </p:sp>
      <p:sp>
        <p:nvSpPr>
          <p:cNvPr id="38" name="Text 36"/>
          <p:cNvSpPr txBox="1"/>
          <p:nvPr/>
        </p:nvSpPr>
        <p:spPr>
          <a:xfrm>
            <a:off x="6263640" y="4114800"/>
            <a:ext cx="5349240" cy="457200"/>
          </a:xfrm>
          <a:prstGeom prst="rect">
            <a:avLst/>
          </a:prstGeom>
          <a:noFill/>
          <a:ln/>
        </p:spPr>
        <p:txBody>
          <a:bodyPr wrap="square" lIns="0" tIns="0" rIns="0" bIns="0" rtlCol="0" anchor="ctr"/>
          <a:lstStyle/>
          <a:p>
            <a:pPr indent="0" marL="0">
              <a:lnSpc>
                <a:spcPts val="1500"/>
              </a:lnSpc>
              <a:buNone/>
            </a:pPr>
            <a:r>
              <a:rPr lang="en-US" sz="1150" i="1" dirty="0">
                <a:solidFill>
                  <a:srgbClr val="5B6B7C"/>
                </a:solidFill>
                <a:latin typeface="Calibri" pitchFamily="34" charset="0"/>
                <a:ea typeface="Calibri" pitchFamily="34" charset="-122"/>
                <a:cs typeface="Calibri" pitchFamily="34" charset="-120"/>
              </a:rPr>
              <a:t>The missing capability is not generation — it is reasoning about, evaluating and improving a generated layout.</a:t>
            </a:r>
            <a:endParaRPr lang="en-US" sz="1150" dirty="0"/>
          </a:p>
        </p:txBody>
      </p:sp>
      <p:sp>
        <p:nvSpPr>
          <p:cNvPr id="39" name="Shape 37"/>
          <p:cNvSpPr/>
          <p:nvPr/>
        </p:nvSpPr>
        <p:spPr>
          <a:xfrm>
            <a:off x="548640" y="5120640"/>
            <a:ext cx="11082528" cy="1005840"/>
          </a:xfrm>
          <a:prstGeom prst="roundRect">
            <a:avLst>
              <a:gd name="adj" fmla="val 5455"/>
            </a:avLst>
          </a:prstGeom>
          <a:solidFill>
            <a:srgbClr val="13294B"/>
          </a:solidFill>
          <a:ln w="12700">
            <a:solidFill>
              <a:srgbClr val="13294B"/>
            </a:solidFill>
            <a:prstDash val="solid"/>
          </a:ln>
        </p:spPr>
      </p:sp>
      <p:sp>
        <p:nvSpPr>
          <p:cNvPr id="40" name="Text 38"/>
          <p:cNvSpPr txBox="1"/>
          <p:nvPr/>
        </p:nvSpPr>
        <p:spPr>
          <a:xfrm>
            <a:off x="868680" y="5257800"/>
            <a:ext cx="3657600" cy="237744"/>
          </a:xfrm>
          <a:prstGeom prst="rect">
            <a:avLst/>
          </a:prstGeom>
          <a:noFill/>
          <a:ln/>
        </p:spPr>
        <p:txBody>
          <a:bodyPr wrap="square" lIns="0" tIns="0" rIns="0" bIns="0" rtlCol="0" anchor="ctr"/>
          <a:lstStyle/>
          <a:p>
            <a:pPr indent="0" marL="0">
              <a:buNone/>
            </a:pPr>
            <a:r>
              <a:rPr lang="en-US" sz="1000" b="1" spc="120" kern="0" dirty="0">
                <a:solidFill>
                  <a:srgbClr val="9FB8D6"/>
                </a:solidFill>
                <a:latin typeface="Calibri" pitchFamily="34" charset="0"/>
                <a:ea typeface="Calibri" pitchFamily="34" charset="-122"/>
                <a:cs typeface="Calibri" pitchFamily="34" charset="-120"/>
              </a:rPr>
              <a:t>OUR RESEARCH FOCUS</a:t>
            </a:r>
            <a:endParaRPr lang="en-US" sz="1000" dirty="0"/>
          </a:p>
        </p:txBody>
      </p:sp>
      <p:sp>
        <p:nvSpPr>
          <p:cNvPr id="41" name="Text 39"/>
          <p:cNvSpPr txBox="1"/>
          <p:nvPr/>
        </p:nvSpPr>
        <p:spPr>
          <a:xfrm>
            <a:off x="868680" y="5504688"/>
            <a:ext cx="10424160" cy="502920"/>
          </a:xfrm>
          <a:prstGeom prst="rect">
            <a:avLst/>
          </a:prstGeom>
          <a:noFill/>
          <a:ln/>
        </p:spPr>
        <p:txBody>
          <a:bodyPr wrap="square" lIns="0" tIns="0" rIns="0" bIns="0" rtlCol="0" anchor="t"/>
          <a:lstStyle/>
          <a:p>
            <a:pPr indent="0" marL="0">
              <a:buNone/>
            </a:pPr>
            <a:r>
              <a:rPr lang="en-US" sz="1450" b="1" dirty="0">
                <a:solidFill>
                  <a:srgbClr val="FFFFFF"/>
                </a:solidFill>
                <a:latin typeface="Cambria" pitchFamily="34" charset="0"/>
                <a:ea typeface="Cambria" pitchFamily="34" charset="-122"/>
                <a:cs typeface="Cambria" pitchFamily="34" charset="-120"/>
              </a:rPr>
              <a:t>Can an agentic, multi-model framework generate and iteratively optimize floor plans from natural-language architectural requirements?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327648"/>
            <a:ext cx="457200" cy="274320"/>
          </a:xfrm>
          <a:prstGeom prst="rect">
            <a:avLst/>
          </a:prstGeom>
          <a:noFill/>
          <a:ln/>
        </p:spPr>
        <p:txBody>
          <a:bodyPr wrap="square" lIns="0" tIns="0" rIns="0" bIns="0" rtlCol="0" anchor="ctr"/>
          <a:lstStyle/>
          <a:p>
            <a:pPr algn="r" indent="0" marL="0">
              <a:buNone/>
            </a:pPr>
            <a:r>
              <a:rPr lang="en-US" sz="900" dirty="0">
                <a:solidFill>
                  <a:srgbClr val="5C7C9E"/>
                </a:solidFill>
                <a:latin typeface="Calibri" pitchFamily="34" charset="0"/>
                <a:ea typeface="Calibri" pitchFamily="34" charset="-122"/>
                <a:cs typeface="Calibri" pitchFamily="34" charset="-120"/>
              </a:rPr>
              <a:t>03</a:t>
            </a:r>
            <a:endParaRPr lang="en-US" sz="900" dirty="0"/>
          </a:p>
        </p:txBody>
      </p:sp>
      <p:sp>
        <p:nvSpPr>
          <p:cNvPr id="3" name="Text 1"/>
          <p:cNvSpPr txBox="1"/>
          <p:nvPr/>
        </p:nvSpPr>
        <p:spPr>
          <a:xfrm>
            <a:off x="548640" y="310896"/>
            <a:ext cx="11064240" cy="502920"/>
          </a:xfrm>
          <a:prstGeom prst="rect">
            <a:avLst/>
          </a:prstGeom>
          <a:noFill/>
          <a:ln/>
        </p:spPr>
        <p:txBody>
          <a:bodyPr wrap="square" lIns="0" tIns="0" rIns="0" bIns="0" rtlCol="0" anchor="ctr"/>
          <a:lstStyle/>
          <a:p>
            <a:pPr indent="0" marL="0">
              <a:buNone/>
            </a:pPr>
            <a:r>
              <a:rPr lang="en-US" sz="2900" b="1" dirty="0">
                <a:solidFill>
                  <a:srgbClr val="13294B"/>
                </a:solidFill>
                <a:latin typeface="Cambria" pitchFamily="34" charset="0"/>
                <a:ea typeface="Cambria" pitchFamily="34" charset="-122"/>
                <a:cs typeface="Cambria" pitchFamily="34" charset="-120"/>
              </a:rPr>
              <a:t>Existing Solution — HouseGanDi</a:t>
            </a:r>
            <a:endParaRPr lang="en-US" sz="2900" dirty="0"/>
          </a:p>
        </p:txBody>
      </p:sp>
      <p:sp>
        <p:nvSpPr>
          <p:cNvPr id="4" name="Text 2"/>
          <p:cNvSpPr txBox="1"/>
          <p:nvPr/>
        </p:nvSpPr>
        <p:spPr>
          <a:xfrm>
            <a:off x="548640" y="841248"/>
            <a:ext cx="1106424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Base paper selected for this project</a:t>
            </a:r>
            <a:endParaRPr lang="en-US" sz="1200" dirty="0"/>
          </a:p>
        </p:txBody>
      </p:sp>
      <p:sp>
        <p:nvSpPr>
          <p:cNvPr id="5" name="Shape 3"/>
          <p:cNvSpPr/>
          <p:nvPr/>
        </p:nvSpPr>
        <p:spPr>
          <a:xfrm>
            <a:off x="548640" y="1371600"/>
            <a:ext cx="4663440" cy="2011680"/>
          </a:xfrm>
          <a:prstGeom prst="roundRect">
            <a:avLst>
              <a:gd name="adj" fmla="val 2727"/>
            </a:avLst>
          </a:prstGeom>
          <a:solidFill>
            <a:srgbClr val="13294B"/>
          </a:solidFill>
          <a:ln w="12700">
            <a:solidFill>
              <a:srgbClr val="13294B"/>
            </a:solidFill>
            <a:prstDash val="solid"/>
          </a:ln>
        </p:spPr>
      </p:sp>
      <p:sp>
        <p:nvSpPr>
          <p:cNvPr id="6" name="Text 4"/>
          <p:cNvSpPr txBox="1"/>
          <p:nvPr/>
        </p:nvSpPr>
        <p:spPr>
          <a:xfrm>
            <a:off x="822960" y="1572768"/>
            <a:ext cx="2743200" cy="228600"/>
          </a:xfrm>
          <a:prstGeom prst="rect">
            <a:avLst/>
          </a:prstGeom>
          <a:noFill/>
          <a:ln/>
        </p:spPr>
        <p:txBody>
          <a:bodyPr wrap="square" lIns="0" tIns="0" rIns="0" bIns="0" rtlCol="0" anchor="ctr"/>
          <a:lstStyle/>
          <a:p>
            <a:pPr indent="0" marL="0">
              <a:buNone/>
            </a:pPr>
            <a:r>
              <a:rPr lang="en-US" sz="1000" b="1" spc="120" kern="0" dirty="0">
                <a:solidFill>
                  <a:srgbClr val="9FB8D6"/>
                </a:solidFill>
                <a:latin typeface="Calibri" pitchFamily="34" charset="0"/>
                <a:ea typeface="Calibri" pitchFamily="34" charset="-122"/>
                <a:cs typeface="Calibri" pitchFamily="34" charset="-120"/>
              </a:rPr>
              <a:t>BASE PAPER</a:t>
            </a:r>
            <a:endParaRPr lang="en-US" sz="1000" dirty="0"/>
          </a:p>
        </p:txBody>
      </p:sp>
      <p:sp>
        <p:nvSpPr>
          <p:cNvPr id="7" name="Text 5"/>
          <p:cNvSpPr txBox="1"/>
          <p:nvPr/>
        </p:nvSpPr>
        <p:spPr>
          <a:xfrm>
            <a:off x="822960" y="1847088"/>
            <a:ext cx="4114800" cy="868680"/>
          </a:xfrm>
          <a:prstGeom prst="rect">
            <a:avLst/>
          </a:prstGeom>
          <a:noFill/>
          <a:ln/>
        </p:spPr>
        <p:txBody>
          <a:bodyPr wrap="square" lIns="0" tIns="0" rIns="0" bIns="0" rtlCol="0" anchor="t"/>
          <a:lstStyle/>
          <a:p>
            <a:pPr indent="0" marL="0">
              <a:lnSpc>
                <a:spcPts val="1900"/>
              </a:lnSpc>
              <a:buNone/>
            </a:pPr>
            <a:r>
              <a:rPr lang="en-US" sz="1400" b="1" dirty="0">
                <a:solidFill>
                  <a:srgbClr val="FFFFFF"/>
                </a:solidFill>
                <a:latin typeface="Cambria" pitchFamily="34" charset="0"/>
                <a:ea typeface="Cambria" pitchFamily="34" charset="-122"/>
                <a:cs typeface="Cambria" pitchFamily="34" charset="-120"/>
              </a:rPr>
              <a:t>HouseGanDi: A Hybrid Approach to Strike a Balance of Sampling Time and Diversity in Floorplan Generation</a:t>
            </a:r>
            <a:endParaRPr lang="en-US" sz="1400" dirty="0"/>
          </a:p>
        </p:txBody>
      </p:sp>
      <p:sp>
        <p:nvSpPr>
          <p:cNvPr id="8" name="Text 6"/>
          <p:cNvSpPr txBox="1"/>
          <p:nvPr/>
        </p:nvSpPr>
        <p:spPr>
          <a:xfrm>
            <a:off x="822960" y="2761488"/>
            <a:ext cx="4114800" cy="237744"/>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A. B. Yenew, B. G. Assefa and E. G. Belay</a:t>
            </a:r>
            <a:endParaRPr lang="en-US" sz="1150" dirty="0"/>
          </a:p>
        </p:txBody>
      </p:sp>
      <p:sp>
        <p:nvSpPr>
          <p:cNvPr id="9" name="Text 7"/>
          <p:cNvSpPr txBox="1"/>
          <p:nvPr/>
        </p:nvSpPr>
        <p:spPr>
          <a:xfrm>
            <a:off x="822960" y="2999232"/>
            <a:ext cx="4114800" cy="237744"/>
          </a:xfrm>
          <a:prstGeom prst="rect">
            <a:avLst/>
          </a:prstGeom>
          <a:noFill/>
          <a:ln/>
        </p:spPr>
        <p:txBody>
          <a:bodyPr wrap="square" lIns="0" tIns="0" rIns="0" bIns="0" rtlCol="0" anchor="ctr"/>
          <a:lstStyle/>
          <a:p>
            <a:pPr indent="0" marL="0">
              <a:buNone/>
            </a:pPr>
            <a:r>
              <a:rPr lang="en-US" sz="1100" i="1" dirty="0">
                <a:solidFill>
                  <a:srgbClr val="9FB8D6"/>
                </a:solidFill>
                <a:latin typeface="Calibri" pitchFamily="34" charset="0"/>
                <a:ea typeface="Calibri" pitchFamily="34" charset="-122"/>
                <a:cs typeface="Calibri" pitchFamily="34" charset="-120"/>
              </a:rPr>
              <a:t>IEEE Access, vol. 12, pp. 125235–125252, 2024</a:t>
            </a:r>
            <a:endParaRPr lang="en-US" sz="1100" dirty="0"/>
          </a:p>
        </p:txBody>
      </p:sp>
      <p:sp>
        <p:nvSpPr>
          <p:cNvPr id="10" name="Shape 8"/>
          <p:cNvSpPr/>
          <p:nvPr/>
        </p:nvSpPr>
        <p:spPr>
          <a:xfrm>
            <a:off x="548640" y="3657600"/>
            <a:ext cx="4663440" cy="2148840"/>
          </a:xfrm>
          <a:prstGeom prst="roundRect">
            <a:avLst>
              <a:gd name="adj" fmla="val 2553"/>
            </a:avLst>
          </a:prstGeom>
          <a:solidFill>
            <a:srgbClr val="FCEDE2"/>
          </a:solidFill>
          <a:ln w="12700">
            <a:solidFill>
              <a:srgbClr val="E9C3A6"/>
            </a:solidFill>
            <a:prstDash val="solid"/>
          </a:ln>
        </p:spPr>
      </p:sp>
      <p:sp>
        <p:nvSpPr>
          <p:cNvPr id="11" name="Text 9"/>
          <p:cNvSpPr txBox="1"/>
          <p:nvPr/>
        </p:nvSpPr>
        <p:spPr>
          <a:xfrm>
            <a:off x="822960" y="3840480"/>
            <a:ext cx="4114800" cy="274320"/>
          </a:xfrm>
          <a:prstGeom prst="rect">
            <a:avLst/>
          </a:prstGeom>
          <a:noFill/>
          <a:ln/>
        </p:spPr>
        <p:txBody>
          <a:bodyPr wrap="square" lIns="0" tIns="0" rIns="0" bIns="0" rtlCol="0" anchor="ctr"/>
          <a:lstStyle/>
          <a:p>
            <a:pPr indent="0" marL="0">
              <a:buNone/>
            </a:pPr>
            <a:r>
              <a:rPr lang="en-US" sz="1350" b="1" dirty="0">
                <a:solidFill>
                  <a:srgbClr val="C05621"/>
                </a:solidFill>
                <a:latin typeface="Cambria" pitchFamily="34" charset="0"/>
                <a:ea typeface="Cambria" pitchFamily="34" charset="-122"/>
                <a:cs typeface="Cambria" pitchFamily="34" charset="-120"/>
              </a:rPr>
              <a:t>Main objective</a:t>
            </a:r>
            <a:endParaRPr lang="en-US" sz="1350" dirty="0"/>
          </a:p>
        </p:txBody>
      </p:sp>
      <p:sp>
        <p:nvSpPr>
          <p:cNvPr id="12" name="Text 10"/>
          <p:cNvSpPr txBox="1"/>
          <p:nvPr/>
        </p:nvSpPr>
        <p:spPr>
          <a:xfrm>
            <a:off x="822960" y="4160520"/>
            <a:ext cx="4114800" cy="457200"/>
          </a:xfrm>
          <a:prstGeom prst="rect">
            <a:avLst/>
          </a:prstGeom>
          <a:noFill/>
          <a:ln/>
        </p:spPr>
        <p:txBody>
          <a:bodyPr wrap="square" lIns="0" tIns="0" rIns="0" bIns="0" rtlCol="0" anchor="ctr"/>
          <a:lstStyle/>
          <a:p>
            <a:pPr indent="0" marL="0">
              <a:lnSpc>
                <a:spcPts val="1600"/>
              </a:lnSpc>
              <a:buNone/>
            </a:pPr>
            <a:r>
              <a:rPr lang="en-US" sz="1200" dirty="0">
                <a:solidFill>
                  <a:srgbClr val="1B2430"/>
                </a:solidFill>
                <a:latin typeface="Calibri" pitchFamily="34" charset="0"/>
                <a:ea typeface="Calibri" pitchFamily="34" charset="-122"/>
                <a:cs typeface="Calibri" pitchFamily="34" charset="-120"/>
              </a:rPr>
              <a:t>Generate realistic and diverse floor plans while improving the trade-off between:</a:t>
            </a:r>
            <a:endParaRPr lang="en-US" sz="1200" dirty="0"/>
          </a:p>
        </p:txBody>
      </p:sp>
      <p:sp>
        <p:nvSpPr>
          <p:cNvPr id="13" name="Shape 11"/>
          <p:cNvSpPr/>
          <p:nvPr/>
        </p:nvSpPr>
        <p:spPr>
          <a:xfrm>
            <a:off x="822960" y="4681728"/>
            <a:ext cx="1874520" cy="457200"/>
          </a:xfrm>
          <a:prstGeom prst="roundRect">
            <a:avLst>
              <a:gd name="adj" fmla="val 10000"/>
            </a:avLst>
          </a:prstGeom>
          <a:solidFill>
            <a:srgbClr val="FFFFFF"/>
          </a:solidFill>
          <a:ln w="15875">
            <a:solidFill>
              <a:srgbClr val="C05621"/>
            </a:solidFill>
            <a:prstDash val="solid"/>
          </a:ln>
        </p:spPr>
      </p:sp>
      <p:sp>
        <p:nvSpPr>
          <p:cNvPr id="14" name="Text 12"/>
          <p:cNvSpPr txBox="1"/>
          <p:nvPr/>
        </p:nvSpPr>
        <p:spPr>
          <a:xfrm>
            <a:off x="859536" y="4681728"/>
            <a:ext cx="1801368" cy="457200"/>
          </a:xfrm>
          <a:prstGeom prst="rect">
            <a:avLst/>
          </a:prstGeom>
          <a:noFill/>
          <a:ln/>
        </p:spPr>
        <p:txBody>
          <a:bodyPr wrap="square" lIns="0" tIns="0" rIns="0" bIns="0" rtlCol="0" anchor="ctr"/>
          <a:lstStyle/>
          <a:p>
            <a:pPr algn="ctr" indent="0" marL="0">
              <a:buNone/>
            </a:pPr>
            <a:r>
              <a:rPr lang="en-US" sz="1100" b="1" dirty="0">
                <a:solidFill>
                  <a:srgbClr val="C05621"/>
                </a:solidFill>
                <a:latin typeface="Calibri" pitchFamily="34" charset="0"/>
                <a:ea typeface="Calibri" pitchFamily="34" charset="-122"/>
                <a:cs typeface="Calibri" pitchFamily="34" charset="-120"/>
              </a:rPr>
              <a:t>Quality /</a:t>
            </a:r>
            <a:endParaRPr lang="en-US" sz="1100" dirty="0"/>
          </a:p>
          <a:p>
            <a:pPr algn="ctr" indent="0" marL="0">
              <a:buNone/>
            </a:pPr>
            <a:r>
              <a:rPr lang="en-US" sz="1100" b="1" dirty="0">
                <a:solidFill>
                  <a:srgbClr val="C05621"/>
                </a:solidFill>
                <a:latin typeface="Calibri" pitchFamily="34" charset="0"/>
                <a:ea typeface="Calibri" pitchFamily="34" charset="-122"/>
                <a:cs typeface="Calibri" pitchFamily="34" charset="-120"/>
              </a:rPr>
              <a:t>Diversity</a:t>
            </a:r>
            <a:endParaRPr lang="en-US" sz="1100" dirty="0"/>
          </a:p>
        </p:txBody>
      </p:sp>
      <p:sp>
        <p:nvSpPr>
          <p:cNvPr id="15" name="Shape 13"/>
          <p:cNvSpPr/>
          <p:nvPr/>
        </p:nvSpPr>
        <p:spPr>
          <a:xfrm>
            <a:off x="2788920" y="4910328"/>
            <a:ext cx="685800" cy="0"/>
          </a:xfrm>
          <a:prstGeom prst="line">
            <a:avLst/>
          </a:prstGeom>
          <a:noFill/>
          <a:ln w="19050">
            <a:solidFill>
              <a:srgbClr val="C05621"/>
            </a:solidFill>
            <a:prstDash val="solid"/>
            <a:headEnd type="triangle"/>
            <a:tailEnd type="triangle"/>
          </a:ln>
        </p:spPr>
      </p:sp>
      <p:sp>
        <p:nvSpPr>
          <p:cNvPr id="16" name="Shape 14"/>
          <p:cNvSpPr/>
          <p:nvPr/>
        </p:nvSpPr>
        <p:spPr>
          <a:xfrm>
            <a:off x="3566160" y="4681728"/>
            <a:ext cx="1371600" cy="457200"/>
          </a:xfrm>
          <a:prstGeom prst="roundRect">
            <a:avLst>
              <a:gd name="adj" fmla="val 10000"/>
            </a:avLst>
          </a:prstGeom>
          <a:solidFill>
            <a:srgbClr val="FFFFFF"/>
          </a:solidFill>
          <a:ln w="15875">
            <a:solidFill>
              <a:srgbClr val="C05621"/>
            </a:solidFill>
            <a:prstDash val="solid"/>
          </a:ln>
        </p:spPr>
      </p:sp>
      <p:sp>
        <p:nvSpPr>
          <p:cNvPr id="17" name="Text 15"/>
          <p:cNvSpPr txBox="1"/>
          <p:nvPr/>
        </p:nvSpPr>
        <p:spPr>
          <a:xfrm>
            <a:off x="3602736" y="4681728"/>
            <a:ext cx="1298448" cy="457200"/>
          </a:xfrm>
          <a:prstGeom prst="rect">
            <a:avLst/>
          </a:prstGeom>
          <a:noFill/>
          <a:ln/>
        </p:spPr>
        <p:txBody>
          <a:bodyPr wrap="square" lIns="0" tIns="0" rIns="0" bIns="0" rtlCol="0" anchor="ctr"/>
          <a:lstStyle/>
          <a:p>
            <a:pPr algn="ctr" indent="0" marL="0">
              <a:buNone/>
            </a:pPr>
            <a:r>
              <a:rPr lang="en-US" sz="1100" b="1" dirty="0">
                <a:solidFill>
                  <a:srgbClr val="C05621"/>
                </a:solidFill>
                <a:latin typeface="Calibri" pitchFamily="34" charset="0"/>
                <a:ea typeface="Calibri" pitchFamily="34" charset="-122"/>
                <a:cs typeface="Calibri" pitchFamily="34" charset="-120"/>
              </a:rPr>
              <a:t>Generation</a:t>
            </a:r>
            <a:endParaRPr lang="en-US" sz="1100" dirty="0"/>
          </a:p>
          <a:p>
            <a:pPr algn="ctr" indent="0" marL="0">
              <a:buNone/>
            </a:pPr>
            <a:r>
              <a:rPr lang="en-US" sz="1100" b="1" dirty="0">
                <a:solidFill>
                  <a:srgbClr val="C05621"/>
                </a:solidFill>
                <a:latin typeface="Calibri" pitchFamily="34" charset="0"/>
                <a:ea typeface="Calibri" pitchFamily="34" charset="-122"/>
                <a:cs typeface="Calibri" pitchFamily="34" charset="-120"/>
              </a:rPr>
              <a:t>Time</a:t>
            </a:r>
            <a:endParaRPr lang="en-US" sz="1100" dirty="0"/>
          </a:p>
        </p:txBody>
      </p:sp>
      <p:sp>
        <p:nvSpPr>
          <p:cNvPr id="18" name="Text 16"/>
          <p:cNvSpPr txBox="1"/>
          <p:nvPr/>
        </p:nvSpPr>
        <p:spPr>
          <a:xfrm>
            <a:off x="822960" y="5285232"/>
            <a:ext cx="4114800" cy="365760"/>
          </a:xfrm>
          <a:prstGeom prst="rect">
            <a:avLst/>
          </a:prstGeom>
          <a:noFill/>
          <a:ln/>
        </p:spPr>
        <p:txBody>
          <a:bodyPr wrap="square" lIns="0" tIns="0" rIns="0" bIns="0" rtlCol="0" anchor="ctr"/>
          <a:lstStyle/>
          <a:p>
            <a:pPr indent="0" marL="0">
              <a:buNone/>
            </a:pPr>
            <a:r>
              <a:rPr lang="en-US" sz="1100" i="1" dirty="0">
                <a:solidFill>
                  <a:srgbClr val="5B6B7C"/>
                </a:solidFill>
                <a:latin typeface="Calibri" pitchFamily="34" charset="0"/>
                <a:ea typeface="Calibri" pitchFamily="34" charset="-122"/>
                <a:cs typeface="Calibri" pitchFamily="34" charset="-120"/>
              </a:rPr>
              <a:t>The paper does not use LLMs or agent-based reasoning.</a:t>
            </a:r>
            <a:endParaRPr lang="en-US" sz="1100" dirty="0"/>
          </a:p>
        </p:txBody>
      </p:sp>
      <p:sp>
        <p:nvSpPr>
          <p:cNvPr id="19" name="Text 17"/>
          <p:cNvSpPr txBox="1"/>
          <p:nvPr/>
        </p:nvSpPr>
        <p:spPr>
          <a:xfrm>
            <a:off x="5623560" y="1371600"/>
            <a:ext cx="5943600" cy="274320"/>
          </a:xfrm>
          <a:prstGeom prst="rect">
            <a:avLst/>
          </a:prstGeom>
          <a:noFill/>
          <a:ln/>
        </p:spPr>
        <p:txBody>
          <a:bodyPr wrap="square" lIns="0" tIns="0" rIns="0" bIns="0" rtlCol="0" anchor="ctr"/>
          <a:lstStyle/>
          <a:p>
            <a:pPr indent="0" marL="0">
              <a:buNone/>
            </a:pPr>
            <a:r>
              <a:rPr lang="en-US" sz="1400" b="1" dirty="0">
                <a:solidFill>
                  <a:srgbClr val="13294B"/>
                </a:solidFill>
                <a:latin typeface="Cambria" pitchFamily="34" charset="0"/>
                <a:ea typeface="Cambria" pitchFamily="34" charset="-122"/>
                <a:cs typeface="Cambria" pitchFamily="34" charset="-120"/>
              </a:rPr>
              <a:t>What does the paper do?</a:t>
            </a:r>
            <a:endParaRPr lang="en-US" sz="1400" dirty="0"/>
          </a:p>
        </p:txBody>
      </p:sp>
      <p:sp>
        <p:nvSpPr>
          <p:cNvPr id="20" name="Text 18"/>
          <p:cNvSpPr txBox="1"/>
          <p:nvPr/>
        </p:nvSpPr>
        <p:spPr>
          <a:xfrm>
            <a:off x="5623560" y="1691640"/>
            <a:ext cx="5989320" cy="548640"/>
          </a:xfrm>
          <a:prstGeom prst="rect">
            <a:avLst/>
          </a:prstGeom>
          <a:noFill/>
          <a:ln/>
        </p:spPr>
        <p:txBody>
          <a:bodyPr wrap="square" lIns="0" tIns="0" rIns="0" bIns="0" rtlCol="0" anchor="ctr"/>
          <a:lstStyle/>
          <a:p>
            <a:pPr indent="0" marL="0">
              <a:lnSpc>
                <a:spcPts val="1700"/>
              </a:lnSpc>
              <a:buNone/>
            </a:pPr>
            <a:r>
              <a:rPr lang="en-US" sz="1250" dirty="0">
                <a:solidFill>
                  <a:srgbClr val="1B2430"/>
                </a:solidFill>
                <a:latin typeface="Calibri" pitchFamily="34" charset="0"/>
                <a:ea typeface="Calibri" pitchFamily="34" charset="-122"/>
                <a:cs typeface="Calibri" pitchFamily="34" charset="-120"/>
              </a:rPr>
              <a:t>HouseGanDi addresses automatic floor-plan synthesis using generative deep learning, combining two families of generative models in a single hybrid pipeline.</a:t>
            </a:r>
            <a:endParaRPr lang="en-US" sz="1250" dirty="0"/>
          </a:p>
        </p:txBody>
      </p:sp>
      <p:sp>
        <p:nvSpPr>
          <p:cNvPr id="21" name="Shape 19"/>
          <p:cNvSpPr/>
          <p:nvPr/>
        </p:nvSpPr>
        <p:spPr>
          <a:xfrm>
            <a:off x="5623560" y="2395728"/>
            <a:ext cx="6007608" cy="603504"/>
          </a:xfrm>
          <a:prstGeom prst="roundRect">
            <a:avLst>
              <a:gd name="adj" fmla="val 9091"/>
            </a:avLst>
          </a:prstGeom>
          <a:solidFill>
            <a:srgbClr val="EEF3F9"/>
          </a:solidFill>
          <a:ln w="12700">
            <a:solidFill>
              <a:srgbClr val="CBD8E6"/>
            </a:solidFill>
            <a:prstDash val="solid"/>
          </a:ln>
        </p:spPr>
      </p:sp>
      <p:sp>
        <p:nvSpPr>
          <p:cNvPr id="22" name="Shape 20"/>
          <p:cNvSpPr/>
          <p:nvPr/>
        </p:nvSpPr>
        <p:spPr>
          <a:xfrm>
            <a:off x="5806440" y="2555748"/>
            <a:ext cx="283464" cy="283464"/>
          </a:xfrm>
          <a:prstGeom prst="ellipse">
            <a:avLst/>
          </a:prstGeom>
          <a:solidFill>
            <a:srgbClr val="1F4E79"/>
          </a:solidFill>
          <a:ln w="12700">
            <a:solidFill>
              <a:srgbClr val="1F4E79"/>
            </a:solidFill>
            <a:prstDash val="solid"/>
          </a:ln>
        </p:spPr>
      </p:sp>
      <p:sp>
        <p:nvSpPr>
          <p:cNvPr id="23" name="Text 21"/>
          <p:cNvSpPr txBox="1"/>
          <p:nvPr/>
        </p:nvSpPr>
        <p:spPr>
          <a:xfrm>
            <a:off x="5806440" y="2555748"/>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4" name="Text 22"/>
          <p:cNvSpPr txBox="1"/>
          <p:nvPr/>
        </p:nvSpPr>
        <p:spPr>
          <a:xfrm>
            <a:off x="6217920" y="2459736"/>
            <a:ext cx="2514600" cy="237744"/>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GAN-based generation</a:t>
            </a:r>
            <a:endParaRPr lang="en-US" sz="1200" dirty="0"/>
          </a:p>
        </p:txBody>
      </p:sp>
      <p:sp>
        <p:nvSpPr>
          <p:cNvPr id="25" name="Text 23"/>
          <p:cNvSpPr txBox="1"/>
          <p:nvPr/>
        </p:nvSpPr>
        <p:spPr>
          <a:xfrm>
            <a:off x="6217920" y="2697480"/>
            <a:ext cx="5212080" cy="256032"/>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Adversarial model for fast layout synthesis</a:t>
            </a:r>
            <a:endParaRPr lang="en-US" sz="1100" dirty="0"/>
          </a:p>
        </p:txBody>
      </p:sp>
      <p:sp>
        <p:nvSpPr>
          <p:cNvPr id="26" name="Shape 24"/>
          <p:cNvSpPr/>
          <p:nvPr/>
        </p:nvSpPr>
        <p:spPr>
          <a:xfrm>
            <a:off x="5623560" y="3118104"/>
            <a:ext cx="6007608" cy="603504"/>
          </a:xfrm>
          <a:prstGeom prst="roundRect">
            <a:avLst>
              <a:gd name="adj" fmla="val 9091"/>
            </a:avLst>
          </a:prstGeom>
          <a:solidFill>
            <a:srgbClr val="EEF3F9"/>
          </a:solidFill>
          <a:ln w="12700">
            <a:solidFill>
              <a:srgbClr val="CBD8E6"/>
            </a:solidFill>
            <a:prstDash val="solid"/>
          </a:ln>
        </p:spPr>
      </p:sp>
      <p:sp>
        <p:nvSpPr>
          <p:cNvPr id="27" name="Shape 25"/>
          <p:cNvSpPr/>
          <p:nvPr/>
        </p:nvSpPr>
        <p:spPr>
          <a:xfrm>
            <a:off x="5806440" y="3278124"/>
            <a:ext cx="283464" cy="283464"/>
          </a:xfrm>
          <a:prstGeom prst="ellipse">
            <a:avLst/>
          </a:prstGeom>
          <a:solidFill>
            <a:srgbClr val="1F4E79"/>
          </a:solidFill>
          <a:ln w="12700">
            <a:solidFill>
              <a:srgbClr val="1F4E79"/>
            </a:solidFill>
            <a:prstDash val="solid"/>
          </a:ln>
        </p:spPr>
      </p:sp>
      <p:sp>
        <p:nvSpPr>
          <p:cNvPr id="28" name="Text 26"/>
          <p:cNvSpPr txBox="1"/>
          <p:nvPr/>
        </p:nvSpPr>
        <p:spPr>
          <a:xfrm>
            <a:off x="5806440" y="3278124"/>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9" name="Text 27"/>
          <p:cNvSpPr txBox="1"/>
          <p:nvPr/>
        </p:nvSpPr>
        <p:spPr>
          <a:xfrm>
            <a:off x="6217920" y="3182112"/>
            <a:ext cx="2514600" cy="237744"/>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Diffusion-based generation</a:t>
            </a:r>
            <a:endParaRPr lang="en-US" sz="1200" dirty="0"/>
          </a:p>
        </p:txBody>
      </p:sp>
      <p:sp>
        <p:nvSpPr>
          <p:cNvPr id="30" name="Text 28"/>
          <p:cNvSpPr txBox="1"/>
          <p:nvPr/>
        </p:nvSpPr>
        <p:spPr>
          <a:xfrm>
            <a:off x="6217920" y="3419856"/>
            <a:ext cx="5212080" cy="256032"/>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Iterative denoising for higher-fidelity plans</a:t>
            </a:r>
            <a:endParaRPr lang="en-US" sz="1100" dirty="0"/>
          </a:p>
        </p:txBody>
      </p:sp>
      <p:sp>
        <p:nvSpPr>
          <p:cNvPr id="31" name="Shape 29"/>
          <p:cNvSpPr/>
          <p:nvPr/>
        </p:nvSpPr>
        <p:spPr>
          <a:xfrm>
            <a:off x="5623560" y="3840480"/>
            <a:ext cx="6007608" cy="603504"/>
          </a:xfrm>
          <a:prstGeom prst="roundRect">
            <a:avLst>
              <a:gd name="adj" fmla="val 9091"/>
            </a:avLst>
          </a:prstGeom>
          <a:solidFill>
            <a:srgbClr val="EEF3F9"/>
          </a:solidFill>
          <a:ln w="12700">
            <a:solidFill>
              <a:srgbClr val="CBD8E6"/>
            </a:solidFill>
            <a:prstDash val="solid"/>
          </a:ln>
        </p:spPr>
      </p:sp>
      <p:sp>
        <p:nvSpPr>
          <p:cNvPr id="32" name="Shape 30"/>
          <p:cNvSpPr/>
          <p:nvPr/>
        </p:nvSpPr>
        <p:spPr>
          <a:xfrm>
            <a:off x="5806440" y="4000500"/>
            <a:ext cx="283464" cy="283464"/>
          </a:xfrm>
          <a:prstGeom prst="ellipse">
            <a:avLst/>
          </a:prstGeom>
          <a:solidFill>
            <a:srgbClr val="1F4E79"/>
          </a:solidFill>
          <a:ln w="12700">
            <a:solidFill>
              <a:srgbClr val="1F4E79"/>
            </a:solidFill>
            <a:prstDash val="solid"/>
          </a:ln>
        </p:spPr>
      </p:sp>
      <p:sp>
        <p:nvSpPr>
          <p:cNvPr id="33" name="Text 31"/>
          <p:cNvSpPr txBox="1"/>
          <p:nvPr/>
        </p:nvSpPr>
        <p:spPr>
          <a:xfrm>
            <a:off x="5806440" y="4000500"/>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4" name="Text 32"/>
          <p:cNvSpPr txBox="1"/>
          <p:nvPr/>
        </p:nvSpPr>
        <p:spPr>
          <a:xfrm>
            <a:off x="6217920" y="3904488"/>
            <a:ext cx="2514600" cy="237744"/>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RPLAN floor-plan dataset</a:t>
            </a:r>
            <a:endParaRPr lang="en-US" sz="1200" dirty="0"/>
          </a:p>
        </p:txBody>
      </p:sp>
      <p:sp>
        <p:nvSpPr>
          <p:cNvPr id="35" name="Text 33"/>
          <p:cNvSpPr txBox="1"/>
          <p:nvPr/>
        </p:nvSpPr>
        <p:spPr>
          <a:xfrm>
            <a:off x="6217920" y="4142232"/>
            <a:ext cx="5212080" cy="256032"/>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Large-scale real residential plans used for training</a:t>
            </a:r>
            <a:endParaRPr lang="en-US" sz="1100" dirty="0"/>
          </a:p>
        </p:txBody>
      </p:sp>
      <p:sp>
        <p:nvSpPr>
          <p:cNvPr id="36" name="Shape 34"/>
          <p:cNvSpPr/>
          <p:nvPr/>
        </p:nvSpPr>
        <p:spPr>
          <a:xfrm>
            <a:off x="5623560" y="4562856"/>
            <a:ext cx="6007608" cy="603504"/>
          </a:xfrm>
          <a:prstGeom prst="roundRect">
            <a:avLst>
              <a:gd name="adj" fmla="val 9091"/>
            </a:avLst>
          </a:prstGeom>
          <a:solidFill>
            <a:srgbClr val="EEF3F9"/>
          </a:solidFill>
          <a:ln w="12700">
            <a:solidFill>
              <a:srgbClr val="CBD8E6"/>
            </a:solidFill>
            <a:prstDash val="solid"/>
          </a:ln>
        </p:spPr>
      </p:sp>
      <p:sp>
        <p:nvSpPr>
          <p:cNvPr id="37" name="Shape 35"/>
          <p:cNvSpPr/>
          <p:nvPr/>
        </p:nvSpPr>
        <p:spPr>
          <a:xfrm>
            <a:off x="5806440" y="4722876"/>
            <a:ext cx="283464" cy="283464"/>
          </a:xfrm>
          <a:prstGeom prst="ellipse">
            <a:avLst/>
          </a:prstGeom>
          <a:solidFill>
            <a:srgbClr val="1F4E79"/>
          </a:solidFill>
          <a:ln w="12700">
            <a:solidFill>
              <a:srgbClr val="1F4E79"/>
            </a:solidFill>
            <a:prstDash val="solid"/>
          </a:ln>
        </p:spPr>
      </p:sp>
      <p:sp>
        <p:nvSpPr>
          <p:cNvPr id="38" name="Text 36"/>
          <p:cNvSpPr txBox="1"/>
          <p:nvPr/>
        </p:nvSpPr>
        <p:spPr>
          <a:xfrm>
            <a:off x="5806440" y="4722876"/>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9" name="Text 37"/>
          <p:cNvSpPr txBox="1"/>
          <p:nvPr/>
        </p:nvSpPr>
        <p:spPr>
          <a:xfrm>
            <a:off x="6217920" y="4626864"/>
            <a:ext cx="2514600" cy="237744"/>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Diversity techniques</a:t>
            </a:r>
            <a:endParaRPr lang="en-US" sz="1200" dirty="0"/>
          </a:p>
        </p:txBody>
      </p:sp>
      <p:sp>
        <p:nvSpPr>
          <p:cNvPr id="40" name="Text 38"/>
          <p:cNvSpPr txBox="1"/>
          <p:nvPr/>
        </p:nvSpPr>
        <p:spPr>
          <a:xfrm>
            <a:off x="6217920" y="4864608"/>
            <a:ext cx="5212080" cy="256032"/>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Intended to widen the variety of generated layouts</a:t>
            </a:r>
            <a:endParaRPr lang="en-US" sz="1100" dirty="0"/>
          </a:p>
        </p:txBody>
      </p:sp>
      <p:sp>
        <p:nvSpPr>
          <p:cNvPr id="41" name="Shape 39"/>
          <p:cNvSpPr/>
          <p:nvPr/>
        </p:nvSpPr>
        <p:spPr>
          <a:xfrm>
            <a:off x="5623560" y="5285232"/>
            <a:ext cx="6007608" cy="603504"/>
          </a:xfrm>
          <a:prstGeom prst="roundRect">
            <a:avLst>
              <a:gd name="adj" fmla="val 9091"/>
            </a:avLst>
          </a:prstGeom>
          <a:solidFill>
            <a:srgbClr val="EEF3F9"/>
          </a:solidFill>
          <a:ln w="12700">
            <a:solidFill>
              <a:srgbClr val="CBD8E6"/>
            </a:solidFill>
            <a:prstDash val="solid"/>
          </a:ln>
        </p:spPr>
      </p:sp>
      <p:sp>
        <p:nvSpPr>
          <p:cNvPr id="42" name="Shape 40"/>
          <p:cNvSpPr/>
          <p:nvPr/>
        </p:nvSpPr>
        <p:spPr>
          <a:xfrm>
            <a:off x="5806440" y="5445252"/>
            <a:ext cx="283464" cy="283464"/>
          </a:xfrm>
          <a:prstGeom prst="ellipse">
            <a:avLst/>
          </a:prstGeom>
          <a:solidFill>
            <a:srgbClr val="1F4E79"/>
          </a:solidFill>
          <a:ln w="12700">
            <a:solidFill>
              <a:srgbClr val="1F4E79"/>
            </a:solidFill>
            <a:prstDash val="solid"/>
          </a:ln>
        </p:spPr>
      </p:sp>
      <p:sp>
        <p:nvSpPr>
          <p:cNvPr id="43" name="Text 41"/>
          <p:cNvSpPr txBox="1"/>
          <p:nvPr/>
        </p:nvSpPr>
        <p:spPr>
          <a:xfrm>
            <a:off x="5806440" y="5445252"/>
            <a:ext cx="283464" cy="28346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4" name="Text 42"/>
          <p:cNvSpPr txBox="1"/>
          <p:nvPr/>
        </p:nvSpPr>
        <p:spPr>
          <a:xfrm>
            <a:off x="6217920" y="5349240"/>
            <a:ext cx="2514600" cy="237744"/>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Sampling-time reduction</a:t>
            </a:r>
            <a:endParaRPr lang="en-US" sz="1200" dirty="0"/>
          </a:p>
        </p:txBody>
      </p:sp>
      <p:sp>
        <p:nvSpPr>
          <p:cNvPr id="45" name="Text 43"/>
          <p:cNvSpPr txBox="1"/>
          <p:nvPr/>
        </p:nvSpPr>
        <p:spPr>
          <a:xfrm>
            <a:off x="6217920" y="5586984"/>
            <a:ext cx="5212080" cy="256032"/>
          </a:xfrm>
          <a:prstGeom prst="rect">
            <a:avLst/>
          </a:prstGeom>
          <a:noFill/>
          <a:ln/>
        </p:spPr>
        <p:txBody>
          <a:bodyPr wrap="square" lIns="0" tIns="0" rIns="0" bIns="0" rtlCol="0" anchor="ctr"/>
          <a:lstStyle/>
          <a:p>
            <a:pPr indent="0" marL="0">
              <a:buNone/>
            </a:pPr>
            <a:r>
              <a:rPr lang="en-US" sz="1100" dirty="0">
                <a:solidFill>
                  <a:srgbClr val="5B6B7C"/>
                </a:solidFill>
                <a:latin typeface="Calibri" pitchFamily="34" charset="0"/>
                <a:ea typeface="Calibri" pitchFamily="34" charset="-122"/>
                <a:cs typeface="Calibri" pitchFamily="34" charset="-120"/>
              </a:rPr>
              <a:t>Addresses the cost of diffusion sampling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327648"/>
            <a:ext cx="457200" cy="274320"/>
          </a:xfrm>
          <a:prstGeom prst="rect">
            <a:avLst/>
          </a:prstGeom>
          <a:noFill/>
          <a:ln/>
        </p:spPr>
        <p:txBody>
          <a:bodyPr wrap="square" lIns="0" tIns="0" rIns="0" bIns="0" rtlCol="0" anchor="ctr"/>
          <a:lstStyle/>
          <a:p>
            <a:pPr algn="r" indent="0" marL="0">
              <a:buNone/>
            </a:pPr>
            <a:r>
              <a:rPr lang="en-US" sz="900" dirty="0">
                <a:solidFill>
                  <a:srgbClr val="5C7C9E"/>
                </a:solidFill>
                <a:latin typeface="Calibri" pitchFamily="34" charset="0"/>
                <a:ea typeface="Calibri" pitchFamily="34" charset="-122"/>
                <a:cs typeface="Calibri" pitchFamily="34" charset="-120"/>
              </a:rPr>
              <a:t>04</a:t>
            </a:r>
            <a:endParaRPr lang="en-US" sz="900" dirty="0"/>
          </a:p>
        </p:txBody>
      </p:sp>
      <p:sp>
        <p:nvSpPr>
          <p:cNvPr id="3" name="Text 1"/>
          <p:cNvSpPr txBox="1"/>
          <p:nvPr/>
        </p:nvSpPr>
        <p:spPr>
          <a:xfrm>
            <a:off x="548640" y="310896"/>
            <a:ext cx="11064240" cy="502920"/>
          </a:xfrm>
          <a:prstGeom prst="rect">
            <a:avLst/>
          </a:prstGeom>
          <a:noFill/>
          <a:ln/>
        </p:spPr>
        <p:txBody>
          <a:bodyPr wrap="square" lIns="0" tIns="0" rIns="0" bIns="0" rtlCol="0" anchor="ctr"/>
          <a:lstStyle/>
          <a:p>
            <a:pPr indent="0" marL="0">
              <a:buNone/>
            </a:pPr>
            <a:r>
              <a:rPr lang="en-US" sz="2900" b="1" dirty="0">
                <a:solidFill>
                  <a:srgbClr val="13294B"/>
                </a:solidFill>
                <a:latin typeface="Cambria" pitchFamily="34" charset="0"/>
                <a:ea typeface="Cambria" pitchFamily="34" charset="-122"/>
                <a:cs typeface="Cambria" pitchFamily="34" charset="-120"/>
              </a:rPr>
              <a:t>HouseGanDi — Existing Approach</a:t>
            </a:r>
            <a:endParaRPr lang="en-US" sz="2900" dirty="0"/>
          </a:p>
        </p:txBody>
      </p:sp>
      <p:sp>
        <p:nvSpPr>
          <p:cNvPr id="4" name="Text 2"/>
          <p:cNvSpPr txBox="1"/>
          <p:nvPr/>
        </p:nvSpPr>
        <p:spPr>
          <a:xfrm>
            <a:off x="548640" y="841248"/>
            <a:ext cx="1106424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Hybrid GAN + diffusion pipeline trained on floor-plan data</a:t>
            </a:r>
            <a:endParaRPr lang="en-US" sz="1200" dirty="0"/>
          </a:p>
        </p:txBody>
      </p:sp>
      <p:sp>
        <p:nvSpPr>
          <p:cNvPr id="5" name="Shape 3"/>
          <p:cNvSpPr/>
          <p:nvPr/>
        </p:nvSpPr>
        <p:spPr>
          <a:xfrm>
            <a:off x="1874520" y="1371600"/>
            <a:ext cx="2743200" cy="457200"/>
          </a:xfrm>
          <a:prstGeom prst="roundRect">
            <a:avLst>
              <a:gd name="adj" fmla="val 10000"/>
            </a:avLst>
          </a:prstGeom>
          <a:solidFill>
            <a:srgbClr val="EEF3F9"/>
          </a:solidFill>
          <a:ln w="15875">
            <a:solidFill>
              <a:srgbClr val="1F4E79"/>
            </a:solidFill>
            <a:prstDash val="solid"/>
          </a:ln>
        </p:spPr>
      </p:sp>
      <p:sp>
        <p:nvSpPr>
          <p:cNvPr id="6" name="Text 4"/>
          <p:cNvSpPr txBox="1"/>
          <p:nvPr/>
        </p:nvSpPr>
        <p:spPr>
          <a:xfrm>
            <a:off x="1911096" y="1371600"/>
            <a:ext cx="2670048" cy="457200"/>
          </a:xfrm>
          <a:prstGeom prst="rect">
            <a:avLst/>
          </a:prstGeom>
          <a:noFill/>
          <a:ln/>
        </p:spPr>
        <p:txBody>
          <a:bodyPr wrap="square" lIns="0" tIns="0" rIns="0" bIns="0" rtlCol="0" anchor="ctr"/>
          <a:lstStyle/>
          <a:p>
            <a:pPr algn="ctr" indent="0" marL="0">
              <a:buNone/>
            </a:pPr>
            <a:r>
              <a:rPr lang="en-US" sz="1150" b="1" dirty="0">
                <a:solidFill>
                  <a:srgbClr val="13294B"/>
                </a:solidFill>
                <a:latin typeface="Calibri" pitchFamily="34" charset="0"/>
                <a:ea typeface="Calibri" pitchFamily="34" charset="-122"/>
                <a:cs typeface="Calibri" pitchFamily="34" charset="-120"/>
              </a:rPr>
              <a:t>RPLAN Dataset</a:t>
            </a:r>
            <a:endParaRPr lang="en-US" sz="1150" dirty="0"/>
          </a:p>
        </p:txBody>
      </p:sp>
      <p:sp>
        <p:nvSpPr>
          <p:cNvPr id="7" name="Shape 5"/>
          <p:cNvSpPr/>
          <p:nvPr/>
        </p:nvSpPr>
        <p:spPr>
          <a:xfrm>
            <a:off x="3246120" y="1828800"/>
            <a:ext cx="0" cy="310896"/>
          </a:xfrm>
          <a:prstGeom prst="line">
            <a:avLst/>
          </a:prstGeom>
          <a:noFill/>
          <a:ln w="19050">
            <a:solidFill>
              <a:srgbClr val="5C7C9E"/>
            </a:solidFill>
            <a:prstDash val="solid"/>
            <a:tailEnd type="triangle"/>
          </a:ln>
        </p:spPr>
      </p:sp>
      <p:sp>
        <p:nvSpPr>
          <p:cNvPr id="8" name="Shape 6"/>
          <p:cNvSpPr/>
          <p:nvPr/>
        </p:nvSpPr>
        <p:spPr>
          <a:xfrm>
            <a:off x="1874520" y="2139696"/>
            <a:ext cx="2743200" cy="457200"/>
          </a:xfrm>
          <a:prstGeom prst="roundRect">
            <a:avLst>
              <a:gd name="adj" fmla="val 10000"/>
            </a:avLst>
          </a:prstGeom>
          <a:solidFill>
            <a:srgbClr val="EEF3F9"/>
          </a:solidFill>
          <a:ln w="15875">
            <a:solidFill>
              <a:srgbClr val="1F4E79"/>
            </a:solidFill>
            <a:prstDash val="solid"/>
          </a:ln>
        </p:spPr>
      </p:sp>
      <p:sp>
        <p:nvSpPr>
          <p:cNvPr id="9" name="Text 7"/>
          <p:cNvSpPr txBox="1"/>
          <p:nvPr/>
        </p:nvSpPr>
        <p:spPr>
          <a:xfrm>
            <a:off x="1911096" y="2139696"/>
            <a:ext cx="2670048" cy="457200"/>
          </a:xfrm>
          <a:prstGeom prst="rect">
            <a:avLst/>
          </a:prstGeom>
          <a:noFill/>
          <a:ln/>
        </p:spPr>
        <p:txBody>
          <a:bodyPr wrap="square" lIns="0" tIns="0" rIns="0" bIns="0" rtlCol="0" anchor="ctr"/>
          <a:lstStyle/>
          <a:p>
            <a:pPr algn="ctr" indent="0" marL="0">
              <a:buNone/>
            </a:pPr>
            <a:r>
              <a:rPr lang="en-US" sz="1150" b="1" dirty="0">
                <a:solidFill>
                  <a:srgbClr val="13294B"/>
                </a:solidFill>
                <a:latin typeface="Calibri" pitchFamily="34" charset="0"/>
                <a:ea typeface="Calibri" pitchFamily="34" charset="-122"/>
                <a:cs typeface="Calibri" pitchFamily="34" charset="-120"/>
              </a:rPr>
              <a:t>Floor-Plan Training</a:t>
            </a:r>
            <a:endParaRPr lang="en-US" sz="1150" dirty="0"/>
          </a:p>
        </p:txBody>
      </p:sp>
      <p:sp>
        <p:nvSpPr>
          <p:cNvPr id="10" name="Shape 8"/>
          <p:cNvSpPr/>
          <p:nvPr/>
        </p:nvSpPr>
        <p:spPr>
          <a:xfrm>
            <a:off x="3246120" y="2596896"/>
            <a:ext cx="0" cy="164592"/>
          </a:xfrm>
          <a:prstGeom prst="line">
            <a:avLst/>
          </a:prstGeom>
          <a:noFill/>
          <a:ln w="19050">
            <a:solidFill>
              <a:srgbClr val="5C7C9E"/>
            </a:solidFill>
            <a:prstDash val="solid"/>
          </a:ln>
        </p:spPr>
      </p:sp>
      <p:sp>
        <p:nvSpPr>
          <p:cNvPr id="11" name="Shape 9"/>
          <p:cNvSpPr/>
          <p:nvPr/>
        </p:nvSpPr>
        <p:spPr>
          <a:xfrm>
            <a:off x="1691640" y="2761488"/>
            <a:ext cx="3108960" cy="0"/>
          </a:xfrm>
          <a:prstGeom prst="line">
            <a:avLst/>
          </a:prstGeom>
          <a:noFill/>
          <a:ln w="19050">
            <a:solidFill>
              <a:srgbClr val="5C7C9E"/>
            </a:solidFill>
            <a:prstDash val="solid"/>
          </a:ln>
        </p:spPr>
      </p:sp>
      <p:sp>
        <p:nvSpPr>
          <p:cNvPr id="12" name="Shape 10"/>
          <p:cNvSpPr/>
          <p:nvPr/>
        </p:nvSpPr>
        <p:spPr>
          <a:xfrm>
            <a:off x="1691640" y="2761488"/>
            <a:ext cx="0" cy="146304"/>
          </a:xfrm>
          <a:prstGeom prst="line">
            <a:avLst/>
          </a:prstGeom>
          <a:noFill/>
          <a:ln w="19050">
            <a:solidFill>
              <a:srgbClr val="5C7C9E"/>
            </a:solidFill>
            <a:prstDash val="solid"/>
            <a:tailEnd type="triangle"/>
          </a:ln>
        </p:spPr>
      </p:sp>
      <p:sp>
        <p:nvSpPr>
          <p:cNvPr id="13" name="Shape 11"/>
          <p:cNvSpPr/>
          <p:nvPr/>
        </p:nvSpPr>
        <p:spPr>
          <a:xfrm>
            <a:off x="4800600" y="2761488"/>
            <a:ext cx="0" cy="146304"/>
          </a:xfrm>
          <a:prstGeom prst="line">
            <a:avLst/>
          </a:prstGeom>
          <a:noFill/>
          <a:ln w="19050">
            <a:solidFill>
              <a:srgbClr val="5C7C9E"/>
            </a:solidFill>
            <a:prstDash val="solid"/>
            <a:tailEnd type="triangle"/>
          </a:ln>
        </p:spPr>
      </p:sp>
      <p:sp>
        <p:nvSpPr>
          <p:cNvPr id="14" name="Shape 12"/>
          <p:cNvSpPr/>
          <p:nvPr/>
        </p:nvSpPr>
        <p:spPr>
          <a:xfrm>
            <a:off x="640080" y="2907792"/>
            <a:ext cx="2103120" cy="457200"/>
          </a:xfrm>
          <a:prstGeom prst="roundRect">
            <a:avLst>
              <a:gd name="adj" fmla="val 10000"/>
            </a:avLst>
          </a:prstGeom>
          <a:solidFill>
            <a:srgbClr val="FFFFFF"/>
          </a:solidFill>
          <a:ln w="15875">
            <a:solidFill>
              <a:srgbClr val="C05621"/>
            </a:solidFill>
            <a:prstDash val="solid"/>
          </a:ln>
        </p:spPr>
      </p:sp>
      <p:sp>
        <p:nvSpPr>
          <p:cNvPr id="15" name="Text 13"/>
          <p:cNvSpPr txBox="1"/>
          <p:nvPr/>
        </p:nvSpPr>
        <p:spPr>
          <a:xfrm>
            <a:off x="676656" y="2907792"/>
            <a:ext cx="2029968" cy="457200"/>
          </a:xfrm>
          <a:prstGeom prst="rect">
            <a:avLst/>
          </a:prstGeom>
          <a:noFill/>
          <a:ln/>
        </p:spPr>
        <p:txBody>
          <a:bodyPr wrap="square" lIns="0" tIns="0" rIns="0" bIns="0" rtlCol="0" anchor="ctr"/>
          <a:lstStyle/>
          <a:p>
            <a:pPr algn="ctr" indent="0" marL="0">
              <a:buNone/>
            </a:pPr>
            <a:r>
              <a:rPr lang="en-US" sz="1150" b="1" dirty="0">
                <a:solidFill>
                  <a:srgbClr val="C05621"/>
                </a:solidFill>
                <a:latin typeface="Calibri" pitchFamily="34" charset="0"/>
                <a:ea typeface="Calibri" pitchFamily="34" charset="-122"/>
                <a:cs typeface="Calibri" pitchFamily="34" charset="-120"/>
              </a:rPr>
              <a:t>GAN Component</a:t>
            </a:r>
            <a:endParaRPr lang="en-US" sz="1150" dirty="0"/>
          </a:p>
        </p:txBody>
      </p:sp>
      <p:sp>
        <p:nvSpPr>
          <p:cNvPr id="16" name="Shape 14"/>
          <p:cNvSpPr/>
          <p:nvPr/>
        </p:nvSpPr>
        <p:spPr>
          <a:xfrm>
            <a:off x="3749040" y="2907792"/>
            <a:ext cx="2103120" cy="457200"/>
          </a:xfrm>
          <a:prstGeom prst="roundRect">
            <a:avLst>
              <a:gd name="adj" fmla="val 10000"/>
            </a:avLst>
          </a:prstGeom>
          <a:solidFill>
            <a:srgbClr val="FFFFFF"/>
          </a:solidFill>
          <a:ln w="15875">
            <a:solidFill>
              <a:srgbClr val="C05621"/>
            </a:solidFill>
            <a:prstDash val="solid"/>
          </a:ln>
        </p:spPr>
      </p:sp>
      <p:sp>
        <p:nvSpPr>
          <p:cNvPr id="17" name="Text 15"/>
          <p:cNvSpPr txBox="1"/>
          <p:nvPr/>
        </p:nvSpPr>
        <p:spPr>
          <a:xfrm>
            <a:off x="3785616" y="2907792"/>
            <a:ext cx="2029968" cy="457200"/>
          </a:xfrm>
          <a:prstGeom prst="rect">
            <a:avLst/>
          </a:prstGeom>
          <a:noFill/>
          <a:ln/>
        </p:spPr>
        <p:txBody>
          <a:bodyPr wrap="square" lIns="0" tIns="0" rIns="0" bIns="0" rtlCol="0" anchor="ctr"/>
          <a:lstStyle/>
          <a:p>
            <a:pPr algn="ctr" indent="0" marL="0">
              <a:buNone/>
            </a:pPr>
            <a:r>
              <a:rPr lang="en-US" sz="1100" b="1" dirty="0">
                <a:solidFill>
                  <a:srgbClr val="C05621"/>
                </a:solidFill>
                <a:latin typeface="Calibri" pitchFamily="34" charset="0"/>
                <a:ea typeface="Calibri" pitchFamily="34" charset="-122"/>
                <a:cs typeface="Calibri" pitchFamily="34" charset="-120"/>
              </a:rPr>
              <a:t>Diffusion Component</a:t>
            </a:r>
            <a:endParaRPr lang="en-US" sz="1100" dirty="0"/>
          </a:p>
        </p:txBody>
      </p:sp>
      <p:sp>
        <p:nvSpPr>
          <p:cNvPr id="18" name="Shape 16"/>
          <p:cNvSpPr/>
          <p:nvPr/>
        </p:nvSpPr>
        <p:spPr>
          <a:xfrm>
            <a:off x="1691640" y="3364992"/>
            <a:ext cx="0" cy="164592"/>
          </a:xfrm>
          <a:prstGeom prst="line">
            <a:avLst/>
          </a:prstGeom>
          <a:noFill/>
          <a:ln w="19050">
            <a:solidFill>
              <a:srgbClr val="5C7C9E"/>
            </a:solidFill>
            <a:prstDash val="solid"/>
          </a:ln>
        </p:spPr>
      </p:sp>
      <p:sp>
        <p:nvSpPr>
          <p:cNvPr id="19" name="Shape 17"/>
          <p:cNvSpPr/>
          <p:nvPr/>
        </p:nvSpPr>
        <p:spPr>
          <a:xfrm>
            <a:off x="4800600" y="3364992"/>
            <a:ext cx="0" cy="164592"/>
          </a:xfrm>
          <a:prstGeom prst="line">
            <a:avLst/>
          </a:prstGeom>
          <a:noFill/>
          <a:ln w="19050">
            <a:solidFill>
              <a:srgbClr val="5C7C9E"/>
            </a:solidFill>
            <a:prstDash val="solid"/>
          </a:ln>
        </p:spPr>
      </p:sp>
      <p:sp>
        <p:nvSpPr>
          <p:cNvPr id="20" name="Shape 18"/>
          <p:cNvSpPr/>
          <p:nvPr/>
        </p:nvSpPr>
        <p:spPr>
          <a:xfrm>
            <a:off x="1691640" y="3529584"/>
            <a:ext cx="3108960" cy="0"/>
          </a:xfrm>
          <a:prstGeom prst="line">
            <a:avLst/>
          </a:prstGeom>
          <a:noFill/>
          <a:ln w="19050">
            <a:solidFill>
              <a:srgbClr val="5C7C9E"/>
            </a:solidFill>
            <a:prstDash val="solid"/>
          </a:ln>
        </p:spPr>
      </p:sp>
      <p:sp>
        <p:nvSpPr>
          <p:cNvPr id="21" name="Shape 19"/>
          <p:cNvSpPr/>
          <p:nvPr/>
        </p:nvSpPr>
        <p:spPr>
          <a:xfrm>
            <a:off x="3246120" y="3529584"/>
            <a:ext cx="0" cy="146304"/>
          </a:xfrm>
          <a:prstGeom prst="line">
            <a:avLst/>
          </a:prstGeom>
          <a:noFill/>
          <a:ln w="19050">
            <a:solidFill>
              <a:srgbClr val="5C7C9E"/>
            </a:solidFill>
            <a:prstDash val="solid"/>
            <a:tailEnd type="triangle"/>
          </a:ln>
        </p:spPr>
      </p:sp>
      <p:sp>
        <p:nvSpPr>
          <p:cNvPr id="22" name="Shape 20"/>
          <p:cNvSpPr/>
          <p:nvPr/>
        </p:nvSpPr>
        <p:spPr>
          <a:xfrm>
            <a:off x="1874520" y="3675888"/>
            <a:ext cx="2743200" cy="457200"/>
          </a:xfrm>
          <a:prstGeom prst="roundRect">
            <a:avLst>
              <a:gd name="adj" fmla="val 10000"/>
            </a:avLst>
          </a:prstGeom>
          <a:solidFill>
            <a:srgbClr val="13294B"/>
          </a:solidFill>
          <a:ln w="15875">
            <a:solidFill>
              <a:srgbClr val="13294B"/>
            </a:solidFill>
            <a:prstDash val="solid"/>
          </a:ln>
        </p:spPr>
      </p:sp>
      <p:sp>
        <p:nvSpPr>
          <p:cNvPr id="23" name="Text 21"/>
          <p:cNvSpPr txBox="1"/>
          <p:nvPr/>
        </p:nvSpPr>
        <p:spPr>
          <a:xfrm>
            <a:off x="1911096" y="3675888"/>
            <a:ext cx="2670048" cy="4572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Hybrid Generation</a:t>
            </a:r>
            <a:endParaRPr lang="en-US" sz="1150" dirty="0"/>
          </a:p>
        </p:txBody>
      </p:sp>
      <p:sp>
        <p:nvSpPr>
          <p:cNvPr id="24" name="Shape 22"/>
          <p:cNvSpPr/>
          <p:nvPr/>
        </p:nvSpPr>
        <p:spPr>
          <a:xfrm>
            <a:off x="3246120" y="4133088"/>
            <a:ext cx="0" cy="310896"/>
          </a:xfrm>
          <a:prstGeom prst="line">
            <a:avLst/>
          </a:prstGeom>
          <a:noFill/>
          <a:ln w="19050">
            <a:solidFill>
              <a:srgbClr val="5C7C9E"/>
            </a:solidFill>
            <a:prstDash val="solid"/>
            <a:tailEnd type="triangle"/>
          </a:ln>
        </p:spPr>
      </p:sp>
      <p:sp>
        <p:nvSpPr>
          <p:cNvPr id="25" name="Shape 23"/>
          <p:cNvSpPr/>
          <p:nvPr/>
        </p:nvSpPr>
        <p:spPr>
          <a:xfrm>
            <a:off x="1874520" y="4443984"/>
            <a:ext cx="2743200" cy="457200"/>
          </a:xfrm>
          <a:prstGeom prst="roundRect">
            <a:avLst>
              <a:gd name="adj" fmla="val 10000"/>
            </a:avLst>
          </a:prstGeom>
          <a:solidFill>
            <a:srgbClr val="EEF3F9"/>
          </a:solidFill>
          <a:ln w="15875">
            <a:solidFill>
              <a:srgbClr val="1F4E79"/>
            </a:solidFill>
            <a:prstDash val="solid"/>
          </a:ln>
        </p:spPr>
      </p:sp>
      <p:sp>
        <p:nvSpPr>
          <p:cNvPr id="26" name="Text 24"/>
          <p:cNvSpPr txBox="1"/>
          <p:nvPr/>
        </p:nvSpPr>
        <p:spPr>
          <a:xfrm>
            <a:off x="1911096" y="4443984"/>
            <a:ext cx="2670048" cy="457200"/>
          </a:xfrm>
          <a:prstGeom prst="rect">
            <a:avLst/>
          </a:prstGeom>
          <a:noFill/>
          <a:ln/>
        </p:spPr>
        <p:txBody>
          <a:bodyPr wrap="square" lIns="0" tIns="0" rIns="0" bIns="0" rtlCol="0" anchor="ctr"/>
          <a:lstStyle/>
          <a:p>
            <a:pPr algn="ctr" indent="0" marL="0">
              <a:buNone/>
            </a:pPr>
            <a:r>
              <a:rPr lang="en-US" sz="1150" b="1" dirty="0">
                <a:solidFill>
                  <a:srgbClr val="13294B"/>
                </a:solidFill>
                <a:latin typeface="Calibri" pitchFamily="34" charset="0"/>
                <a:ea typeface="Calibri" pitchFamily="34" charset="-122"/>
                <a:cs typeface="Calibri" pitchFamily="34" charset="-120"/>
              </a:rPr>
              <a:t>Generated Floor Plans</a:t>
            </a:r>
            <a:endParaRPr lang="en-US" sz="1150" dirty="0"/>
          </a:p>
        </p:txBody>
      </p:sp>
      <p:sp>
        <p:nvSpPr>
          <p:cNvPr id="27" name="Shape 25"/>
          <p:cNvSpPr/>
          <p:nvPr/>
        </p:nvSpPr>
        <p:spPr>
          <a:xfrm>
            <a:off x="3246120" y="4901184"/>
            <a:ext cx="0" cy="310896"/>
          </a:xfrm>
          <a:prstGeom prst="line">
            <a:avLst/>
          </a:prstGeom>
          <a:noFill/>
          <a:ln w="19050">
            <a:solidFill>
              <a:srgbClr val="5C7C9E"/>
            </a:solidFill>
            <a:prstDash val="solid"/>
            <a:tailEnd type="triangle"/>
          </a:ln>
        </p:spPr>
      </p:sp>
      <p:sp>
        <p:nvSpPr>
          <p:cNvPr id="28" name="Shape 26"/>
          <p:cNvSpPr/>
          <p:nvPr/>
        </p:nvSpPr>
        <p:spPr>
          <a:xfrm>
            <a:off x="1874520" y="5212080"/>
            <a:ext cx="2743200" cy="457200"/>
          </a:xfrm>
          <a:prstGeom prst="roundRect">
            <a:avLst>
              <a:gd name="adj" fmla="val 10000"/>
            </a:avLst>
          </a:prstGeom>
          <a:solidFill>
            <a:srgbClr val="EEF3F9"/>
          </a:solidFill>
          <a:ln w="15875">
            <a:solidFill>
              <a:srgbClr val="1F4E79"/>
            </a:solidFill>
            <a:prstDash val="solid"/>
          </a:ln>
        </p:spPr>
      </p:sp>
      <p:sp>
        <p:nvSpPr>
          <p:cNvPr id="29" name="Text 27"/>
          <p:cNvSpPr txBox="1"/>
          <p:nvPr/>
        </p:nvSpPr>
        <p:spPr>
          <a:xfrm>
            <a:off x="1911096" y="5212080"/>
            <a:ext cx="2670048" cy="457200"/>
          </a:xfrm>
          <a:prstGeom prst="rect">
            <a:avLst/>
          </a:prstGeom>
          <a:noFill/>
          <a:ln/>
        </p:spPr>
        <p:txBody>
          <a:bodyPr wrap="square" lIns="0" tIns="0" rIns="0" bIns="0"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Evaluate Diversity / Quality</a:t>
            </a:r>
            <a:endParaRPr lang="en-US" sz="1100" dirty="0"/>
          </a:p>
        </p:txBody>
      </p:sp>
      <p:sp>
        <p:nvSpPr>
          <p:cNvPr id="30" name="Text 28"/>
          <p:cNvSpPr txBox="1"/>
          <p:nvPr/>
        </p:nvSpPr>
        <p:spPr>
          <a:xfrm>
            <a:off x="6675120" y="1371600"/>
            <a:ext cx="4937760" cy="274320"/>
          </a:xfrm>
          <a:prstGeom prst="rect">
            <a:avLst/>
          </a:prstGeom>
          <a:noFill/>
          <a:ln/>
        </p:spPr>
        <p:txBody>
          <a:bodyPr wrap="square" lIns="0" tIns="0" rIns="0" bIns="0" rtlCol="0" anchor="ctr"/>
          <a:lstStyle/>
          <a:p>
            <a:pPr indent="0" marL="0">
              <a:buNone/>
            </a:pPr>
            <a:r>
              <a:rPr lang="en-US" sz="1400" b="1" dirty="0">
                <a:solidFill>
                  <a:srgbClr val="13294B"/>
                </a:solidFill>
                <a:latin typeface="Cambria" pitchFamily="34" charset="0"/>
                <a:ea typeface="Cambria" pitchFamily="34" charset="-122"/>
                <a:cs typeface="Cambria" pitchFamily="34" charset="-120"/>
              </a:rPr>
              <a:t>Strengths</a:t>
            </a:r>
            <a:endParaRPr lang="en-US" sz="1400" dirty="0"/>
          </a:p>
        </p:txBody>
      </p:sp>
      <p:sp>
        <p:nvSpPr>
          <p:cNvPr id="31" name="Text 29"/>
          <p:cNvSpPr txBox="1"/>
          <p:nvPr/>
        </p:nvSpPr>
        <p:spPr>
          <a:xfrm>
            <a:off x="6675120" y="1700784"/>
            <a:ext cx="4956048" cy="137160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Automatic floor-plan synthesis</a:t>
            </a:r>
            <a:endParaRPr lang="en-US" sz="1250" dirty="0"/>
          </a:p>
          <a:p>
            <a:pPr marL="177800" indent="-1778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Uses generative deep learning</a:t>
            </a:r>
            <a:endParaRPr lang="en-US" sz="1250" dirty="0"/>
          </a:p>
          <a:p>
            <a:pPr marL="177800" indent="-1778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Produces diverse layouts</a:t>
            </a:r>
            <a:endParaRPr lang="en-US" sz="1250" dirty="0"/>
          </a:p>
          <a:p>
            <a:pPr marL="177800" indent="-1778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Addresses diffusion sampling time</a:t>
            </a:r>
            <a:endParaRPr lang="en-US" sz="1250" dirty="0"/>
          </a:p>
        </p:txBody>
      </p:sp>
      <p:sp>
        <p:nvSpPr>
          <p:cNvPr id="32" name="Shape 30"/>
          <p:cNvSpPr/>
          <p:nvPr/>
        </p:nvSpPr>
        <p:spPr>
          <a:xfrm>
            <a:off x="6675120" y="3246120"/>
            <a:ext cx="4956048" cy="1207008"/>
          </a:xfrm>
          <a:prstGeom prst="roundRect">
            <a:avLst>
              <a:gd name="adj" fmla="val 4545"/>
            </a:avLst>
          </a:prstGeom>
          <a:solidFill>
            <a:srgbClr val="EEF3F9"/>
          </a:solidFill>
          <a:ln w="12700">
            <a:solidFill>
              <a:srgbClr val="CBD8E6"/>
            </a:solidFill>
            <a:prstDash val="solid"/>
          </a:ln>
        </p:spPr>
      </p:sp>
      <p:sp>
        <p:nvSpPr>
          <p:cNvPr id="33" name="Text 31"/>
          <p:cNvSpPr txBox="1"/>
          <p:nvPr/>
        </p:nvSpPr>
        <p:spPr>
          <a:xfrm>
            <a:off x="6903720" y="3419856"/>
            <a:ext cx="4572000" cy="274320"/>
          </a:xfrm>
          <a:prstGeom prst="rect">
            <a:avLst/>
          </a:prstGeom>
          <a:noFill/>
          <a:ln/>
        </p:spPr>
        <p:txBody>
          <a:bodyPr wrap="square" lIns="0" tIns="0" rIns="0" bIns="0" rtlCol="0" anchor="ctr"/>
          <a:lstStyle/>
          <a:p>
            <a:pPr indent="0" marL="0">
              <a:buNone/>
            </a:pPr>
            <a:r>
              <a:rPr lang="en-US" sz="1300" b="1" dirty="0">
                <a:solidFill>
                  <a:srgbClr val="13294B"/>
                </a:solidFill>
                <a:latin typeface="Cambria" pitchFamily="34" charset="0"/>
                <a:ea typeface="Cambria" pitchFamily="34" charset="-122"/>
                <a:cs typeface="Cambria" pitchFamily="34" charset="-120"/>
              </a:rPr>
              <a:t>Reported outcome</a:t>
            </a:r>
            <a:endParaRPr lang="en-US" sz="1300" dirty="0"/>
          </a:p>
        </p:txBody>
      </p:sp>
      <p:sp>
        <p:nvSpPr>
          <p:cNvPr id="34" name="Text 32"/>
          <p:cNvSpPr txBox="1"/>
          <p:nvPr/>
        </p:nvSpPr>
        <p:spPr>
          <a:xfrm>
            <a:off x="6903720" y="3730752"/>
            <a:ext cx="4526280" cy="91440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B2430"/>
                </a:solidFill>
                <a:latin typeface="Calibri" pitchFamily="34" charset="0"/>
                <a:ea typeface="Calibri" pitchFamily="34" charset="-122"/>
                <a:cs typeface="Calibri" pitchFamily="34" charset="-120"/>
              </a:rPr>
              <a:t>Improved diversity compared with HouseDiffusion</a:t>
            </a:r>
            <a:endParaRPr lang="en-US" sz="1200" dirty="0"/>
          </a:p>
          <a:p>
            <a:pPr marL="177800" indent="-177800">
              <a:spcAft>
                <a:spcPts val="700"/>
              </a:spcAft>
              <a:buSzPct val="100000"/>
              <a:buChar char="•"/>
            </a:pPr>
            <a:r>
              <a:rPr lang="en-US" sz="1200" dirty="0">
                <a:solidFill>
                  <a:srgbClr val="1B2430"/>
                </a:solidFill>
                <a:latin typeface="Calibri" pitchFamily="34" charset="0"/>
                <a:ea typeface="Calibri" pitchFamily="34" charset="-122"/>
                <a:cs typeface="Calibri" pitchFamily="34" charset="-120"/>
              </a:rPr>
              <a:t>Reduced generation time</a:t>
            </a:r>
            <a:endParaRPr lang="en-US" sz="1200" dirty="0"/>
          </a:p>
        </p:txBody>
      </p:sp>
      <p:sp>
        <p:nvSpPr>
          <p:cNvPr id="35" name="Text 33"/>
          <p:cNvSpPr txBox="1"/>
          <p:nvPr/>
        </p:nvSpPr>
        <p:spPr>
          <a:xfrm>
            <a:off x="6675120" y="4828032"/>
            <a:ext cx="4956048" cy="365760"/>
          </a:xfrm>
          <a:prstGeom prst="rect">
            <a:avLst/>
          </a:prstGeom>
          <a:noFill/>
          <a:ln/>
        </p:spPr>
        <p:txBody>
          <a:bodyPr wrap="square" lIns="0" tIns="0" rIns="0" bIns="0" rtlCol="0" anchor="ctr"/>
          <a:lstStyle/>
          <a:p>
            <a:pPr indent="0" marL="0">
              <a:buNone/>
            </a:pPr>
            <a:r>
              <a:rPr lang="en-US" sz="1050" i="1" dirty="0">
                <a:solidFill>
                  <a:srgbClr val="5B6B7C"/>
                </a:solidFill>
                <a:latin typeface="Calibri" pitchFamily="34" charset="0"/>
                <a:ea typeface="Calibri" pitchFamily="34" charset="-122"/>
                <a:cs typeface="Calibri" pitchFamily="34" charset="-120"/>
              </a:rPr>
              <a:t>Qualitative summary only — no numerical values are reproduced here.</a:t>
            </a:r>
            <a:endParaRPr lang="en-US" sz="1050" dirty="0"/>
          </a:p>
        </p:txBody>
      </p:sp>
      <p:sp>
        <p:nvSpPr>
          <p:cNvPr id="36" name="Shape 34"/>
          <p:cNvSpPr/>
          <p:nvPr/>
        </p:nvSpPr>
        <p:spPr>
          <a:xfrm>
            <a:off x="6675120" y="5230368"/>
            <a:ext cx="4956048" cy="868680"/>
          </a:xfrm>
          <a:prstGeom prst="roundRect">
            <a:avLst>
              <a:gd name="adj" fmla="val 6316"/>
            </a:avLst>
          </a:prstGeom>
          <a:solidFill>
            <a:srgbClr val="13294B"/>
          </a:solidFill>
          <a:ln w="12700">
            <a:solidFill>
              <a:srgbClr val="13294B"/>
            </a:solidFill>
            <a:prstDash val="solid"/>
          </a:ln>
        </p:spPr>
      </p:sp>
      <p:sp>
        <p:nvSpPr>
          <p:cNvPr id="37" name="Text 35"/>
          <p:cNvSpPr txBox="1"/>
          <p:nvPr/>
        </p:nvSpPr>
        <p:spPr>
          <a:xfrm>
            <a:off x="6903720" y="5349240"/>
            <a:ext cx="4572000" cy="219456"/>
          </a:xfrm>
          <a:prstGeom prst="rect">
            <a:avLst/>
          </a:prstGeom>
          <a:noFill/>
          <a:ln/>
        </p:spPr>
        <p:txBody>
          <a:bodyPr wrap="square" lIns="0" tIns="0" rIns="0" bIns="0" rtlCol="0" anchor="ctr"/>
          <a:lstStyle/>
          <a:p>
            <a:pPr indent="0" marL="0">
              <a:buNone/>
            </a:pPr>
            <a:r>
              <a:rPr lang="en-US" sz="950" b="1" spc="120" kern="0" dirty="0">
                <a:solidFill>
                  <a:srgbClr val="9FB8D6"/>
                </a:solidFill>
                <a:latin typeface="Calibri" pitchFamily="34" charset="0"/>
                <a:ea typeface="Calibri" pitchFamily="34" charset="-122"/>
                <a:cs typeface="Calibri" pitchFamily="34" charset="-120"/>
              </a:rPr>
              <a:t>BASE-PAPER CONTRIBUTION</a:t>
            </a:r>
            <a:endParaRPr lang="en-US" sz="950" dirty="0"/>
          </a:p>
        </p:txBody>
      </p:sp>
      <p:sp>
        <p:nvSpPr>
          <p:cNvPr id="38" name="Text 36"/>
          <p:cNvSpPr txBox="1"/>
          <p:nvPr/>
        </p:nvSpPr>
        <p:spPr>
          <a:xfrm>
            <a:off x="6903720" y="5596128"/>
            <a:ext cx="4572000" cy="38404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Efficient and diverse floor-plan generation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327648"/>
            <a:ext cx="457200" cy="274320"/>
          </a:xfrm>
          <a:prstGeom prst="rect">
            <a:avLst/>
          </a:prstGeom>
          <a:noFill/>
          <a:ln/>
        </p:spPr>
        <p:txBody>
          <a:bodyPr wrap="square" lIns="0" tIns="0" rIns="0" bIns="0" rtlCol="0" anchor="ctr"/>
          <a:lstStyle/>
          <a:p>
            <a:pPr algn="r" indent="0" marL="0">
              <a:buNone/>
            </a:pPr>
            <a:r>
              <a:rPr lang="en-US" sz="900" dirty="0">
                <a:solidFill>
                  <a:srgbClr val="5C7C9E"/>
                </a:solidFill>
                <a:latin typeface="Calibri" pitchFamily="34" charset="0"/>
                <a:ea typeface="Calibri" pitchFamily="34" charset="-122"/>
                <a:cs typeface="Calibri" pitchFamily="34" charset="-120"/>
              </a:rPr>
              <a:t>05</a:t>
            </a:r>
            <a:endParaRPr lang="en-US" sz="900" dirty="0"/>
          </a:p>
        </p:txBody>
      </p:sp>
      <p:sp>
        <p:nvSpPr>
          <p:cNvPr id="3" name="Text 1"/>
          <p:cNvSpPr txBox="1"/>
          <p:nvPr/>
        </p:nvSpPr>
        <p:spPr>
          <a:xfrm>
            <a:off x="548640" y="310896"/>
            <a:ext cx="11064240" cy="502920"/>
          </a:xfrm>
          <a:prstGeom prst="rect">
            <a:avLst/>
          </a:prstGeom>
          <a:noFill/>
          <a:ln/>
        </p:spPr>
        <p:txBody>
          <a:bodyPr wrap="square" lIns="0" tIns="0" rIns="0" bIns="0" rtlCol="0" anchor="ctr"/>
          <a:lstStyle/>
          <a:p>
            <a:pPr indent="0" marL="0">
              <a:buNone/>
            </a:pPr>
            <a:r>
              <a:rPr lang="en-US" sz="2900" b="1" dirty="0">
                <a:solidFill>
                  <a:srgbClr val="13294B"/>
                </a:solidFill>
                <a:latin typeface="Cambria" pitchFamily="34" charset="0"/>
                <a:ea typeface="Cambria" pitchFamily="34" charset="-122"/>
                <a:cs typeface="Cambria" pitchFamily="34" charset="-120"/>
              </a:rPr>
              <a:t>Research Gap</a:t>
            </a:r>
            <a:endParaRPr lang="en-US" sz="2900" dirty="0"/>
          </a:p>
        </p:txBody>
      </p:sp>
      <p:sp>
        <p:nvSpPr>
          <p:cNvPr id="4" name="Text 2"/>
          <p:cNvSpPr txBox="1"/>
          <p:nvPr/>
        </p:nvSpPr>
        <p:spPr>
          <a:xfrm>
            <a:off x="548640" y="841248"/>
            <a:ext cx="1106424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From efficient generation towards requirement-driven spatial reasoning</a:t>
            </a:r>
            <a:endParaRPr lang="en-US" sz="1200" dirty="0"/>
          </a:p>
        </p:txBody>
      </p:sp>
      <p:sp>
        <p:nvSpPr>
          <p:cNvPr id="5" name="Shape 3"/>
          <p:cNvSpPr/>
          <p:nvPr/>
        </p:nvSpPr>
        <p:spPr>
          <a:xfrm>
            <a:off x="548640" y="1325880"/>
            <a:ext cx="5486400" cy="914400"/>
          </a:xfrm>
          <a:prstGeom prst="roundRect">
            <a:avLst>
              <a:gd name="adj" fmla="val 6000"/>
            </a:avLst>
          </a:prstGeom>
          <a:solidFill>
            <a:srgbClr val="EEF3F9"/>
          </a:solidFill>
          <a:ln w="12700">
            <a:solidFill>
              <a:srgbClr val="CBD8E6"/>
            </a:solidFill>
            <a:prstDash val="solid"/>
          </a:ln>
        </p:spPr>
      </p:sp>
      <p:sp>
        <p:nvSpPr>
          <p:cNvPr id="6" name="Text 4"/>
          <p:cNvSpPr txBox="1"/>
          <p:nvPr/>
        </p:nvSpPr>
        <p:spPr>
          <a:xfrm>
            <a:off x="777240" y="1426464"/>
            <a:ext cx="5029200" cy="219456"/>
          </a:xfrm>
          <a:prstGeom prst="rect">
            <a:avLst/>
          </a:prstGeom>
          <a:noFill/>
          <a:ln/>
        </p:spPr>
        <p:txBody>
          <a:bodyPr wrap="square" lIns="0" tIns="0" rIns="0" bIns="0" rtlCol="0" anchor="ctr"/>
          <a:lstStyle/>
          <a:p>
            <a:pPr indent="0" marL="0">
              <a:buNone/>
            </a:pPr>
            <a:r>
              <a:rPr lang="en-US" sz="950" b="1" spc="110" kern="0" dirty="0">
                <a:solidFill>
                  <a:srgbClr val="5B6B7C"/>
                </a:solidFill>
                <a:latin typeface="Calibri" pitchFamily="34" charset="0"/>
                <a:ea typeface="Calibri" pitchFamily="34" charset="-122"/>
                <a:cs typeface="Calibri" pitchFamily="34" charset="-120"/>
              </a:rPr>
              <a:t>EXISTING BASE PAPER ASKS</a:t>
            </a:r>
            <a:endParaRPr lang="en-US" sz="950" dirty="0"/>
          </a:p>
        </p:txBody>
      </p:sp>
      <p:sp>
        <p:nvSpPr>
          <p:cNvPr id="7" name="Text 5"/>
          <p:cNvSpPr txBox="1"/>
          <p:nvPr/>
        </p:nvSpPr>
        <p:spPr>
          <a:xfrm>
            <a:off x="777240" y="1664208"/>
            <a:ext cx="5029200" cy="457200"/>
          </a:xfrm>
          <a:prstGeom prst="rect">
            <a:avLst/>
          </a:prstGeom>
          <a:noFill/>
          <a:ln/>
        </p:spPr>
        <p:txBody>
          <a:bodyPr wrap="square" lIns="0" tIns="0" rIns="0" bIns="0" rtlCol="0" anchor="ctr"/>
          <a:lstStyle/>
          <a:p>
            <a:pPr indent="0" marL="0">
              <a:buNone/>
            </a:pPr>
            <a:r>
              <a:rPr lang="en-US" sz="1350" b="1" dirty="0">
                <a:solidFill>
                  <a:srgbClr val="13294B"/>
                </a:solidFill>
                <a:latin typeface="Cambria" pitchFamily="34" charset="0"/>
                <a:ea typeface="Cambria" pitchFamily="34" charset="-122"/>
                <a:cs typeface="Cambria" pitchFamily="34" charset="-120"/>
              </a:rPr>
              <a:t>“How can we efficiently generate diverse floor plans?”</a:t>
            </a:r>
            <a:endParaRPr lang="en-US" sz="1350" dirty="0"/>
          </a:p>
        </p:txBody>
      </p:sp>
      <p:sp>
        <p:nvSpPr>
          <p:cNvPr id="8" name="Shape 6"/>
          <p:cNvSpPr/>
          <p:nvPr/>
        </p:nvSpPr>
        <p:spPr>
          <a:xfrm>
            <a:off x="6144768" y="1325880"/>
            <a:ext cx="5486400" cy="914400"/>
          </a:xfrm>
          <a:prstGeom prst="roundRect">
            <a:avLst>
              <a:gd name="adj" fmla="val 6000"/>
            </a:avLst>
          </a:prstGeom>
          <a:solidFill>
            <a:srgbClr val="FCEDE2"/>
          </a:solidFill>
          <a:ln w="12700">
            <a:solidFill>
              <a:srgbClr val="E9C3A6"/>
            </a:solidFill>
            <a:prstDash val="solid"/>
          </a:ln>
        </p:spPr>
      </p:sp>
      <p:sp>
        <p:nvSpPr>
          <p:cNvPr id="9" name="Text 7"/>
          <p:cNvSpPr txBox="1"/>
          <p:nvPr/>
        </p:nvSpPr>
        <p:spPr>
          <a:xfrm>
            <a:off x="6373368" y="1426464"/>
            <a:ext cx="5029200" cy="219456"/>
          </a:xfrm>
          <a:prstGeom prst="rect">
            <a:avLst/>
          </a:prstGeom>
          <a:noFill/>
          <a:ln/>
        </p:spPr>
        <p:txBody>
          <a:bodyPr wrap="square" lIns="0" tIns="0" rIns="0" bIns="0" rtlCol="0" anchor="ctr"/>
          <a:lstStyle/>
          <a:p>
            <a:pPr indent="0" marL="0">
              <a:buNone/>
            </a:pPr>
            <a:r>
              <a:rPr lang="en-US" sz="950" b="1" spc="110" kern="0" dirty="0">
                <a:solidFill>
                  <a:srgbClr val="C05621"/>
                </a:solidFill>
                <a:latin typeface="Calibri" pitchFamily="34" charset="0"/>
                <a:ea typeface="Calibri" pitchFamily="34" charset="-122"/>
                <a:cs typeface="Calibri" pitchFamily="34" charset="-120"/>
              </a:rPr>
              <a:t>OUR INTENDED PROBLEM</a:t>
            </a:r>
            <a:endParaRPr lang="en-US" sz="950" dirty="0"/>
          </a:p>
        </p:txBody>
      </p:sp>
      <p:sp>
        <p:nvSpPr>
          <p:cNvPr id="10" name="Text 8"/>
          <p:cNvSpPr txBox="1"/>
          <p:nvPr/>
        </p:nvSpPr>
        <p:spPr>
          <a:xfrm>
            <a:off x="6373368" y="1645920"/>
            <a:ext cx="5029200" cy="530352"/>
          </a:xfrm>
          <a:prstGeom prst="rect">
            <a:avLst/>
          </a:prstGeom>
          <a:noFill/>
          <a:ln/>
        </p:spPr>
        <p:txBody>
          <a:bodyPr wrap="square" lIns="0" tIns="0" rIns="0" bIns="0" rtlCol="0" anchor="ctr"/>
          <a:lstStyle/>
          <a:p>
            <a:pPr indent="0" marL="0">
              <a:lnSpc>
                <a:spcPts val="1600"/>
              </a:lnSpc>
              <a:buNone/>
            </a:pPr>
            <a:r>
              <a:rPr lang="en-US" sz="1250" b="1" dirty="0">
                <a:solidFill>
                  <a:srgbClr val="13294B"/>
                </a:solidFill>
                <a:latin typeface="Cambria" pitchFamily="34" charset="0"/>
                <a:ea typeface="Cambria" pitchFamily="34" charset="-122"/>
                <a:cs typeface="Cambria" pitchFamily="34" charset="-120"/>
              </a:rPr>
              <a:t>“How can an AI system understand requirements, reason about space, generate, evaluate and improve layouts?”</a:t>
            </a:r>
            <a:endParaRPr lang="en-US" sz="1250" dirty="0"/>
          </a:p>
        </p:txBody>
      </p:sp>
      <p:sp>
        <p:nvSpPr>
          <p:cNvPr id="11" name="Text 9"/>
          <p:cNvSpPr txBox="1"/>
          <p:nvPr/>
        </p:nvSpPr>
        <p:spPr>
          <a:xfrm>
            <a:off x="548640" y="2514600"/>
            <a:ext cx="2377440" cy="237744"/>
          </a:xfrm>
          <a:prstGeom prst="rect">
            <a:avLst/>
          </a:prstGeom>
          <a:noFill/>
          <a:ln/>
        </p:spPr>
        <p:txBody>
          <a:bodyPr wrap="square" lIns="0" tIns="0" rIns="0" bIns="0" rtlCol="0" anchor="ctr"/>
          <a:lstStyle/>
          <a:p>
            <a:pPr algn="ctr" indent="0" marL="0">
              <a:buNone/>
            </a:pPr>
            <a:r>
              <a:rPr lang="en-US" sz="1000" b="1" spc="120" kern="0" dirty="0">
                <a:solidFill>
                  <a:srgbClr val="5B6B7C"/>
                </a:solidFill>
                <a:latin typeface="Calibri" pitchFamily="34" charset="0"/>
                <a:ea typeface="Calibri" pitchFamily="34" charset="-122"/>
                <a:cs typeface="Calibri" pitchFamily="34" charset="-120"/>
              </a:rPr>
              <a:t>EXISTING</a:t>
            </a:r>
            <a:endParaRPr lang="en-US" sz="1000" dirty="0"/>
          </a:p>
        </p:txBody>
      </p:sp>
      <p:sp>
        <p:nvSpPr>
          <p:cNvPr id="12" name="Text 10"/>
          <p:cNvSpPr txBox="1"/>
          <p:nvPr/>
        </p:nvSpPr>
        <p:spPr>
          <a:xfrm>
            <a:off x="3246120" y="2514600"/>
            <a:ext cx="2606040" cy="237744"/>
          </a:xfrm>
          <a:prstGeom prst="rect">
            <a:avLst/>
          </a:prstGeom>
          <a:noFill/>
          <a:ln/>
        </p:spPr>
        <p:txBody>
          <a:bodyPr wrap="square" lIns="0" tIns="0" rIns="0" bIns="0" rtlCol="0" anchor="ctr"/>
          <a:lstStyle/>
          <a:p>
            <a:pPr algn="ctr" indent="0" marL="0">
              <a:buNone/>
            </a:pPr>
            <a:r>
              <a:rPr lang="en-US" sz="1000" b="1" spc="120" kern="0" dirty="0">
                <a:solidFill>
                  <a:srgbClr val="C05621"/>
                </a:solidFill>
                <a:latin typeface="Calibri" pitchFamily="34" charset="0"/>
                <a:ea typeface="Calibri" pitchFamily="34" charset="-122"/>
                <a:cs typeface="Calibri" pitchFamily="34" charset="-120"/>
              </a:rPr>
              <a:t>OUR TARGET</a:t>
            </a:r>
            <a:endParaRPr lang="en-US" sz="1000" dirty="0"/>
          </a:p>
        </p:txBody>
      </p:sp>
      <p:sp>
        <p:nvSpPr>
          <p:cNvPr id="13" name="Shape 11"/>
          <p:cNvSpPr/>
          <p:nvPr/>
        </p:nvSpPr>
        <p:spPr>
          <a:xfrm>
            <a:off x="3246120" y="2852928"/>
            <a:ext cx="2606040" cy="402336"/>
          </a:xfrm>
          <a:prstGeom prst="roundRect">
            <a:avLst>
              <a:gd name="adj" fmla="val 11364"/>
            </a:avLst>
          </a:prstGeom>
          <a:solidFill>
            <a:srgbClr val="FFFFFF"/>
          </a:solidFill>
          <a:ln w="15875">
            <a:solidFill>
              <a:srgbClr val="1F4E79"/>
            </a:solidFill>
            <a:prstDash val="solid"/>
          </a:ln>
        </p:spPr>
      </p:sp>
      <p:sp>
        <p:nvSpPr>
          <p:cNvPr id="14" name="Text 12"/>
          <p:cNvSpPr txBox="1"/>
          <p:nvPr/>
        </p:nvSpPr>
        <p:spPr>
          <a:xfrm>
            <a:off x="3282696" y="2852928"/>
            <a:ext cx="2532888" cy="402336"/>
          </a:xfrm>
          <a:prstGeom prst="rect">
            <a:avLst/>
          </a:prstGeom>
          <a:noFill/>
          <a:ln/>
        </p:spPr>
        <p:txBody>
          <a:bodyPr wrap="square" lIns="0" tIns="0" rIns="0" bIns="0"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Requirement</a:t>
            </a:r>
            <a:endParaRPr lang="en-US" sz="1100" dirty="0"/>
          </a:p>
        </p:txBody>
      </p:sp>
      <p:sp>
        <p:nvSpPr>
          <p:cNvPr id="15" name="Shape 13"/>
          <p:cNvSpPr/>
          <p:nvPr/>
        </p:nvSpPr>
        <p:spPr>
          <a:xfrm>
            <a:off x="4549140" y="3255264"/>
            <a:ext cx="0" cy="201168"/>
          </a:xfrm>
          <a:prstGeom prst="line">
            <a:avLst/>
          </a:prstGeom>
          <a:noFill/>
          <a:ln w="16510">
            <a:solidFill>
              <a:srgbClr val="C05621"/>
            </a:solidFill>
            <a:prstDash val="solid"/>
            <a:tailEnd type="triangle"/>
          </a:ln>
        </p:spPr>
      </p:sp>
      <p:sp>
        <p:nvSpPr>
          <p:cNvPr id="16" name="Shape 14"/>
          <p:cNvSpPr/>
          <p:nvPr/>
        </p:nvSpPr>
        <p:spPr>
          <a:xfrm>
            <a:off x="3246120" y="3456432"/>
            <a:ext cx="2606040" cy="402336"/>
          </a:xfrm>
          <a:prstGeom prst="roundRect">
            <a:avLst>
              <a:gd name="adj" fmla="val 11364"/>
            </a:avLst>
          </a:prstGeom>
          <a:solidFill>
            <a:srgbClr val="FCEDE2"/>
          </a:solidFill>
          <a:ln w="15875">
            <a:solidFill>
              <a:srgbClr val="C05621"/>
            </a:solidFill>
            <a:prstDash val="solid"/>
          </a:ln>
        </p:spPr>
      </p:sp>
      <p:sp>
        <p:nvSpPr>
          <p:cNvPr id="17" name="Text 15"/>
          <p:cNvSpPr txBox="1"/>
          <p:nvPr/>
        </p:nvSpPr>
        <p:spPr>
          <a:xfrm>
            <a:off x="3282696" y="3456432"/>
            <a:ext cx="2532888" cy="402336"/>
          </a:xfrm>
          <a:prstGeom prst="rect">
            <a:avLst/>
          </a:prstGeom>
          <a:noFill/>
          <a:ln/>
        </p:spPr>
        <p:txBody>
          <a:bodyPr wrap="square" lIns="0" tIns="0" rIns="0" bIns="0" rtlCol="0" anchor="ctr"/>
          <a:lstStyle/>
          <a:p>
            <a:pPr algn="ctr" indent="0" marL="0">
              <a:buNone/>
            </a:pPr>
            <a:r>
              <a:rPr lang="en-US" sz="1100" b="1" dirty="0">
                <a:solidFill>
                  <a:srgbClr val="C05621"/>
                </a:solidFill>
                <a:latin typeface="Calibri" pitchFamily="34" charset="0"/>
                <a:ea typeface="Calibri" pitchFamily="34" charset="-122"/>
                <a:cs typeface="Calibri" pitchFamily="34" charset="-120"/>
              </a:rPr>
              <a:t>Spatial Reasoning</a:t>
            </a:r>
            <a:endParaRPr lang="en-US" sz="1100" dirty="0"/>
          </a:p>
        </p:txBody>
      </p:sp>
      <p:sp>
        <p:nvSpPr>
          <p:cNvPr id="18" name="Shape 16"/>
          <p:cNvSpPr/>
          <p:nvPr/>
        </p:nvSpPr>
        <p:spPr>
          <a:xfrm>
            <a:off x="4549140" y="3858768"/>
            <a:ext cx="0" cy="201168"/>
          </a:xfrm>
          <a:prstGeom prst="line">
            <a:avLst/>
          </a:prstGeom>
          <a:noFill/>
          <a:ln w="16510">
            <a:solidFill>
              <a:srgbClr val="C05621"/>
            </a:solidFill>
            <a:prstDash val="solid"/>
            <a:tailEnd type="triangle"/>
          </a:ln>
        </p:spPr>
      </p:sp>
      <p:sp>
        <p:nvSpPr>
          <p:cNvPr id="19" name="Shape 17"/>
          <p:cNvSpPr/>
          <p:nvPr/>
        </p:nvSpPr>
        <p:spPr>
          <a:xfrm>
            <a:off x="3246120" y="4059936"/>
            <a:ext cx="2606040" cy="402336"/>
          </a:xfrm>
          <a:prstGeom prst="roundRect">
            <a:avLst>
              <a:gd name="adj" fmla="val 11364"/>
            </a:avLst>
          </a:prstGeom>
          <a:solidFill>
            <a:srgbClr val="FFFFFF"/>
          </a:solidFill>
          <a:ln w="15875">
            <a:solidFill>
              <a:srgbClr val="1F4E79"/>
            </a:solidFill>
            <a:prstDash val="solid"/>
          </a:ln>
        </p:spPr>
      </p:sp>
      <p:sp>
        <p:nvSpPr>
          <p:cNvPr id="20" name="Text 18"/>
          <p:cNvSpPr txBox="1"/>
          <p:nvPr/>
        </p:nvSpPr>
        <p:spPr>
          <a:xfrm>
            <a:off x="3282696" y="4059936"/>
            <a:ext cx="2532888" cy="402336"/>
          </a:xfrm>
          <a:prstGeom prst="rect">
            <a:avLst/>
          </a:prstGeom>
          <a:noFill/>
          <a:ln/>
        </p:spPr>
        <p:txBody>
          <a:bodyPr wrap="square" lIns="0" tIns="0" rIns="0" bIns="0"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Layout Generation</a:t>
            </a:r>
            <a:endParaRPr lang="en-US" sz="1100" dirty="0"/>
          </a:p>
        </p:txBody>
      </p:sp>
      <p:sp>
        <p:nvSpPr>
          <p:cNvPr id="21" name="Shape 19"/>
          <p:cNvSpPr/>
          <p:nvPr/>
        </p:nvSpPr>
        <p:spPr>
          <a:xfrm>
            <a:off x="4549140" y="4462272"/>
            <a:ext cx="0" cy="201168"/>
          </a:xfrm>
          <a:prstGeom prst="line">
            <a:avLst/>
          </a:prstGeom>
          <a:noFill/>
          <a:ln w="16510">
            <a:solidFill>
              <a:srgbClr val="C05621"/>
            </a:solidFill>
            <a:prstDash val="solid"/>
            <a:tailEnd type="triangle"/>
          </a:ln>
        </p:spPr>
      </p:sp>
      <p:sp>
        <p:nvSpPr>
          <p:cNvPr id="22" name="Shape 20"/>
          <p:cNvSpPr/>
          <p:nvPr/>
        </p:nvSpPr>
        <p:spPr>
          <a:xfrm>
            <a:off x="3246120" y="4663440"/>
            <a:ext cx="2606040" cy="402336"/>
          </a:xfrm>
          <a:prstGeom prst="roundRect">
            <a:avLst>
              <a:gd name="adj" fmla="val 11364"/>
            </a:avLst>
          </a:prstGeom>
          <a:solidFill>
            <a:srgbClr val="FCEDE2"/>
          </a:solidFill>
          <a:ln w="15875">
            <a:solidFill>
              <a:srgbClr val="C05621"/>
            </a:solidFill>
            <a:prstDash val="solid"/>
          </a:ln>
        </p:spPr>
      </p:sp>
      <p:sp>
        <p:nvSpPr>
          <p:cNvPr id="23" name="Text 21"/>
          <p:cNvSpPr txBox="1"/>
          <p:nvPr/>
        </p:nvSpPr>
        <p:spPr>
          <a:xfrm>
            <a:off x="3282696" y="4663440"/>
            <a:ext cx="2532888" cy="402336"/>
          </a:xfrm>
          <a:prstGeom prst="rect">
            <a:avLst/>
          </a:prstGeom>
          <a:noFill/>
          <a:ln/>
        </p:spPr>
        <p:txBody>
          <a:bodyPr wrap="square" lIns="0" tIns="0" rIns="0" bIns="0" rtlCol="0" anchor="ctr"/>
          <a:lstStyle/>
          <a:p>
            <a:pPr algn="ctr" indent="0" marL="0">
              <a:buNone/>
            </a:pPr>
            <a:r>
              <a:rPr lang="en-US" sz="1100" b="1" dirty="0">
                <a:solidFill>
                  <a:srgbClr val="C05621"/>
                </a:solidFill>
                <a:latin typeface="Calibri" pitchFamily="34" charset="0"/>
                <a:ea typeface="Calibri" pitchFamily="34" charset="-122"/>
                <a:cs typeface="Calibri" pitchFamily="34" charset="-120"/>
              </a:rPr>
              <a:t>Spatial Evaluation</a:t>
            </a:r>
            <a:endParaRPr lang="en-US" sz="1100" dirty="0"/>
          </a:p>
        </p:txBody>
      </p:sp>
      <p:sp>
        <p:nvSpPr>
          <p:cNvPr id="24" name="Shape 22"/>
          <p:cNvSpPr/>
          <p:nvPr/>
        </p:nvSpPr>
        <p:spPr>
          <a:xfrm>
            <a:off x="4549140" y="5065776"/>
            <a:ext cx="0" cy="201168"/>
          </a:xfrm>
          <a:prstGeom prst="line">
            <a:avLst/>
          </a:prstGeom>
          <a:noFill/>
          <a:ln w="16510">
            <a:solidFill>
              <a:srgbClr val="C05621"/>
            </a:solidFill>
            <a:prstDash val="solid"/>
            <a:tailEnd type="triangle"/>
          </a:ln>
        </p:spPr>
      </p:sp>
      <p:sp>
        <p:nvSpPr>
          <p:cNvPr id="25" name="Shape 23"/>
          <p:cNvSpPr/>
          <p:nvPr/>
        </p:nvSpPr>
        <p:spPr>
          <a:xfrm>
            <a:off x="3246120" y="5266944"/>
            <a:ext cx="2606040" cy="402336"/>
          </a:xfrm>
          <a:prstGeom prst="roundRect">
            <a:avLst>
              <a:gd name="adj" fmla="val 11364"/>
            </a:avLst>
          </a:prstGeom>
          <a:solidFill>
            <a:srgbClr val="FCEDE2"/>
          </a:solidFill>
          <a:ln w="15875">
            <a:solidFill>
              <a:srgbClr val="C05621"/>
            </a:solidFill>
            <a:prstDash val="solid"/>
          </a:ln>
        </p:spPr>
      </p:sp>
      <p:sp>
        <p:nvSpPr>
          <p:cNvPr id="26" name="Text 24"/>
          <p:cNvSpPr txBox="1"/>
          <p:nvPr/>
        </p:nvSpPr>
        <p:spPr>
          <a:xfrm>
            <a:off x="3282696" y="5266944"/>
            <a:ext cx="2532888" cy="402336"/>
          </a:xfrm>
          <a:prstGeom prst="rect">
            <a:avLst/>
          </a:prstGeom>
          <a:noFill/>
          <a:ln/>
        </p:spPr>
        <p:txBody>
          <a:bodyPr wrap="square" lIns="0" tIns="0" rIns="0" bIns="0" rtlCol="0" anchor="ctr"/>
          <a:lstStyle/>
          <a:p>
            <a:pPr algn="ctr" indent="0" marL="0">
              <a:buNone/>
            </a:pPr>
            <a:r>
              <a:rPr lang="en-US" sz="1100" b="1" dirty="0">
                <a:solidFill>
                  <a:srgbClr val="C05621"/>
                </a:solidFill>
                <a:latin typeface="Calibri" pitchFamily="34" charset="0"/>
                <a:ea typeface="Calibri" pitchFamily="34" charset="-122"/>
                <a:cs typeface="Calibri" pitchFamily="34" charset="-120"/>
              </a:rPr>
              <a:t>Optimization</a:t>
            </a:r>
            <a:endParaRPr lang="en-US" sz="1100" dirty="0"/>
          </a:p>
        </p:txBody>
      </p:sp>
      <p:sp>
        <p:nvSpPr>
          <p:cNvPr id="27" name="Shape 25"/>
          <p:cNvSpPr/>
          <p:nvPr/>
        </p:nvSpPr>
        <p:spPr>
          <a:xfrm>
            <a:off x="4549140" y="5669280"/>
            <a:ext cx="0" cy="201168"/>
          </a:xfrm>
          <a:prstGeom prst="line">
            <a:avLst/>
          </a:prstGeom>
          <a:noFill/>
          <a:ln w="16510">
            <a:solidFill>
              <a:srgbClr val="C05621"/>
            </a:solidFill>
            <a:prstDash val="solid"/>
            <a:tailEnd type="triangle"/>
          </a:ln>
        </p:spPr>
      </p:sp>
      <p:sp>
        <p:nvSpPr>
          <p:cNvPr id="28" name="Shape 26"/>
          <p:cNvSpPr/>
          <p:nvPr/>
        </p:nvSpPr>
        <p:spPr>
          <a:xfrm>
            <a:off x="3246120" y="5870448"/>
            <a:ext cx="2606040" cy="402336"/>
          </a:xfrm>
          <a:prstGeom prst="roundRect">
            <a:avLst>
              <a:gd name="adj" fmla="val 11364"/>
            </a:avLst>
          </a:prstGeom>
          <a:solidFill>
            <a:srgbClr val="FFFFFF"/>
          </a:solidFill>
          <a:ln w="15875">
            <a:solidFill>
              <a:srgbClr val="1F4E79"/>
            </a:solidFill>
            <a:prstDash val="solid"/>
          </a:ln>
        </p:spPr>
      </p:sp>
      <p:sp>
        <p:nvSpPr>
          <p:cNvPr id="29" name="Text 27"/>
          <p:cNvSpPr txBox="1"/>
          <p:nvPr/>
        </p:nvSpPr>
        <p:spPr>
          <a:xfrm>
            <a:off x="3282696" y="5870448"/>
            <a:ext cx="2532888" cy="402336"/>
          </a:xfrm>
          <a:prstGeom prst="rect">
            <a:avLst/>
          </a:prstGeom>
          <a:noFill/>
          <a:ln/>
        </p:spPr>
        <p:txBody>
          <a:bodyPr wrap="square" lIns="0" tIns="0" rIns="0" bIns="0"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Improved Layout</a:t>
            </a:r>
            <a:endParaRPr lang="en-US" sz="1100" dirty="0"/>
          </a:p>
        </p:txBody>
      </p:sp>
      <p:sp>
        <p:nvSpPr>
          <p:cNvPr id="30" name="Shape 28"/>
          <p:cNvSpPr/>
          <p:nvPr/>
        </p:nvSpPr>
        <p:spPr>
          <a:xfrm>
            <a:off x="548640" y="2852928"/>
            <a:ext cx="2377440" cy="402336"/>
          </a:xfrm>
          <a:prstGeom prst="roundRect">
            <a:avLst>
              <a:gd name="adj" fmla="val 11364"/>
            </a:avLst>
          </a:prstGeom>
          <a:solidFill>
            <a:srgbClr val="EEF3F9"/>
          </a:solidFill>
          <a:ln w="15875">
            <a:solidFill>
              <a:srgbClr val="5C7C9E"/>
            </a:solidFill>
            <a:prstDash val="solid"/>
          </a:ln>
        </p:spPr>
      </p:sp>
      <p:sp>
        <p:nvSpPr>
          <p:cNvPr id="31" name="Text 29"/>
          <p:cNvSpPr txBox="1"/>
          <p:nvPr/>
        </p:nvSpPr>
        <p:spPr>
          <a:xfrm>
            <a:off x="585216" y="2852928"/>
            <a:ext cx="2304288" cy="402336"/>
          </a:xfrm>
          <a:prstGeom prst="rect">
            <a:avLst/>
          </a:prstGeom>
          <a:noFill/>
          <a:ln/>
        </p:spPr>
        <p:txBody>
          <a:bodyPr wrap="square" lIns="0" tIns="0" rIns="0" bIns="0"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Requirement</a:t>
            </a:r>
            <a:endParaRPr lang="en-US" sz="1100" dirty="0"/>
          </a:p>
        </p:txBody>
      </p:sp>
      <p:sp>
        <p:nvSpPr>
          <p:cNvPr id="32" name="Shape 30"/>
          <p:cNvSpPr/>
          <p:nvPr/>
        </p:nvSpPr>
        <p:spPr>
          <a:xfrm>
            <a:off x="1737360" y="3255264"/>
            <a:ext cx="0" cy="786384"/>
          </a:xfrm>
          <a:prstGeom prst="line">
            <a:avLst/>
          </a:prstGeom>
          <a:noFill/>
          <a:ln w="16510">
            <a:solidFill>
              <a:srgbClr val="5C7C9E"/>
            </a:solidFill>
            <a:prstDash val="solid"/>
            <a:tailEnd type="triangle"/>
          </a:ln>
        </p:spPr>
      </p:sp>
      <p:sp>
        <p:nvSpPr>
          <p:cNvPr id="33" name="Shape 31"/>
          <p:cNvSpPr/>
          <p:nvPr/>
        </p:nvSpPr>
        <p:spPr>
          <a:xfrm>
            <a:off x="548640" y="4041648"/>
            <a:ext cx="2377440" cy="402336"/>
          </a:xfrm>
          <a:prstGeom prst="roundRect">
            <a:avLst>
              <a:gd name="adj" fmla="val 11364"/>
            </a:avLst>
          </a:prstGeom>
          <a:solidFill>
            <a:srgbClr val="EEF3F9"/>
          </a:solidFill>
          <a:ln w="15875">
            <a:solidFill>
              <a:srgbClr val="5C7C9E"/>
            </a:solidFill>
            <a:prstDash val="solid"/>
          </a:ln>
        </p:spPr>
      </p:sp>
      <p:sp>
        <p:nvSpPr>
          <p:cNvPr id="34" name="Text 32"/>
          <p:cNvSpPr txBox="1"/>
          <p:nvPr/>
        </p:nvSpPr>
        <p:spPr>
          <a:xfrm>
            <a:off x="585216" y="4041648"/>
            <a:ext cx="2304288" cy="402336"/>
          </a:xfrm>
          <a:prstGeom prst="rect">
            <a:avLst/>
          </a:prstGeom>
          <a:noFill/>
          <a:ln/>
        </p:spPr>
        <p:txBody>
          <a:bodyPr wrap="square" lIns="0" tIns="0" rIns="0" bIns="0"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Floor-Plan Generation</a:t>
            </a:r>
            <a:endParaRPr lang="en-US" sz="1100" dirty="0"/>
          </a:p>
        </p:txBody>
      </p:sp>
      <p:sp>
        <p:nvSpPr>
          <p:cNvPr id="35" name="Shape 33"/>
          <p:cNvSpPr/>
          <p:nvPr/>
        </p:nvSpPr>
        <p:spPr>
          <a:xfrm>
            <a:off x="1737360" y="4443984"/>
            <a:ext cx="0" cy="786384"/>
          </a:xfrm>
          <a:prstGeom prst="line">
            <a:avLst/>
          </a:prstGeom>
          <a:noFill/>
          <a:ln w="16510">
            <a:solidFill>
              <a:srgbClr val="5C7C9E"/>
            </a:solidFill>
            <a:prstDash val="solid"/>
            <a:tailEnd type="triangle"/>
          </a:ln>
        </p:spPr>
      </p:sp>
      <p:sp>
        <p:nvSpPr>
          <p:cNvPr id="36" name="Shape 34"/>
          <p:cNvSpPr/>
          <p:nvPr/>
        </p:nvSpPr>
        <p:spPr>
          <a:xfrm>
            <a:off x="548640" y="5230368"/>
            <a:ext cx="2377440" cy="402336"/>
          </a:xfrm>
          <a:prstGeom prst="roundRect">
            <a:avLst>
              <a:gd name="adj" fmla="val 11364"/>
            </a:avLst>
          </a:prstGeom>
          <a:solidFill>
            <a:srgbClr val="EEF3F9"/>
          </a:solidFill>
          <a:ln w="15875">
            <a:solidFill>
              <a:srgbClr val="5C7C9E"/>
            </a:solidFill>
            <a:prstDash val="solid"/>
          </a:ln>
        </p:spPr>
      </p:sp>
      <p:sp>
        <p:nvSpPr>
          <p:cNvPr id="37" name="Text 35"/>
          <p:cNvSpPr txBox="1"/>
          <p:nvPr/>
        </p:nvSpPr>
        <p:spPr>
          <a:xfrm>
            <a:off x="585216" y="5230368"/>
            <a:ext cx="2304288" cy="402336"/>
          </a:xfrm>
          <a:prstGeom prst="rect">
            <a:avLst/>
          </a:prstGeom>
          <a:noFill/>
          <a:ln/>
        </p:spPr>
        <p:txBody>
          <a:bodyPr wrap="square" lIns="0" tIns="0" rIns="0" bIns="0" rtlCol="0" anchor="ctr"/>
          <a:lstStyle/>
          <a:p>
            <a:pPr algn="ctr" indent="0" marL="0">
              <a:buNone/>
            </a:pPr>
            <a:r>
              <a:rPr lang="en-US" sz="1100" b="1" dirty="0">
                <a:solidFill>
                  <a:srgbClr val="13294B"/>
                </a:solidFill>
                <a:latin typeface="Calibri" pitchFamily="34" charset="0"/>
                <a:ea typeface="Calibri" pitchFamily="34" charset="-122"/>
                <a:cs typeface="Calibri" pitchFamily="34" charset="-120"/>
              </a:rPr>
              <a:t>Generated Layout</a:t>
            </a:r>
            <a:endParaRPr lang="en-US" sz="1100" dirty="0"/>
          </a:p>
        </p:txBody>
      </p:sp>
      <p:sp>
        <p:nvSpPr>
          <p:cNvPr id="38" name="Text 36"/>
          <p:cNvSpPr txBox="1"/>
          <p:nvPr/>
        </p:nvSpPr>
        <p:spPr>
          <a:xfrm>
            <a:off x="6144768" y="2487168"/>
            <a:ext cx="5486400" cy="274320"/>
          </a:xfrm>
          <a:prstGeom prst="rect">
            <a:avLst/>
          </a:prstGeom>
          <a:noFill/>
          <a:ln/>
        </p:spPr>
        <p:txBody>
          <a:bodyPr wrap="square" lIns="0" tIns="0" rIns="0" bIns="0" rtlCol="0" anchor="ctr"/>
          <a:lstStyle/>
          <a:p>
            <a:pPr indent="0" marL="0">
              <a:buNone/>
            </a:pPr>
            <a:r>
              <a:rPr lang="en-US" sz="1400" b="1" dirty="0">
                <a:solidFill>
                  <a:srgbClr val="13294B"/>
                </a:solidFill>
                <a:latin typeface="Cambria" pitchFamily="34" charset="0"/>
                <a:ea typeface="Cambria" pitchFamily="34" charset="-122"/>
                <a:cs typeface="Cambria" pitchFamily="34" charset="-120"/>
              </a:rPr>
              <a:t>Key limitations we aim to address</a:t>
            </a:r>
            <a:endParaRPr lang="en-US" sz="1400" dirty="0"/>
          </a:p>
        </p:txBody>
      </p:sp>
      <p:sp>
        <p:nvSpPr>
          <p:cNvPr id="39" name="Shape 37"/>
          <p:cNvSpPr/>
          <p:nvPr/>
        </p:nvSpPr>
        <p:spPr>
          <a:xfrm>
            <a:off x="6144768" y="2834640"/>
            <a:ext cx="5486400" cy="530352"/>
          </a:xfrm>
          <a:prstGeom prst="roundRect">
            <a:avLst>
              <a:gd name="adj" fmla="val 10345"/>
            </a:avLst>
          </a:prstGeom>
          <a:solidFill>
            <a:srgbClr val="EEF3F9"/>
          </a:solidFill>
          <a:ln w="12700">
            <a:solidFill>
              <a:srgbClr val="CBD8E6"/>
            </a:solidFill>
            <a:prstDash val="solid"/>
          </a:ln>
        </p:spPr>
      </p:sp>
      <p:sp>
        <p:nvSpPr>
          <p:cNvPr id="40" name="Shape 38"/>
          <p:cNvSpPr/>
          <p:nvPr/>
        </p:nvSpPr>
        <p:spPr>
          <a:xfrm>
            <a:off x="6327648" y="2967228"/>
            <a:ext cx="265176" cy="265176"/>
          </a:xfrm>
          <a:prstGeom prst="ellipse">
            <a:avLst/>
          </a:prstGeom>
          <a:solidFill>
            <a:srgbClr val="1F4E79"/>
          </a:solidFill>
          <a:ln w="12700">
            <a:solidFill>
              <a:srgbClr val="1F4E79"/>
            </a:solidFill>
            <a:prstDash val="solid"/>
          </a:ln>
        </p:spPr>
      </p:sp>
      <p:sp>
        <p:nvSpPr>
          <p:cNvPr id="41" name="Text 39"/>
          <p:cNvSpPr txBox="1"/>
          <p:nvPr/>
        </p:nvSpPr>
        <p:spPr>
          <a:xfrm>
            <a:off x="6327648" y="2967228"/>
            <a:ext cx="265176" cy="26517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a:t>
            </a:r>
            <a:endParaRPr lang="en-US" sz="950" dirty="0"/>
          </a:p>
        </p:txBody>
      </p:sp>
      <p:sp>
        <p:nvSpPr>
          <p:cNvPr id="42" name="Text 40"/>
          <p:cNvSpPr txBox="1"/>
          <p:nvPr/>
        </p:nvSpPr>
        <p:spPr>
          <a:xfrm>
            <a:off x="6720840" y="2852928"/>
            <a:ext cx="4800600" cy="493776"/>
          </a:xfrm>
          <a:prstGeom prst="rect">
            <a:avLst/>
          </a:prstGeom>
          <a:noFill/>
          <a:ln/>
        </p:spPr>
        <p:txBody>
          <a:bodyPr wrap="square" lIns="0" tIns="0" rIns="0" bIns="0" rtlCol="0" anchor="ctr"/>
          <a:lstStyle/>
          <a:p>
            <a:pPr indent="0" marL="0">
              <a:lnSpc>
                <a:spcPts val="1400"/>
              </a:lnSpc>
              <a:buNone/>
            </a:pPr>
            <a:r>
              <a:rPr lang="en-US" sz="1150" dirty="0">
                <a:solidFill>
                  <a:srgbClr val="1B2430"/>
                </a:solidFill>
                <a:latin typeface="Calibri" pitchFamily="34" charset="0"/>
                <a:ea typeface="Calibri" pitchFamily="34" charset="-122"/>
                <a:cs typeface="Calibri" pitchFamily="34" charset="-120"/>
              </a:rPr>
              <a:t>Natural-language architectural requirements are not the main input focus</a:t>
            </a:r>
            <a:endParaRPr lang="en-US" sz="1150" dirty="0"/>
          </a:p>
        </p:txBody>
      </p:sp>
      <p:sp>
        <p:nvSpPr>
          <p:cNvPr id="43" name="Shape 41"/>
          <p:cNvSpPr/>
          <p:nvPr/>
        </p:nvSpPr>
        <p:spPr>
          <a:xfrm>
            <a:off x="6144768" y="3456432"/>
            <a:ext cx="5486400" cy="530352"/>
          </a:xfrm>
          <a:prstGeom prst="roundRect">
            <a:avLst>
              <a:gd name="adj" fmla="val 10345"/>
            </a:avLst>
          </a:prstGeom>
          <a:solidFill>
            <a:srgbClr val="EEF3F9"/>
          </a:solidFill>
          <a:ln w="12700">
            <a:solidFill>
              <a:srgbClr val="CBD8E6"/>
            </a:solidFill>
            <a:prstDash val="solid"/>
          </a:ln>
        </p:spPr>
      </p:sp>
      <p:sp>
        <p:nvSpPr>
          <p:cNvPr id="44" name="Shape 42"/>
          <p:cNvSpPr/>
          <p:nvPr/>
        </p:nvSpPr>
        <p:spPr>
          <a:xfrm>
            <a:off x="6327648" y="3589020"/>
            <a:ext cx="265176" cy="265176"/>
          </a:xfrm>
          <a:prstGeom prst="ellipse">
            <a:avLst/>
          </a:prstGeom>
          <a:solidFill>
            <a:srgbClr val="1F4E79"/>
          </a:solidFill>
          <a:ln w="12700">
            <a:solidFill>
              <a:srgbClr val="1F4E79"/>
            </a:solidFill>
            <a:prstDash val="solid"/>
          </a:ln>
        </p:spPr>
      </p:sp>
      <p:sp>
        <p:nvSpPr>
          <p:cNvPr id="45" name="Text 43"/>
          <p:cNvSpPr txBox="1"/>
          <p:nvPr/>
        </p:nvSpPr>
        <p:spPr>
          <a:xfrm>
            <a:off x="6327648" y="3589020"/>
            <a:ext cx="265176" cy="26517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a:t>
            </a:r>
            <a:endParaRPr lang="en-US" sz="950" dirty="0"/>
          </a:p>
        </p:txBody>
      </p:sp>
      <p:sp>
        <p:nvSpPr>
          <p:cNvPr id="46" name="Text 44"/>
          <p:cNvSpPr txBox="1"/>
          <p:nvPr/>
        </p:nvSpPr>
        <p:spPr>
          <a:xfrm>
            <a:off x="6720840" y="3474720"/>
            <a:ext cx="4800600" cy="493776"/>
          </a:xfrm>
          <a:prstGeom prst="rect">
            <a:avLst/>
          </a:prstGeom>
          <a:noFill/>
          <a:ln/>
        </p:spPr>
        <p:txBody>
          <a:bodyPr wrap="square" lIns="0" tIns="0" rIns="0" bIns="0" rtlCol="0" anchor="ctr"/>
          <a:lstStyle/>
          <a:p>
            <a:pPr indent="0" marL="0">
              <a:lnSpc>
                <a:spcPts val="1400"/>
              </a:lnSpc>
              <a:buNone/>
            </a:pPr>
            <a:r>
              <a:rPr lang="en-US" sz="1150" dirty="0">
                <a:solidFill>
                  <a:srgbClr val="1B2430"/>
                </a:solidFill>
                <a:latin typeface="Calibri" pitchFamily="34" charset="0"/>
                <a:ea typeface="Calibri" pitchFamily="34" charset="-122"/>
                <a:cs typeface="Calibri" pitchFamily="34" charset="-120"/>
              </a:rPr>
              <a:t>Explicit spatial relationships need to be represented and reasoned over</a:t>
            </a:r>
            <a:endParaRPr lang="en-US" sz="1150" dirty="0"/>
          </a:p>
        </p:txBody>
      </p:sp>
      <p:sp>
        <p:nvSpPr>
          <p:cNvPr id="47" name="Shape 45"/>
          <p:cNvSpPr/>
          <p:nvPr/>
        </p:nvSpPr>
        <p:spPr>
          <a:xfrm>
            <a:off x="6144768" y="4078224"/>
            <a:ext cx="5486400" cy="530352"/>
          </a:xfrm>
          <a:prstGeom prst="roundRect">
            <a:avLst>
              <a:gd name="adj" fmla="val 10345"/>
            </a:avLst>
          </a:prstGeom>
          <a:solidFill>
            <a:srgbClr val="EEF3F9"/>
          </a:solidFill>
          <a:ln w="12700">
            <a:solidFill>
              <a:srgbClr val="CBD8E6"/>
            </a:solidFill>
            <a:prstDash val="solid"/>
          </a:ln>
        </p:spPr>
      </p:sp>
      <p:sp>
        <p:nvSpPr>
          <p:cNvPr id="48" name="Shape 46"/>
          <p:cNvSpPr/>
          <p:nvPr/>
        </p:nvSpPr>
        <p:spPr>
          <a:xfrm>
            <a:off x="6327648" y="4210812"/>
            <a:ext cx="265176" cy="265176"/>
          </a:xfrm>
          <a:prstGeom prst="ellipse">
            <a:avLst/>
          </a:prstGeom>
          <a:solidFill>
            <a:srgbClr val="1F4E79"/>
          </a:solidFill>
          <a:ln w="12700">
            <a:solidFill>
              <a:srgbClr val="1F4E79"/>
            </a:solidFill>
            <a:prstDash val="solid"/>
          </a:ln>
        </p:spPr>
      </p:sp>
      <p:sp>
        <p:nvSpPr>
          <p:cNvPr id="49" name="Text 47"/>
          <p:cNvSpPr txBox="1"/>
          <p:nvPr/>
        </p:nvSpPr>
        <p:spPr>
          <a:xfrm>
            <a:off x="6327648" y="4210812"/>
            <a:ext cx="265176" cy="26517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a:t>
            </a:r>
            <a:endParaRPr lang="en-US" sz="950" dirty="0"/>
          </a:p>
        </p:txBody>
      </p:sp>
      <p:sp>
        <p:nvSpPr>
          <p:cNvPr id="50" name="Text 48"/>
          <p:cNvSpPr txBox="1"/>
          <p:nvPr/>
        </p:nvSpPr>
        <p:spPr>
          <a:xfrm>
            <a:off x="6720840" y="4096512"/>
            <a:ext cx="4800600" cy="493776"/>
          </a:xfrm>
          <a:prstGeom prst="rect">
            <a:avLst/>
          </a:prstGeom>
          <a:noFill/>
          <a:ln/>
        </p:spPr>
        <p:txBody>
          <a:bodyPr wrap="square" lIns="0" tIns="0" rIns="0" bIns="0" rtlCol="0" anchor="ctr"/>
          <a:lstStyle/>
          <a:p>
            <a:pPr indent="0" marL="0">
              <a:lnSpc>
                <a:spcPts val="1400"/>
              </a:lnSpc>
              <a:buNone/>
            </a:pPr>
            <a:r>
              <a:rPr lang="en-US" sz="1150" dirty="0">
                <a:solidFill>
                  <a:srgbClr val="1B2430"/>
                </a:solidFill>
                <a:latin typeface="Calibri" pitchFamily="34" charset="0"/>
                <a:ea typeface="Calibri" pitchFamily="34" charset="-122"/>
                <a:cs typeface="Calibri" pitchFamily="34" charset="-120"/>
              </a:rPr>
              <a:t>Generated layouts need systematic, constraint-based spatial evaluation</a:t>
            </a:r>
            <a:endParaRPr lang="en-US" sz="1150" dirty="0"/>
          </a:p>
        </p:txBody>
      </p:sp>
      <p:sp>
        <p:nvSpPr>
          <p:cNvPr id="51" name="Shape 49"/>
          <p:cNvSpPr/>
          <p:nvPr/>
        </p:nvSpPr>
        <p:spPr>
          <a:xfrm>
            <a:off x="6144768" y="4700016"/>
            <a:ext cx="5486400" cy="530352"/>
          </a:xfrm>
          <a:prstGeom prst="roundRect">
            <a:avLst>
              <a:gd name="adj" fmla="val 10345"/>
            </a:avLst>
          </a:prstGeom>
          <a:solidFill>
            <a:srgbClr val="EEF3F9"/>
          </a:solidFill>
          <a:ln w="12700">
            <a:solidFill>
              <a:srgbClr val="CBD8E6"/>
            </a:solidFill>
            <a:prstDash val="solid"/>
          </a:ln>
        </p:spPr>
      </p:sp>
      <p:sp>
        <p:nvSpPr>
          <p:cNvPr id="52" name="Shape 50"/>
          <p:cNvSpPr/>
          <p:nvPr/>
        </p:nvSpPr>
        <p:spPr>
          <a:xfrm>
            <a:off x="6327648" y="4832604"/>
            <a:ext cx="265176" cy="265176"/>
          </a:xfrm>
          <a:prstGeom prst="ellipse">
            <a:avLst/>
          </a:prstGeom>
          <a:solidFill>
            <a:srgbClr val="1F4E79"/>
          </a:solidFill>
          <a:ln w="12700">
            <a:solidFill>
              <a:srgbClr val="1F4E79"/>
            </a:solidFill>
            <a:prstDash val="solid"/>
          </a:ln>
        </p:spPr>
      </p:sp>
      <p:sp>
        <p:nvSpPr>
          <p:cNvPr id="53" name="Text 51"/>
          <p:cNvSpPr txBox="1"/>
          <p:nvPr/>
        </p:nvSpPr>
        <p:spPr>
          <a:xfrm>
            <a:off x="6327648" y="4832604"/>
            <a:ext cx="265176" cy="26517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4</a:t>
            </a:r>
            <a:endParaRPr lang="en-US" sz="950" dirty="0"/>
          </a:p>
        </p:txBody>
      </p:sp>
      <p:sp>
        <p:nvSpPr>
          <p:cNvPr id="54" name="Text 52"/>
          <p:cNvSpPr txBox="1"/>
          <p:nvPr/>
        </p:nvSpPr>
        <p:spPr>
          <a:xfrm>
            <a:off x="6720840" y="4718304"/>
            <a:ext cx="4800600" cy="493776"/>
          </a:xfrm>
          <a:prstGeom prst="rect">
            <a:avLst/>
          </a:prstGeom>
          <a:noFill/>
          <a:ln/>
        </p:spPr>
        <p:txBody>
          <a:bodyPr wrap="square" lIns="0" tIns="0" rIns="0" bIns="0" rtlCol="0" anchor="ctr"/>
          <a:lstStyle/>
          <a:p>
            <a:pPr indent="0" marL="0">
              <a:lnSpc>
                <a:spcPts val="1400"/>
              </a:lnSpc>
              <a:buNone/>
            </a:pPr>
            <a:r>
              <a:rPr lang="en-US" sz="1150" dirty="0">
                <a:solidFill>
                  <a:srgbClr val="1B2430"/>
                </a:solidFill>
                <a:latin typeface="Calibri" pitchFamily="34" charset="0"/>
                <a:ea typeface="Calibri" pitchFamily="34" charset="-122"/>
                <a:cs typeface="Calibri" pitchFamily="34" charset="-120"/>
              </a:rPr>
              <a:t>The system should iteratively improve a layout after generating it</a:t>
            </a:r>
            <a:endParaRPr lang="en-US" sz="1150" dirty="0"/>
          </a:p>
        </p:txBody>
      </p:sp>
      <p:sp>
        <p:nvSpPr>
          <p:cNvPr id="55" name="Shape 53"/>
          <p:cNvSpPr/>
          <p:nvPr/>
        </p:nvSpPr>
        <p:spPr>
          <a:xfrm>
            <a:off x="6144768" y="5468112"/>
            <a:ext cx="5486400" cy="731520"/>
          </a:xfrm>
          <a:prstGeom prst="roundRect">
            <a:avLst>
              <a:gd name="adj" fmla="val 7500"/>
            </a:avLst>
          </a:prstGeom>
          <a:solidFill>
            <a:srgbClr val="13294B"/>
          </a:solidFill>
          <a:ln w="12700">
            <a:solidFill>
              <a:srgbClr val="13294B"/>
            </a:solidFill>
            <a:prstDash val="solid"/>
          </a:ln>
        </p:spPr>
      </p:sp>
      <p:sp>
        <p:nvSpPr>
          <p:cNvPr id="56" name="Text 54"/>
          <p:cNvSpPr txBox="1"/>
          <p:nvPr/>
        </p:nvSpPr>
        <p:spPr>
          <a:xfrm>
            <a:off x="6355080" y="5468112"/>
            <a:ext cx="5074920" cy="731520"/>
          </a:xfrm>
          <a:prstGeom prst="rect">
            <a:avLst/>
          </a:prstGeom>
          <a:noFill/>
          <a:ln/>
        </p:spPr>
        <p:txBody>
          <a:bodyPr wrap="square" lIns="0" tIns="0" rIns="0" bIns="0" rtlCol="0" anchor="ctr"/>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Our framework extends the problem beyond generation towards requirement-driven spatial reasoning and optimization.</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327648"/>
            <a:ext cx="457200" cy="274320"/>
          </a:xfrm>
          <a:prstGeom prst="rect">
            <a:avLst/>
          </a:prstGeom>
          <a:noFill/>
          <a:ln/>
        </p:spPr>
        <p:txBody>
          <a:bodyPr wrap="square" lIns="0" tIns="0" rIns="0" bIns="0" rtlCol="0" anchor="ctr"/>
          <a:lstStyle/>
          <a:p>
            <a:pPr algn="r" indent="0" marL="0">
              <a:buNone/>
            </a:pPr>
            <a:r>
              <a:rPr lang="en-US" sz="900" dirty="0">
                <a:solidFill>
                  <a:srgbClr val="5C7C9E"/>
                </a:solidFill>
                <a:latin typeface="Calibri" pitchFamily="34" charset="0"/>
                <a:ea typeface="Calibri" pitchFamily="34" charset="-122"/>
                <a:cs typeface="Calibri" pitchFamily="34" charset="-120"/>
              </a:rPr>
              <a:t>06</a:t>
            </a:r>
            <a:endParaRPr lang="en-US" sz="900" dirty="0"/>
          </a:p>
        </p:txBody>
      </p:sp>
      <p:sp>
        <p:nvSpPr>
          <p:cNvPr id="3" name="Text 1"/>
          <p:cNvSpPr txBox="1"/>
          <p:nvPr/>
        </p:nvSpPr>
        <p:spPr>
          <a:xfrm>
            <a:off x="548640" y="310896"/>
            <a:ext cx="11064240" cy="502920"/>
          </a:xfrm>
          <a:prstGeom prst="rect">
            <a:avLst/>
          </a:prstGeom>
          <a:noFill/>
          <a:ln/>
        </p:spPr>
        <p:txBody>
          <a:bodyPr wrap="square" lIns="0" tIns="0" rIns="0" bIns="0" rtlCol="0" anchor="ctr"/>
          <a:lstStyle/>
          <a:p>
            <a:pPr indent="0" marL="0">
              <a:buNone/>
            </a:pPr>
            <a:r>
              <a:rPr lang="en-US" sz="2900" b="1" dirty="0">
                <a:solidFill>
                  <a:srgbClr val="13294B"/>
                </a:solidFill>
                <a:latin typeface="Cambria" pitchFamily="34" charset="0"/>
                <a:ea typeface="Cambria" pitchFamily="34" charset="-122"/>
                <a:cs typeface="Cambria" pitchFamily="34" charset="-120"/>
              </a:rPr>
              <a:t>Proposed Solution</a:t>
            </a:r>
            <a:endParaRPr lang="en-US" sz="2900" dirty="0"/>
          </a:p>
        </p:txBody>
      </p:sp>
      <p:sp>
        <p:nvSpPr>
          <p:cNvPr id="4" name="Text 2"/>
          <p:cNvSpPr txBox="1"/>
          <p:nvPr/>
        </p:nvSpPr>
        <p:spPr>
          <a:xfrm>
            <a:off x="548640" y="841248"/>
            <a:ext cx="1106424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Agentic AI Framework for Constraint-Aware Architectural Space Planning</a:t>
            </a:r>
            <a:endParaRPr lang="en-US" sz="1200" dirty="0"/>
          </a:p>
        </p:txBody>
      </p:sp>
      <p:sp>
        <p:nvSpPr>
          <p:cNvPr id="5" name="Text 3"/>
          <p:cNvSpPr txBox="1"/>
          <p:nvPr/>
        </p:nvSpPr>
        <p:spPr>
          <a:xfrm>
            <a:off x="548640" y="1188720"/>
            <a:ext cx="11064240" cy="27432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Multiple specialized models and agents replace reliance on a single generation model.</a:t>
            </a:r>
            <a:endParaRPr lang="en-US" sz="1250" dirty="0"/>
          </a:p>
        </p:txBody>
      </p:sp>
      <p:sp>
        <p:nvSpPr>
          <p:cNvPr id="6" name="Shape 4"/>
          <p:cNvSpPr/>
          <p:nvPr/>
        </p:nvSpPr>
        <p:spPr>
          <a:xfrm>
            <a:off x="502920" y="1627632"/>
            <a:ext cx="3108960" cy="502920"/>
          </a:xfrm>
          <a:prstGeom prst="roundRect">
            <a:avLst>
              <a:gd name="adj" fmla="val 10909"/>
            </a:avLst>
          </a:prstGeom>
          <a:solidFill>
            <a:srgbClr val="13294B"/>
          </a:solidFill>
          <a:ln w="12700">
            <a:solidFill>
              <a:srgbClr val="13294B"/>
            </a:solidFill>
            <a:prstDash val="solid"/>
          </a:ln>
        </p:spPr>
      </p:sp>
      <p:sp>
        <p:nvSpPr>
          <p:cNvPr id="7" name="Text 5"/>
          <p:cNvSpPr txBox="1"/>
          <p:nvPr/>
        </p:nvSpPr>
        <p:spPr>
          <a:xfrm>
            <a:off x="594360" y="1627632"/>
            <a:ext cx="292608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USER  ·  natural-language requirement</a:t>
            </a:r>
            <a:endParaRPr lang="en-US" sz="1100" dirty="0"/>
          </a:p>
        </p:txBody>
      </p:sp>
      <p:sp>
        <p:nvSpPr>
          <p:cNvPr id="8" name="Shape 6"/>
          <p:cNvSpPr/>
          <p:nvPr/>
        </p:nvSpPr>
        <p:spPr>
          <a:xfrm>
            <a:off x="1316736" y="2130552"/>
            <a:ext cx="0" cy="274320"/>
          </a:xfrm>
          <a:prstGeom prst="line">
            <a:avLst/>
          </a:prstGeom>
          <a:noFill/>
          <a:ln w="19050">
            <a:solidFill>
              <a:srgbClr val="13294B"/>
            </a:solidFill>
            <a:prstDash val="solid"/>
            <a:tailEnd type="triangle"/>
          </a:ln>
        </p:spPr>
      </p:sp>
      <p:sp>
        <p:nvSpPr>
          <p:cNvPr id="9" name="Shape 7"/>
          <p:cNvSpPr/>
          <p:nvPr/>
        </p:nvSpPr>
        <p:spPr>
          <a:xfrm>
            <a:off x="502920" y="2404872"/>
            <a:ext cx="1627632" cy="1234440"/>
          </a:xfrm>
          <a:prstGeom prst="roundRect">
            <a:avLst>
              <a:gd name="adj" fmla="val 4444"/>
            </a:avLst>
          </a:prstGeom>
          <a:solidFill>
            <a:srgbClr val="FFFFFF"/>
          </a:solidFill>
          <a:ln w="19050">
            <a:solidFill>
              <a:srgbClr val="1F4E79"/>
            </a:solidFill>
            <a:prstDash val="solid"/>
          </a:ln>
        </p:spPr>
      </p:sp>
      <p:sp>
        <p:nvSpPr>
          <p:cNvPr id="10" name="Shape 8"/>
          <p:cNvSpPr/>
          <p:nvPr/>
        </p:nvSpPr>
        <p:spPr>
          <a:xfrm>
            <a:off x="1170432" y="2532888"/>
            <a:ext cx="292608" cy="292608"/>
          </a:xfrm>
          <a:prstGeom prst="ellipse">
            <a:avLst/>
          </a:prstGeom>
          <a:solidFill>
            <a:srgbClr val="13294B"/>
          </a:solidFill>
          <a:ln w="12700">
            <a:solidFill>
              <a:srgbClr val="13294B"/>
            </a:solidFill>
            <a:prstDash val="solid"/>
          </a:ln>
        </p:spPr>
      </p:sp>
      <p:sp>
        <p:nvSpPr>
          <p:cNvPr id="11" name="Text 9"/>
          <p:cNvSpPr txBox="1"/>
          <p:nvPr/>
        </p:nvSpPr>
        <p:spPr>
          <a:xfrm>
            <a:off x="1170432" y="253288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10"/>
          <p:cNvSpPr txBox="1"/>
          <p:nvPr/>
        </p:nvSpPr>
        <p:spPr>
          <a:xfrm>
            <a:off x="557784" y="2880360"/>
            <a:ext cx="1517904" cy="502920"/>
          </a:xfrm>
          <a:prstGeom prst="rect">
            <a:avLst/>
          </a:prstGeom>
          <a:noFill/>
          <a:ln/>
        </p:spPr>
        <p:txBody>
          <a:bodyPr wrap="square" lIns="0" tIns="0" rIns="0" bIns="0" rtlCol="0" anchor="ctr"/>
          <a:lstStyle/>
          <a:p>
            <a:pPr algn="ctr" indent="0" marL="0">
              <a:lnSpc>
                <a:spcPts val="1400"/>
              </a:lnSpc>
              <a:buNone/>
            </a:pPr>
            <a:r>
              <a:rPr lang="en-US" sz="1150" b="1" dirty="0">
                <a:solidFill>
                  <a:srgbClr val="13294B"/>
                </a:solidFill>
                <a:latin typeface="Calibri" pitchFamily="34" charset="0"/>
                <a:ea typeface="Calibri" pitchFamily="34" charset="-122"/>
                <a:cs typeface="Calibri" pitchFamily="34" charset="-120"/>
              </a:rPr>
              <a:t>Requirement</a:t>
            </a:r>
            <a:endParaRPr lang="en-US" sz="1150" dirty="0"/>
          </a:p>
          <a:p>
            <a:pPr algn="ctr" indent="0" marL="0">
              <a:lnSpc>
                <a:spcPts val="1400"/>
              </a:lnSpc>
              <a:buNone/>
            </a:pPr>
            <a:r>
              <a:rPr lang="en-US" sz="1150" b="1" dirty="0">
                <a:solidFill>
                  <a:srgbClr val="13294B"/>
                </a:solidFill>
                <a:latin typeface="Calibri" pitchFamily="34" charset="0"/>
                <a:ea typeface="Calibri" pitchFamily="34" charset="-122"/>
                <a:cs typeface="Calibri" pitchFamily="34" charset="-120"/>
              </a:rPr>
              <a:t>Agent</a:t>
            </a:r>
            <a:endParaRPr lang="en-US" sz="1150" dirty="0"/>
          </a:p>
        </p:txBody>
      </p:sp>
      <p:sp>
        <p:nvSpPr>
          <p:cNvPr id="13" name="Text 11"/>
          <p:cNvSpPr txBox="1"/>
          <p:nvPr/>
        </p:nvSpPr>
        <p:spPr>
          <a:xfrm>
            <a:off x="557784" y="3364992"/>
            <a:ext cx="1517904" cy="219456"/>
          </a:xfrm>
          <a:prstGeom prst="rect">
            <a:avLst/>
          </a:prstGeom>
          <a:noFill/>
          <a:ln/>
        </p:spPr>
        <p:txBody>
          <a:bodyPr wrap="square" lIns="0" tIns="0" rIns="0" bIns="0" rtlCol="0" anchor="ctr"/>
          <a:lstStyle/>
          <a:p>
            <a:pPr algn="ctr" indent="0" marL="0">
              <a:buNone/>
            </a:pPr>
            <a:r>
              <a:rPr lang="en-US" sz="950" spc="60" kern="0" dirty="0">
                <a:solidFill>
                  <a:srgbClr val="5C7C9E"/>
                </a:solidFill>
                <a:latin typeface="Calibri" pitchFamily="34" charset="0"/>
                <a:ea typeface="Calibri" pitchFamily="34" charset="-122"/>
                <a:cs typeface="Calibri" pitchFamily="34" charset="-120"/>
              </a:rPr>
              <a:t>LLM</a:t>
            </a:r>
            <a:endParaRPr lang="en-US" sz="950" dirty="0"/>
          </a:p>
        </p:txBody>
      </p:sp>
      <p:sp>
        <p:nvSpPr>
          <p:cNvPr id="14" name="Shape 12"/>
          <p:cNvSpPr/>
          <p:nvPr/>
        </p:nvSpPr>
        <p:spPr>
          <a:xfrm>
            <a:off x="2157984" y="3022092"/>
            <a:ext cx="182880" cy="0"/>
          </a:xfrm>
          <a:prstGeom prst="line">
            <a:avLst/>
          </a:prstGeom>
          <a:noFill/>
          <a:ln w="19050">
            <a:solidFill>
              <a:srgbClr val="5C7C9E"/>
            </a:solidFill>
            <a:prstDash val="solid"/>
            <a:tailEnd type="triangle"/>
          </a:ln>
        </p:spPr>
      </p:sp>
      <p:sp>
        <p:nvSpPr>
          <p:cNvPr id="15" name="Text 13"/>
          <p:cNvSpPr txBox="1"/>
          <p:nvPr/>
        </p:nvSpPr>
        <p:spPr>
          <a:xfrm>
            <a:off x="411480" y="3749040"/>
            <a:ext cx="1810512" cy="384048"/>
          </a:xfrm>
          <a:prstGeom prst="rect">
            <a:avLst/>
          </a:prstGeom>
          <a:noFill/>
          <a:ln/>
        </p:spPr>
        <p:txBody>
          <a:bodyPr wrap="square" lIns="0" tIns="0" rIns="0" bIns="0" rtlCol="0" anchor="t"/>
          <a:lstStyle/>
          <a:p>
            <a:pPr algn="ctr" indent="0" marL="0">
              <a:lnSpc>
                <a:spcPts val="1200"/>
              </a:lnSpc>
              <a:buNone/>
            </a:pPr>
            <a:r>
              <a:rPr lang="en-US" sz="950" dirty="0">
                <a:solidFill>
                  <a:srgbClr val="5B6B7C"/>
                </a:solidFill>
                <a:latin typeface="Calibri" pitchFamily="34" charset="0"/>
                <a:ea typeface="Calibri" pitchFamily="34" charset="-122"/>
                <a:cs typeface="Calibri" pitchFamily="34" charset="-120"/>
              </a:rPr>
              <a:t>Extracted requirements</a:t>
            </a:r>
            <a:endParaRPr lang="en-US" sz="950" dirty="0"/>
          </a:p>
        </p:txBody>
      </p:sp>
      <p:sp>
        <p:nvSpPr>
          <p:cNvPr id="16" name="Shape 14"/>
          <p:cNvSpPr/>
          <p:nvPr/>
        </p:nvSpPr>
        <p:spPr>
          <a:xfrm>
            <a:off x="1316736" y="3639312"/>
            <a:ext cx="0" cy="91440"/>
          </a:xfrm>
          <a:prstGeom prst="line">
            <a:avLst/>
          </a:prstGeom>
          <a:noFill/>
          <a:ln w="12700">
            <a:solidFill>
              <a:srgbClr val="CBD8E6"/>
            </a:solidFill>
            <a:prstDash val="solid"/>
          </a:ln>
        </p:spPr>
      </p:sp>
      <p:sp>
        <p:nvSpPr>
          <p:cNvPr id="17" name="Shape 15"/>
          <p:cNvSpPr/>
          <p:nvPr/>
        </p:nvSpPr>
        <p:spPr>
          <a:xfrm>
            <a:off x="2368296" y="2404872"/>
            <a:ext cx="1627632" cy="1234440"/>
          </a:xfrm>
          <a:prstGeom prst="roundRect">
            <a:avLst>
              <a:gd name="adj" fmla="val 4444"/>
            </a:avLst>
          </a:prstGeom>
          <a:solidFill>
            <a:srgbClr val="FFFFFF"/>
          </a:solidFill>
          <a:ln w="19050">
            <a:solidFill>
              <a:srgbClr val="1F4E79"/>
            </a:solidFill>
            <a:prstDash val="solid"/>
          </a:ln>
        </p:spPr>
      </p:sp>
      <p:sp>
        <p:nvSpPr>
          <p:cNvPr id="18" name="Shape 16"/>
          <p:cNvSpPr/>
          <p:nvPr/>
        </p:nvSpPr>
        <p:spPr>
          <a:xfrm>
            <a:off x="3035808" y="2532888"/>
            <a:ext cx="292608" cy="292608"/>
          </a:xfrm>
          <a:prstGeom prst="ellipse">
            <a:avLst/>
          </a:prstGeom>
          <a:solidFill>
            <a:srgbClr val="13294B"/>
          </a:solidFill>
          <a:ln w="12700">
            <a:solidFill>
              <a:srgbClr val="13294B"/>
            </a:solidFill>
            <a:prstDash val="solid"/>
          </a:ln>
        </p:spPr>
      </p:sp>
      <p:sp>
        <p:nvSpPr>
          <p:cNvPr id="19" name="Text 17"/>
          <p:cNvSpPr txBox="1"/>
          <p:nvPr/>
        </p:nvSpPr>
        <p:spPr>
          <a:xfrm>
            <a:off x="3035808" y="253288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0" name="Text 18"/>
          <p:cNvSpPr txBox="1"/>
          <p:nvPr/>
        </p:nvSpPr>
        <p:spPr>
          <a:xfrm>
            <a:off x="2423160" y="2880360"/>
            <a:ext cx="1517904" cy="502920"/>
          </a:xfrm>
          <a:prstGeom prst="rect">
            <a:avLst/>
          </a:prstGeom>
          <a:noFill/>
          <a:ln/>
        </p:spPr>
        <p:txBody>
          <a:bodyPr wrap="square" lIns="0" tIns="0" rIns="0" bIns="0" rtlCol="0" anchor="ctr"/>
          <a:lstStyle/>
          <a:p>
            <a:pPr algn="ctr" indent="0" marL="0">
              <a:lnSpc>
                <a:spcPts val="1400"/>
              </a:lnSpc>
              <a:buNone/>
            </a:pPr>
            <a:r>
              <a:rPr lang="en-US" sz="1150" b="1" dirty="0">
                <a:solidFill>
                  <a:srgbClr val="13294B"/>
                </a:solidFill>
                <a:latin typeface="Calibri" pitchFamily="34" charset="0"/>
                <a:ea typeface="Calibri" pitchFamily="34" charset="-122"/>
                <a:cs typeface="Calibri" pitchFamily="34" charset="-120"/>
              </a:rPr>
              <a:t>Spatial Planning</a:t>
            </a:r>
            <a:endParaRPr lang="en-US" sz="1150" dirty="0"/>
          </a:p>
          <a:p>
            <a:pPr algn="ctr" indent="0" marL="0">
              <a:lnSpc>
                <a:spcPts val="1400"/>
              </a:lnSpc>
              <a:buNone/>
            </a:pPr>
            <a:r>
              <a:rPr lang="en-US" sz="1150" b="1" dirty="0">
                <a:solidFill>
                  <a:srgbClr val="13294B"/>
                </a:solidFill>
                <a:latin typeface="Calibri" pitchFamily="34" charset="0"/>
                <a:ea typeface="Calibri" pitchFamily="34" charset="-122"/>
                <a:cs typeface="Calibri" pitchFamily="34" charset="-120"/>
              </a:rPr>
              <a:t>Agent</a:t>
            </a:r>
            <a:endParaRPr lang="en-US" sz="1150" dirty="0"/>
          </a:p>
        </p:txBody>
      </p:sp>
      <p:sp>
        <p:nvSpPr>
          <p:cNvPr id="21" name="Text 19"/>
          <p:cNvSpPr txBox="1"/>
          <p:nvPr/>
        </p:nvSpPr>
        <p:spPr>
          <a:xfrm>
            <a:off x="2423160" y="3364992"/>
            <a:ext cx="1517904" cy="219456"/>
          </a:xfrm>
          <a:prstGeom prst="rect">
            <a:avLst/>
          </a:prstGeom>
          <a:noFill/>
          <a:ln/>
        </p:spPr>
        <p:txBody>
          <a:bodyPr wrap="square" lIns="0" tIns="0" rIns="0" bIns="0" rtlCol="0" anchor="ctr"/>
          <a:lstStyle/>
          <a:p>
            <a:pPr algn="ctr" indent="0" marL="0">
              <a:buNone/>
            </a:pPr>
            <a:r>
              <a:rPr lang="en-US" sz="950" spc="60" kern="0" dirty="0">
                <a:solidFill>
                  <a:srgbClr val="5C7C9E"/>
                </a:solidFill>
                <a:latin typeface="Calibri" pitchFamily="34" charset="0"/>
                <a:ea typeface="Calibri" pitchFamily="34" charset="-122"/>
                <a:cs typeface="Calibri" pitchFamily="34" charset="-120"/>
              </a:rPr>
              <a:t>Reasoning</a:t>
            </a:r>
            <a:endParaRPr lang="en-US" sz="950" dirty="0"/>
          </a:p>
        </p:txBody>
      </p:sp>
      <p:sp>
        <p:nvSpPr>
          <p:cNvPr id="22" name="Shape 20"/>
          <p:cNvSpPr/>
          <p:nvPr/>
        </p:nvSpPr>
        <p:spPr>
          <a:xfrm>
            <a:off x="4023360" y="3022092"/>
            <a:ext cx="182880" cy="0"/>
          </a:xfrm>
          <a:prstGeom prst="line">
            <a:avLst/>
          </a:prstGeom>
          <a:noFill/>
          <a:ln w="19050">
            <a:solidFill>
              <a:srgbClr val="5C7C9E"/>
            </a:solidFill>
            <a:prstDash val="solid"/>
            <a:tailEnd type="triangle"/>
          </a:ln>
        </p:spPr>
      </p:sp>
      <p:sp>
        <p:nvSpPr>
          <p:cNvPr id="23" name="Text 21"/>
          <p:cNvSpPr txBox="1"/>
          <p:nvPr/>
        </p:nvSpPr>
        <p:spPr>
          <a:xfrm>
            <a:off x="2276856" y="3749040"/>
            <a:ext cx="1810512" cy="384048"/>
          </a:xfrm>
          <a:prstGeom prst="rect">
            <a:avLst/>
          </a:prstGeom>
          <a:noFill/>
          <a:ln/>
        </p:spPr>
        <p:txBody>
          <a:bodyPr wrap="square" lIns="0" tIns="0" rIns="0" bIns="0" rtlCol="0" anchor="t"/>
          <a:lstStyle/>
          <a:p>
            <a:pPr algn="ctr" indent="0" marL="0">
              <a:lnSpc>
                <a:spcPts val="1200"/>
              </a:lnSpc>
              <a:buNone/>
            </a:pPr>
            <a:r>
              <a:rPr lang="en-US" sz="950" dirty="0">
                <a:solidFill>
                  <a:srgbClr val="5B6B7C"/>
                </a:solidFill>
                <a:latin typeface="Calibri" pitchFamily="34" charset="0"/>
                <a:ea typeface="Calibri" pitchFamily="34" charset="-122"/>
                <a:cs typeface="Calibri" pitchFamily="34" charset="-120"/>
              </a:rPr>
              <a:t>Spatial graph</a:t>
            </a:r>
            <a:endParaRPr lang="en-US" sz="950" dirty="0"/>
          </a:p>
        </p:txBody>
      </p:sp>
      <p:sp>
        <p:nvSpPr>
          <p:cNvPr id="24" name="Shape 22"/>
          <p:cNvSpPr/>
          <p:nvPr/>
        </p:nvSpPr>
        <p:spPr>
          <a:xfrm>
            <a:off x="3182112" y="3639312"/>
            <a:ext cx="0" cy="91440"/>
          </a:xfrm>
          <a:prstGeom prst="line">
            <a:avLst/>
          </a:prstGeom>
          <a:noFill/>
          <a:ln w="12700">
            <a:solidFill>
              <a:srgbClr val="CBD8E6"/>
            </a:solidFill>
            <a:prstDash val="solid"/>
          </a:ln>
        </p:spPr>
      </p:sp>
      <p:sp>
        <p:nvSpPr>
          <p:cNvPr id="25" name="Shape 23"/>
          <p:cNvSpPr/>
          <p:nvPr/>
        </p:nvSpPr>
        <p:spPr>
          <a:xfrm>
            <a:off x="4233672" y="2404872"/>
            <a:ext cx="1627632" cy="1234440"/>
          </a:xfrm>
          <a:prstGeom prst="roundRect">
            <a:avLst>
              <a:gd name="adj" fmla="val 4444"/>
            </a:avLst>
          </a:prstGeom>
          <a:solidFill>
            <a:srgbClr val="FFFFFF"/>
          </a:solidFill>
          <a:ln w="19050">
            <a:solidFill>
              <a:srgbClr val="1F4E79"/>
            </a:solidFill>
            <a:prstDash val="solid"/>
          </a:ln>
        </p:spPr>
      </p:sp>
      <p:sp>
        <p:nvSpPr>
          <p:cNvPr id="26" name="Shape 24"/>
          <p:cNvSpPr/>
          <p:nvPr/>
        </p:nvSpPr>
        <p:spPr>
          <a:xfrm>
            <a:off x="4901184" y="2532888"/>
            <a:ext cx="292608" cy="292608"/>
          </a:xfrm>
          <a:prstGeom prst="ellipse">
            <a:avLst/>
          </a:prstGeom>
          <a:solidFill>
            <a:srgbClr val="13294B"/>
          </a:solidFill>
          <a:ln w="12700">
            <a:solidFill>
              <a:srgbClr val="13294B"/>
            </a:solidFill>
            <a:prstDash val="solid"/>
          </a:ln>
        </p:spPr>
      </p:sp>
      <p:sp>
        <p:nvSpPr>
          <p:cNvPr id="27" name="Text 25"/>
          <p:cNvSpPr txBox="1"/>
          <p:nvPr/>
        </p:nvSpPr>
        <p:spPr>
          <a:xfrm>
            <a:off x="4901184" y="253288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8" name="Text 26"/>
          <p:cNvSpPr txBox="1"/>
          <p:nvPr/>
        </p:nvSpPr>
        <p:spPr>
          <a:xfrm>
            <a:off x="4288536" y="2880360"/>
            <a:ext cx="1517904" cy="502920"/>
          </a:xfrm>
          <a:prstGeom prst="rect">
            <a:avLst/>
          </a:prstGeom>
          <a:noFill/>
          <a:ln/>
        </p:spPr>
        <p:txBody>
          <a:bodyPr wrap="square" lIns="0" tIns="0" rIns="0" bIns="0" rtlCol="0" anchor="ctr"/>
          <a:lstStyle/>
          <a:p>
            <a:pPr algn="ctr" indent="0" marL="0">
              <a:lnSpc>
                <a:spcPts val="1400"/>
              </a:lnSpc>
              <a:buNone/>
            </a:pPr>
            <a:r>
              <a:rPr lang="en-US" sz="1150" b="1" dirty="0">
                <a:solidFill>
                  <a:srgbClr val="13294B"/>
                </a:solidFill>
                <a:latin typeface="Calibri" pitchFamily="34" charset="0"/>
                <a:ea typeface="Calibri" pitchFamily="34" charset="-122"/>
                <a:cs typeface="Calibri" pitchFamily="34" charset="-120"/>
              </a:rPr>
              <a:t>Floor-Plan</a:t>
            </a:r>
            <a:endParaRPr lang="en-US" sz="1150" dirty="0"/>
          </a:p>
          <a:p>
            <a:pPr algn="ctr" indent="0" marL="0">
              <a:lnSpc>
                <a:spcPts val="1400"/>
              </a:lnSpc>
              <a:buNone/>
            </a:pPr>
            <a:r>
              <a:rPr lang="en-US" sz="1150" b="1" dirty="0">
                <a:solidFill>
                  <a:srgbClr val="13294B"/>
                </a:solidFill>
                <a:latin typeface="Calibri" pitchFamily="34" charset="0"/>
                <a:ea typeface="Calibri" pitchFamily="34" charset="-122"/>
                <a:cs typeface="Calibri" pitchFamily="34" charset="-120"/>
              </a:rPr>
              <a:t>Generation Model</a:t>
            </a:r>
            <a:endParaRPr lang="en-US" sz="1150" dirty="0"/>
          </a:p>
        </p:txBody>
      </p:sp>
      <p:sp>
        <p:nvSpPr>
          <p:cNvPr id="29" name="Text 27"/>
          <p:cNvSpPr txBox="1"/>
          <p:nvPr/>
        </p:nvSpPr>
        <p:spPr>
          <a:xfrm>
            <a:off x="4288536" y="3364992"/>
            <a:ext cx="1517904" cy="219456"/>
          </a:xfrm>
          <a:prstGeom prst="rect">
            <a:avLst/>
          </a:prstGeom>
          <a:noFill/>
          <a:ln/>
        </p:spPr>
        <p:txBody>
          <a:bodyPr wrap="square" lIns="0" tIns="0" rIns="0" bIns="0" rtlCol="0" anchor="ctr"/>
          <a:lstStyle/>
          <a:p>
            <a:pPr algn="ctr" indent="0" marL="0">
              <a:buNone/>
            </a:pPr>
            <a:r>
              <a:rPr lang="en-US" sz="950" spc="60" kern="0" dirty="0">
                <a:solidFill>
                  <a:srgbClr val="5C7C9E"/>
                </a:solidFill>
                <a:latin typeface="Calibri" pitchFamily="34" charset="0"/>
                <a:ea typeface="Calibri" pitchFamily="34" charset="-122"/>
                <a:cs typeface="Calibri" pitchFamily="34" charset="-120"/>
              </a:rPr>
              <a:t>Generative</a:t>
            </a:r>
            <a:endParaRPr lang="en-US" sz="950" dirty="0"/>
          </a:p>
        </p:txBody>
      </p:sp>
      <p:sp>
        <p:nvSpPr>
          <p:cNvPr id="30" name="Shape 28"/>
          <p:cNvSpPr/>
          <p:nvPr/>
        </p:nvSpPr>
        <p:spPr>
          <a:xfrm>
            <a:off x="5888736" y="3022092"/>
            <a:ext cx="182880" cy="0"/>
          </a:xfrm>
          <a:prstGeom prst="line">
            <a:avLst/>
          </a:prstGeom>
          <a:noFill/>
          <a:ln w="19050">
            <a:solidFill>
              <a:srgbClr val="5C7C9E"/>
            </a:solidFill>
            <a:prstDash val="solid"/>
            <a:tailEnd type="triangle"/>
          </a:ln>
        </p:spPr>
      </p:sp>
      <p:sp>
        <p:nvSpPr>
          <p:cNvPr id="31" name="Text 29"/>
          <p:cNvSpPr txBox="1"/>
          <p:nvPr/>
        </p:nvSpPr>
        <p:spPr>
          <a:xfrm>
            <a:off x="4142232" y="3749040"/>
            <a:ext cx="1810512" cy="384048"/>
          </a:xfrm>
          <a:prstGeom prst="rect">
            <a:avLst/>
          </a:prstGeom>
          <a:noFill/>
          <a:ln/>
        </p:spPr>
        <p:txBody>
          <a:bodyPr wrap="square" lIns="0" tIns="0" rIns="0" bIns="0" rtlCol="0" anchor="t"/>
          <a:lstStyle/>
          <a:p>
            <a:pPr algn="ctr" indent="0" marL="0">
              <a:lnSpc>
                <a:spcPts val="1200"/>
              </a:lnSpc>
              <a:buNone/>
            </a:pPr>
            <a:r>
              <a:rPr lang="en-US" sz="950" dirty="0">
                <a:solidFill>
                  <a:srgbClr val="5B6B7C"/>
                </a:solidFill>
                <a:latin typeface="Calibri" pitchFamily="34" charset="0"/>
                <a:ea typeface="Calibri" pitchFamily="34" charset="-122"/>
                <a:cs typeface="Calibri" pitchFamily="34" charset="-120"/>
              </a:rPr>
              <a:t>Candidate layouts</a:t>
            </a:r>
            <a:endParaRPr lang="en-US" sz="950" dirty="0"/>
          </a:p>
        </p:txBody>
      </p:sp>
      <p:sp>
        <p:nvSpPr>
          <p:cNvPr id="32" name="Shape 30"/>
          <p:cNvSpPr/>
          <p:nvPr/>
        </p:nvSpPr>
        <p:spPr>
          <a:xfrm>
            <a:off x="5047488" y="3639312"/>
            <a:ext cx="0" cy="91440"/>
          </a:xfrm>
          <a:prstGeom prst="line">
            <a:avLst/>
          </a:prstGeom>
          <a:noFill/>
          <a:ln w="12700">
            <a:solidFill>
              <a:srgbClr val="CBD8E6"/>
            </a:solidFill>
            <a:prstDash val="solid"/>
          </a:ln>
        </p:spPr>
      </p:sp>
      <p:sp>
        <p:nvSpPr>
          <p:cNvPr id="33" name="Shape 31"/>
          <p:cNvSpPr/>
          <p:nvPr/>
        </p:nvSpPr>
        <p:spPr>
          <a:xfrm>
            <a:off x="6099048" y="2404872"/>
            <a:ext cx="1627632" cy="1234440"/>
          </a:xfrm>
          <a:prstGeom prst="roundRect">
            <a:avLst>
              <a:gd name="adj" fmla="val 4444"/>
            </a:avLst>
          </a:prstGeom>
          <a:solidFill>
            <a:srgbClr val="FFFFFF"/>
          </a:solidFill>
          <a:ln w="19050">
            <a:solidFill>
              <a:srgbClr val="C05621"/>
            </a:solidFill>
            <a:prstDash val="solid"/>
          </a:ln>
        </p:spPr>
      </p:sp>
      <p:sp>
        <p:nvSpPr>
          <p:cNvPr id="34" name="Shape 32"/>
          <p:cNvSpPr/>
          <p:nvPr/>
        </p:nvSpPr>
        <p:spPr>
          <a:xfrm>
            <a:off x="6766560" y="2532888"/>
            <a:ext cx="292608" cy="292608"/>
          </a:xfrm>
          <a:prstGeom prst="ellipse">
            <a:avLst/>
          </a:prstGeom>
          <a:solidFill>
            <a:srgbClr val="C05621"/>
          </a:solidFill>
          <a:ln w="12700">
            <a:solidFill>
              <a:srgbClr val="C05621"/>
            </a:solidFill>
            <a:prstDash val="solid"/>
          </a:ln>
        </p:spPr>
      </p:sp>
      <p:sp>
        <p:nvSpPr>
          <p:cNvPr id="35" name="Text 33"/>
          <p:cNvSpPr txBox="1"/>
          <p:nvPr/>
        </p:nvSpPr>
        <p:spPr>
          <a:xfrm>
            <a:off x="6766560" y="253288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6" name="Text 34"/>
          <p:cNvSpPr txBox="1"/>
          <p:nvPr/>
        </p:nvSpPr>
        <p:spPr>
          <a:xfrm>
            <a:off x="6153912" y="2880360"/>
            <a:ext cx="1517904" cy="502920"/>
          </a:xfrm>
          <a:prstGeom prst="rect">
            <a:avLst/>
          </a:prstGeom>
          <a:noFill/>
          <a:ln/>
        </p:spPr>
        <p:txBody>
          <a:bodyPr wrap="square" lIns="0" tIns="0" rIns="0" bIns="0" rtlCol="0" anchor="ctr"/>
          <a:lstStyle/>
          <a:p>
            <a:pPr algn="ctr" indent="0" marL="0">
              <a:lnSpc>
                <a:spcPts val="1400"/>
              </a:lnSpc>
              <a:buNone/>
            </a:pPr>
            <a:r>
              <a:rPr lang="en-US" sz="1150" b="1" dirty="0">
                <a:solidFill>
                  <a:srgbClr val="13294B"/>
                </a:solidFill>
                <a:latin typeface="Calibri" pitchFamily="34" charset="0"/>
                <a:ea typeface="Calibri" pitchFamily="34" charset="-122"/>
                <a:cs typeface="Calibri" pitchFamily="34" charset="-120"/>
              </a:rPr>
              <a:t>Spatial Critic</a:t>
            </a:r>
            <a:endParaRPr lang="en-US" sz="1150" dirty="0"/>
          </a:p>
          <a:p>
            <a:pPr algn="ctr" indent="0" marL="0">
              <a:lnSpc>
                <a:spcPts val="1400"/>
              </a:lnSpc>
              <a:buNone/>
            </a:pPr>
            <a:r>
              <a:rPr lang="en-US" sz="1150" b="1" dirty="0">
                <a:solidFill>
                  <a:srgbClr val="13294B"/>
                </a:solidFill>
                <a:latin typeface="Calibri" pitchFamily="34" charset="0"/>
                <a:ea typeface="Calibri" pitchFamily="34" charset="-122"/>
                <a:cs typeface="Calibri" pitchFamily="34" charset="-120"/>
              </a:rPr>
              <a:t>Agent</a:t>
            </a:r>
            <a:endParaRPr lang="en-US" sz="1150" dirty="0"/>
          </a:p>
        </p:txBody>
      </p:sp>
      <p:sp>
        <p:nvSpPr>
          <p:cNvPr id="37" name="Text 35"/>
          <p:cNvSpPr txBox="1"/>
          <p:nvPr/>
        </p:nvSpPr>
        <p:spPr>
          <a:xfrm>
            <a:off x="6153912" y="3364992"/>
            <a:ext cx="1517904" cy="219456"/>
          </a:xfrm>
          <a:prstGeom prst="rect">
            <a:avLst/>
          </a:prstGeom>
          <a:noFill/>
          <a:ln/>
        </p:spPr>
        <p:txBody>
          <a:bodyPr wrap="square" lIns="0" tIns="0" rIns="0" bIns="0" rtlCol="0" anchor="ctr"/>
          <a:lstStyle/>
          <a:p>
            <a:pPr algn="ctr" indent="0" marL="0">
              <a:buNone/>
            </a:pPr>
            <a:r>
              <a:rPr lang="en-US" sz="950" spc="60" kern="0" dirty="0">
                <a:solidFill>
                  <a:srgbClr val="C05621"/>
                </a:solidFill>
                <a:latin typeface="Calibri" pitchFamily="34" charset="0"/>
                <a:ea typeface="Calibri" pitchFamily="34" charset="-122"/>
                <a:cs typeface="Calibri" pitchFamily="34" charset="-120"/>
              </a:rPr>
              <a:t>Evaluation</a:t>
            </a:r>
            <a:endParaRPr lang="en-US" sz="950" dirty="0"/>
          </a:p>
        </p:txBody>
      </p:sp>
      <p:sp>
        <p:nvSpPr>
          <p:cNvPr id="38" name="Shape 36"/>
          <p:cNvSpPr/>
          <p:nvPr/>
        </p:nvSpPr>
        <p:spPr>
          <a:xfrm>
            <a:off x="7754112" y="3022092"/>
            <a:ext cx="182880" cy="0"/>
          </a:xfrm>
          <a:prstGeom prst="line">
            <a:avLst/>
          </a:prstGeom>
          <a:noFill/>
          <a:ln w="19050">
            <a:solidFill>
              <a:srgbClr val="5C7C9E"/>
            </a:solidFill>
            <a:prstDash val="solid"/>
            <a:tailEnd type="triangle"/>
          </a:ln>
        </p:spPr>
      </p:sp>
      <p:sp>
        <p:nvSpPr>
          <p:cNvPr id="39" name="Text 37"/>
          <p:cNvSpPr txBox="1"/>
          <p:nvPr/>
        </p:nvSpPr>
        <p:spPr>
          <a:xfrm>
            <a:off x="6007608" y="3749040"/>
            <a:ext cx="1810512" cy="384048"/>
          </a:xfrm>
          <a:prstGeom prst="rect">
            <a:avLst/>
          </a:prstGeom>
          <a:noFill/>
          <a:ln/>
        </p:spPr>
        <p:txBody>
          <a:bodyPr wrap="square" lIns="0" tIns="0" rIns="0" bIns="0" rtlCol="0" anchor="t"/>
          <a:lstStyle/>
          <a:p>
            <a:pPr algn="ctr" indent="0" marL="0">
              <a:lnSpc>
                <a:spcPts val="1200"/>
              </a:lnSpc>
              <a:buNone/>
            </a:pPr>
            <a:r>
              <a:rPr lang="en-US" sz="950" dirty="0">
                <a:solidFill>
                  <a:srgbClr val="5B6B7C"/>
                </a:solidFill>
                <a:latin typeface="Calibri" pitchFamily="34" charset="0"/>
                <a:ea typeface="Calibri" pitchFamily="34" charset="-122"/>
                <a:cs typeface="Calibri" pitchFamily="34" charset="-120"/>
              </a:rPr>
              <a:t>Spatial score</a:t>
            </a:r>
            <a:endParaRPr lang="en-US" sz="950" dirty="0"/>
          </a:p>
        </p:txBody>
      </p:sp>
      <p:sp>
        <p:nvSpPr>
          <p:cNvPr id="40" name="Shape 38"/>
          <p:cNvSpPr/>
          <p:nvPr/>
        </p:nvSpPr>
        <p:spPr>
          <a:xfrm>
            <a:off x="6912864" y="3639312"/>
            <a:ext cx="0" cy="91440"/>
          </a:xfrm>
          <a:prstGeom prst="line">
            <a:avLst/>
          </a:prstGeom>
          <a:noFill/>
          <a:ln w="12700">
            <a:solidFill>
              <a:srgbClr val="CBD8E6"/>
            </a:solidFill>
            <a:prstDash val="solid"/>
          </a:ln>
        </p:spPr>
      </p:sp>
      <p:sp>
        <p:nvSpPr>
          <p:cNvPr id="41" name="Shape 39"/>
          <p:cNvSpPr/>
          <p:nvPr/>
        </p:nvSpPr>
        <p:spPr>
          <a:xfrm>
            <a:off x="7964424" y="2404872"/>
            <a:ext cx="1627632" cy="1234440"/>
          </a:xfrm>
          <a:prstGeom prst="roundRect">
            <a:avLst>
              <a:gd name="adj" fmla="val 4444"/>
            </a:avLst>
          </a:prstGeom>
          <a:solidFill>
            <a:srgbClr val="FFFFFF"/>
          </a:solidFill>
          <a:ln w="19050">
            <a:solidFill>
              <a:srgbClr val="C05621"/>
            </a:solidFill>
            <a:prstDash val="solid"/>
          </a:ln>
        </p:spPr>
      </p:sp>
      <p:sp>
        <p:nvSpPr>
          <p:cNvPr id="42" name="Shape 40"/>
          <p:cNvSpPr/>
          <p:nvPr/>
        </p:nvSpPr>
        <p:spPr>
          <a:xfrm>
            <a:off x="8631936" y="2532888"/>
            <a:ext cx="292608" cy="292608"/>
          </a:xfrm>
          <a:prstGeom prst="ellipse">
            <a:avLst/>
          </a:prstGeom>
          <a:solidFill>
            <a:srgbClr val="C05621"/>
          </a:solidFill>
          <a:ln w="12700">
            <a:solidFill>
              <a:srgbClr val="C05621"/>
            </a:solidFill>
            <a:prstDash val="solid"/>
          </a:ln>
        </p:spPr>
      </p:sp>
      <p:sp>
        <p:nvSpPr>
          <p:cNvPr id="43" name="Text 41"/>
          <p:cNvSpPr txBox="1"/>
          <p:nvPr/>
        </p:nvSpPr>
        <p:spPr>
          <a:xfrm>
            <a:off x="8631936" y="253288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4" name="Text 42"/>
          <p:cNvSpPr txBox="1"/>
          <p:nvPr/>
        </p:nvSpPr>
        <p:spPr>
          <a:xfrm>
            <a:off x="8019288" y="2880360"/>
            <a:ext cx="1517904" cy="502920"/>
          </a:xfrm>
          <a:prstGeom prst="rect">
            <a:avLst/>
          </a:prstGeom>
          <a:noFill/>
          <a:ln/>
        </p:spPr>
        <p:txBody>
          <a:bodyPr wrap="square" lIns="0" tIns="0" rIns="0" bIns="0" rtlCol="0" anchor="ctr"/>
          <a:lstStyle/>
          <a:p>
            <a:pPr algn="ctr" indent="0" marL="0">
              <a:lnSpc>
                <a:spcPts val="1400"/>
              </a:lnSpc>
              <a:buNone/>
            </a:pPr>
            <a:r>
              <a:rPr lang="en-US" sz="1150" b="1" dirty="0">
                <a:solidFill>
                  <a:srgbClr val="13294B"/>
                </a:solidFill>
                <a:latin typeface="Calibri" pitchFamily="34" charset="0"/>
                <a:ea typeface="Calibri" pitchFamily="34" charset="-122"/>
                <a:cs typeface="Calibri" pitchFamily="34" charset="-120"/>
              </a:rPr>
              <a:t>Optimization</a:t>
            </a:r>
            <a:endParaRPr lang="en-US" sz="1150" dirty="0"/>
          </a:p>
          <a:p>
            <a:pPr algn="ctr" indent="0" marL="0">
              <a:lnSpc>
                <a:spcPts val="1400"/>
              </a:lnSpc>
              <a:buNone/>
            </a:pPr>
            <a:r>
              <a:rPr lang="en-US" sz="1150" b="1" dirty="0">
                <a:solidFill>
                  <a:srgbClr val="13294B"/>
                </a:solidFill>
                <a:latin typeface="Calibri" pitchFamily="34" charset="0"/>
                <a:ea typeface="Calibri" pitchFamily="34" charset="-122"/>
                <a:cs typeface="Calibri" pitchFamily="34" charset="-120"/>
              </a:rPr>
              <a:t>Agent</a:t>
            </a:r>
            <a:endParaRPr lang="en-US" sz="1150" dirty="0"/>
          </a:p>
        </p:txBody>
      </p:sp>
      <p:sp>
        <p:nvSpPr>
          <p:cNvPr id="45" name="Text 43"/>
          <p:cNvSpPr txBox="1"/>
          <p:nvPr/>
        </p:nvSpPr>
        <p:spPr>
          <a:xfrm>
            <a:off x="8019288" y="3364992"/>
            <a:ext cx="1517904" cy="219456"/>
          </a:xfrm>
          <a:prstGeom prst="rect">
            <a:avLst/>
          </a:prstGeom>
          <a:noFill/>
          <a:ln/>
        </p:spPr>
        <p:txBody>
          <a:bodyPr wrap="square" lIns="0" tIns="0" rIns="0" bIns="0" rtlCol="0" anchor="ctr"/>
          <a:lstStyle/>
          <a:p>
            <a:pPr algn="ctr" indent="0" marL="0">
              <a:buNone/>
            </a:pPr>
            <a:r>
              <a:rPr lang="en-US" sz="950" spc="60" kern="0" dirty="0">
                <a:solidFill>
                  <a:srgbClr val="C05621"/>
                </a:solidFill>
                <a:latin typeface="Calibri" pitchFamily="34" charset="0"/>
                <a:ea typeface="Calibri" pitchFamily="34" charset="-122"/>
                <a:cs typeface="Calibri" pitchFamily="34" charset="-120"/>
              </a:rPr>
              <a:t>Refinement</a:t>
            </a:r>
            <a:endParaRPr lang="en-US" sz="950" dirty="0"/>
          </a:p>
        </p:txBody>
      </p:sp>
      <p:sp>
        <p:nvSpPr>
          <p:cNvPr id="46" name="Text 44"/>
          <p:cNvSpPr txBox="1"/>
          <p:nvPr/>
        </p:nvSpPr>
        <p:spPr>
          <a:xfrm>
            <a:off x="7872984" y="3749040"/>
            <a:ext cx="1810512" cy="384048"/>
          </a:xfrm>
          <a:prstGeom prst="rect">
            <a:avLst/>
          </a:prstGeom>
          <a:noFill/>
          <a:ln/>
        </p:spPr>
        <p:txBody>
          <a:bodyPr wrap="square" lIns="0" tIns="0" rIns="0" bIns="0" rtlCol="0" anchor="t"/>
          <a:lstStyle/>
          <a:p>
            <a:pPr algn="ctr" indent="0" marL="0">
              <a:lnSpc>
                <a:spcPts val="1200"/>
              </a:lnSpc>
              <a:buNone/>
            </a:pPr>
            <a:r>
              <a:rPr lang="en-US" sz="950" dirty="0">
                <a:solidFill>
                  <a:srgbClr val="5B6B7C"/>
                </a:solidFill>
                <a:latin typeface="Calibri" pitchFamily="34" charset="0"/>
                <a:ea typeface="Calibri" pitchFamily="34" charset="-122"/>
                <a:cs typeface="Calibri" pitchFamily="34" charset="-120"/>
              </a:rPr>
              <a:t>Refined layout</a:t>
            </a:r>
            <a:endParaRPr lang="en-US" sz="950" dirty="0"/>
          </a:p>
        </p:txBody>
      </p:sp>
      <p:sp>
        <p:nvSpPr>
          <p:cNvPr id="47" name="Shape 45"/>
          <p:cNvSpPr/>
          <p:nvPr/>
        </p:nvSpPr>
        <p:spPr>
          <a:xfrm>
            <a:off x="8778240" y="3639312"/>
            <a:ext cx="0" cy="91440"/>
          </a:xfrm>
          <a:prstGeom prst="line">
            <a:avLst/>
          </a:prstGeom>
          <a:noFill/>
          <a:ln w="12700">
            <a:solidFill>
              <a:srgbClr val="CBD8E6"/>
            </a:solidFill>
            <a:prstDash val="solid"/>
          </a:ln>
        </p:spPr>
      </p:sp>
      <p:sp>
        <p:nvSpPr>
          <p:cNvPr id="48" name="Shape 46"/>
          <p:cNvSpPr/>
          <p:nvPr/>
        </p:nvSpPr>
        <p:spPr>
          <a:xfrm>
            <a:off x="9619488" y="3022092"/>
            <a:ext cx="182880" cy="0"/>
          </a:xfrm>
          <a:prstGeom prst="line">
            <a:avLst/>
          </a:prstGeom>
          <a:noFill/>
          <a:ln w="19050">
            <a:solidFill>
              <a:srgbClr val="C05621"/>
            </a:solidFill>
            <a:prstDash val="solid"/>
            <a:tailEnd type="triangle"/>
          </a:ln>
        </p:spPr>
      </p:sp>
      <p:sp>
        <p:nvSpPr>
          <p:cNvPr id="49" name="Shape 47"/>
          <p:cNvSpPr/>
          <p:nvPr/>
        </p:nvSpPr>
        <p:spPr>
          <a:xfrm>
            <a:off x="9829800" y="2404872"/>
            <a:ext cx="1856232" cy="1234440"/>
          </a:xfrm>
          <a:prstGeom prst="roundRect">
            <a:avLst>
              <a:gd name="adj" fmla="val 4444"/>
            </a:avLst>
          </a:prstGeom>
          <a:solidFill>
            <a:srgbClr val="13294B"/>
          </a:solidFill>
          <a:ln w="12700">
            <a:solidFill>
              <a:srgbClr val="13294B"/>
            </a:solidFill>
            <a:prstDash val="solid"/>
          </a:ln>
        </p:spPr>
      </p:sp>
      <p:sp>
        <p:nvSpPr>
          <p:cNvPr id="50" name="Text 48"/>
          <p:cNvSpPr txBox="1"/>
          <p:nvPr/>
        </p:nvSpPr>
        <p:spPr>
          <a:xfrm>
            <a:off x="9884664" y="2679192"/>
            <a:ext cx="1746504" cy="658368"/>
          </a:xfrm>
          <a:prstGeom prst="rect">
            <a:avLst/>
          </a:prstGeom>
          <a:noFill/>
          <a:ln/>
        </p:spPr>
        <p:txBody>
          <a:bodyPr wrap="square" lIns="0" tIns="0" rIns="0" bIns="0" rtlCol="0" anchor="ctr"/>
          <a:lstStyle/>
          <a:p>
            <a:pPr algn="ctr" indent="0" marL="0">
              <a:lnSpc>
                <a:spcPts val="1800"/>
              </a:lnSpc>
              <a:buNone/>
            </a:pPr>
            <a:r>
              <a:rPr lang="en-US" sz="1350" b="1" dirty="0">
                <a:solidFill>
                  <a:srgbClr val="FFFFFF"/>
                </a:solidFill>
                <a:latin typeface="Cambria" pitchFamily="34" charset="0"/>
                <a:ea typeface="Cambria" pitchFamily="34" charset="-122"/>
                <a:cs typeface="Cambria" pitchFamily="34" charset="-120"/>
              </a:rPr>
              <a:t>Optimized</a:t>
            </a:r>
            <a:endParaRPr lang="en-US" sz="1350" dirty="0"/>
          </a:p>
          <a:p>
            <a:pPr algn="ctr" indent="0" marL="0">
              <a:lnSpc>
                <a:spcPts val="1800"/>
              </a:lnSpc>
              <a:buNone/>
            </a:pPr>
            <a:r>
              <a:rPr lang="en-US" sz="1350" b="1" dirty="0">
                <a:solidFill>
                  <a:srgbClr val="FFFFFF"/>
                </a:solidFill>
                <a:latin typeface="Cambria" pitchFamily="34" charset="0"/>
                <a:ea typeface="Cambria" pitchFamily="34" charset="-122"/>
                <a:cs typeface="Cambria" pitchFamily="34" charset="-120"/>
              </a:rPr>
              <a:t>Floor Plan</a:t>
            </a:r>
            <a:endParaRPr lang="en-US" sz="1350" dirty="0"/>
          </a:p>
        </p:txBody>
      </p:sp>
      <p:sp>
        <p:nvSpPr>
          <p:cNvPr id="51" name="Text 49"/>
          <p:cNvSpPr txBox="1"/>
          <p:nvPr/>
        </p:nvSpPr>
        <p:spPr>
          <a:xfrm>
            <a:off x="9738360" y="3749040"/>
            <a:ext cx="2039112" cy="384048"/>
          </a:xfrm>
          <a:prstGeom prst="rect">
            <a:avLst/>
          </a:prstGeom>
          <a:noFill/>
          <a:ln/>
        </p:spPr>
        <p:txBody>
          <a:bodyPr wrap="square" lIns="0" tIns="0" rIns="0" bIns="0" rtlCol="0" anchor="ctr"/>
          <a:lstStyle/>
          <a:p>
            <a:pPr algn="ctr" indent="0" marL="0">
              <a:lnSpc>
                <a:spcPts val="1200"/>
              </a:lnSpc>
              <a:buNone/>
            </a:pPr>
            <a:r>
              <a:rPr lang="en-US" sz="950" dirty="0">
                <a:solidFill>
                  <a:srgbClr val="5B6B7C"/>
                </a:solidFill>
                <a:latin typeface="Calibri" pitchFamily="34" charset="0"/>
                <a:ea typeface="Calibri" pitchFamily="34" charset="-122"/>
                <a:cs typeface="Calibri" pitchFamily="34" charset="-120"/>
              </a:rPr>
              <a:t>+ spatial representation &amp; score</a:t>
            </a:r>
            <a:endParaRPr lang="en-US" sz="950" dirty="0"/>
          </a:p>
        </p:txBody>
      </p:sp>
      <p:sp>
        <p:nvSpPr>
          <p:cNvPr id="52" name="Shape 50"/>
          <p:cNvSpPr/>
          <p:nvPr/>
        </p:nvSpPr>
        <p:spPr>
          <a:xfrm>
            <a:off x="8778240" y="4206240"/>
            <a:ext cx="0" cy="868680"/>
          </a:xfrm>
          <a:prstGeom prst="line">
            <a:avLst/>
          </a:prstGeom>
          <a:noFill/>
          <a:ln w="19050">
            <a:solidFill>
              <a:srgbClr val="C05621"/>
            </a:solidFill>
            <a:prstDash val="dash"/>
          </a:ln>
        </p:spPr>
      </p:sp>
      <p:sp>
        <p:nvSpPr>
          <p:cNvPr id="53" name="Shape 51"/>
          <p:cNvSpPr/>
          <p:nvPr/>
        </p:nvSpPr>
        <p:spPr>
          <a:xfrm>
            <a:off x="5047488" y="5074920"/>
            <a:ext cx="3730752" cy="0"/>
          </a:xfrm>
          <a:prstGeom prst="line">
            <a:avLst/>
          </a:prstGeom>
          <a:noFill/>
          <a:ln w="19050">
            <a:solidFill>
              <a:srgbClr val="C05621"/>
            </a:solidFill>
            <a:prstDash val="dash"/>
          </a:ln>
        </p:spPr>
      </p:sp>
      <p:sp>
        <p:nvSpPr>
          <p:cNvPr id="54" name="Shape 52"/>
          <p:cNvSpPr/>
          <p:nvPr/>
        </p:nvSpPr>
        <p:spPr>
          <a:xfrm>
            <a:off x="5047488" y="5074920"/>
            <a:ext cx="0" cy="-868680"/>
          </a:xfrm>
          <a:prstGeom prst="line">
            <a:avLst/>
          </a:prstGeom>
          <a:noFill/>
          <a:ln w="19050">
            <a:solidFill>
              <a:srgbClr val="C05621"/>
            </a:solidFill>
            <a:prstDash val="dash"/>
            <a:tailEnd type="triangle"/>
          </a:ln>
        </p:spPr>
      </p:sp>
      <p:sp>
        <p:nvSpPr>
          <p:cNvPr id="55" name="Shape 53"/>
          <p:cNvSpPr/>
          <p:nvPr/>
        </p:nvSpPr>
        <p:spPr>
          <a:xfrm>
            <a:off x="5861304" y="4892040"/>
            <a:ext cx="2103120" cy="365760"/>
          </a:xfrm>
          <a:prstGeom prst="roundRect">
            <a:avLst>
              <a:gd name="adj" fmla="val 15000"/>
            </a:avLst>
          </a:prstGeom>
          <a:solidFill>
            <a:srgbClr val="FCEDE2"/>
          </a:solidFill>
          <a:ln w="12700">
            <a:solidFill>
              <a:srgbClr val="E9C3A6"/>
            </a:solidFill>
            <a:prstDash val="solid"/>
          </a:ln>
        </p:spPr>
      </p:sp>
      <p:sp>
        <p:nvSpPr>
          <p:cNvPr id="56" name="Text 54"/>
          <p:cNvSpPr txBox="1"/>
          <p:nvPr/>
        </p:nvSpPr>
        <p:spPr>
          <a:xfrm>
            <a:off x="5861304" y="4892040"/>
            <a:ext cx="2103120" cy="365760"/>
          </a:xfrm>
          <a:prstGeom prst="rect">
            <a:avLst/>
          </a:prstGeom>
          <a:noFill/>
          <a:ln/>
        </p:spPr>
        <p:txBody>
          <a:bodyPr wrap="square" lIns="0" tIns="0" rIns="0" bIns="0" rtlCol="0" anchor="ctr"/>
          <a:lstStyle/>
          <a:p>
            <a:pPr algn="ctr" indent="0" marL="0">
              <a:buNone/>
            </a:pPr>
            <a:r>
              <a:rPr lang="en-US" sz="1100" b="1" dirty="0">
                <a:solidFill>
                  <a:srgbClr val="C05621"/>
                </a:solidFill>
                <a:latin typeface="Calibri" pitchFamily="34" charset="0"/>
                <a:ea typeface="Calibri" pitchFamily="34" charset="-122"/>
                <a:cs typeface="Calibri" pitchFamily="34" charset="-120"/>
              </a:rPr>
              <a:t>Iterate  ·  Improve</a:t>
            </a:r>
            <a:endParaRPr lang="en-US" sz="1100" dirty="0"/>
          </a:p>
        </p:txBody>
      </p:sp>
      <p:sp>
        <p:nvSpPr>
          <p:cNvPr id="57" name="Text 55"/>
          <p:cNvSpPr txBox="1"/>
          <p:nvPr/>
        </p:nvSpPr>
        <p:spPr>
          <a:xfrm>
            <a:off x="548640" y="5577840"/>
            <a:ext cx="11064240" cy="548640"/>
          </a:xfrm>
          <a:prstGeom prst="rect">
            <a:avLst/>
          </a:prstGeom>
          <a:noFill/>
          <a:ln/>
        </p:spPr>
        <p:txBody>
          <a:bodyPr wrap="square" lIns="0" tIns="0" rIns="0" bIns="0" rtlCol="0" anchor="ctr"/>
          <a:lstStyle/>
          <a:p>
            <a:pPr indent="0" marL="0">
              <a:lnSpc>
                <a:spcPts val="1700"/>
              </a:lnSpc>
              <a:buNone/>
            </a:pPr>
            <a:r>
              <a:rPr lang="en-US" sz="1250" b="1" dirty="0">
                <a:solidFill>
                  <a:srgbClr val="13294B"/>
                </a:solidFill>
                <a:latin typeface="Calibri" pitchFamily="34" charset="0"/>
                <a:ea typeface="Calibri" pitchFamily="34" charset="-122"/>
                <a:cs typeface="Calibri" pitchFamily="34" charset="-120"/>
              </a:rPr>
              <a:t>Key idea:  </a:t>
            </a:r>
            <a:pPr indent="0" marL="0">
              <a:lnSpc>
                <a:spcPts val="1700"/>
              </a:lnSpc>
              <a:buNone/>
            </a:pPr>
            <a:r>
              <a:rPr lang="en-US" sz="1250" dirty="0">
                <a:solidFill>
                  <a:srgbClr val="1B2430"/>
                </a:solidFill>
                <a:latin typeface="Calibri" pitchFamily="34" charset="0"/>
                <a:ea typeface="Calibri" pitchFamily="34" charset="-122"/>
                <a:cs typeface="Calibri" pitchFamily="34" charset="-120"/>
              </a:rPr>
              <a:t>each stage is handled by a specialized model, and the layout is improved through a closed generate–evaluate–refine loop rather than produced in a single pass.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327648"/>
            <a:ext cx="457200" cy="274320"/>
          </a:xfrm>
          <a:prstGeom prst="rect">
            <a:avLst/>
          </a:prstGeom>
          <a:noFill/>
          <a:ln/>
        </p:spPr>
        <p:txBody>
          <a:bodyPr wrap="square" lIns="0" tIns="0" rIns="0" bIns="0" rtlCol="0" anchor="ctr"/>
          <a:lstStyle/>
          <a:p>
            <a:pPr algn="r" indent="0" marL="0">
              <a:buNone/>
            </a:pPr>
            <a:r>
              <a:rPr lang="en-US" sz="900" dirty="0">
                <a:solidFill>
                  <a:srgbClr val="5C7C9E"/>
                </a:solidFill>
                <a:latin typeface="Calibri" pitchFamily="34" charset="0"/>
                <a:ea typeface="Calibri" pitchFamily="34" charset="-122"/>
                <a:cs typeface="Calibri" pitchFamily="34" charset="-120"/>
              </a:rPr>
              <a:t>07</a:t>
            </a:r>
            <a:endParaRPr lang="en-US" sz="900" dirty="0"/>
          </a:p>
        </p:txBody>
      </p:sp>
      <p:sp>
        <p:nvSpPr>
          <p:cNvPr id="3" name="Text 1"/>
          <p:cNvSpPr txBox="1"/>
          <p:nvPr/>
        </p:nvSpPr>
        <p:spPr>
          <a:xfrm>
            <a:off x="548640" y="310896"/>
            <a:ext cx="11064240" cy="502920"/>
          </a:xfrm>
          <a:prstGeom prst="rect">
            <a:avLst/>
          </a:prstGeom>
          <a:noFill/>
          <a:ln/>
        </p:spPr>
        <p:txBody>
          <a:bodyPr wrap="square" lIns="0" tIns="0" rIns="0" bIns="0" rtlCol="0" anchor="ctr"/>
          <a:lstStyle/>
          <a:p>
            <a:pPr indent="0" marL="0">
              <a:buNone/>
            </a:pPr>
            <a:r>
              <a:rPr lang="en-US" sz="2900" b="1" dirty="0">
                <a:solidFill>
                  <a:srgbClr val="13294B"/>
                </a:solidFill>
                <a:latin typeface="Cambria" pitchFamily="34" charset="0"/>
                <a:ea typeface="Cambria" pitchFamily="34" charset="-122"/>
                <a:cs typeface="Cambria" pitchFamily="34" charset="-120"/>
              </a:rPr>
              <a:t>How Our Approach Works — Part 1</a:t>
            </a:r>
            <a:endParaRPr lang="en-US" sz="2900" dirty="0"/>
          </a:p>
        </p:txBody>
      </p:sp>
      <p:sp>
        <p:nvSpPr>
          <p:cNvPr id="4" name="Text 2"/>
          <p:cNvSpPr txBox="1"/>
          <p:nvPr/>
        </p:nvSpPr>
        <p:spPr>
          <a:xfrm>
            <a:off x="548640" y="841248"/>
            <a:ext cx="1106424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From natural language to a structured spatial representation</a:t>
            </a:r>
            <a:endParaRPr lang="en-US" sz="1200" dirty="0"/>
          </a:p>
        </p:txBody>
      </p:sp>
      <p:sp>
        <p:nvSpPr>
          <p:cNvPr id="5" name="Shape 3"/>
          <p:cNvSpPr/>
          <p:nvPr/>
        </p:nvSpPr>
        <p:spPr>
          <a:xfrm>
            <a:off x="548640" y="1298448"/>
            <a:ext cx="329184" cy="329184"/>
          </a:xfrm>
          <a:prstGeom prst="ellipse">
            <a:avLst/>
          </a:prstGeom>
          <a:solidFill>
            <a:srgbClr val="13294B"/>
          </a:solidFill>
          <a:ln w="12700">
            <a:solidFill>
              <a:srgbClr val="13294B"/>
            </a:solidFill>
            <a:prstDash val="solid"/>
          </a:ln>
        </p:spPr>
      </p:sp>
      <p:sp>
        <p:nvSpPr>
          <p:cNvPr id="6" name="Text 4"/>
          <p:cNvSpPr txBox="1"/>
          <p:nvPr/>
        </p:nvSpPr>
        <p:spPr>
          <a:xfrm>
            <a:off x="548640" y="12984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987552" y="1325880"/>
            <a:ext cx="4754880" cy="274320"/>
          </a:xfrm>
          <a:prstGeom prst="rect">
            <a:avLst/>
          </a:prstGeom>
          <a:noFill/>
          <a:ln/>
        </p:spPr>
        <p:txBody>
          <a:bodyPr wrap="square" lIns="0" tIns="0" rIns="0" bIns="0" rtlCol="0" anchor="ctr"/>
          <a:lstStyle/>
          <a:p>
            <a:pPr indent="0" marL="0">
              <a:buNone/>
            </a:pPr>
            <a:r>
              <a:rPr lang="en-US" sz="1400" b="1" dirty="0">
                <a:solidFill>
                  <a:srgbClr val="13294B"/>
                </a:solidFill>
                <a:latin typeface="Cambria" pitchFamily="34" charset="0"/>
                <a:ea typeface="Cambria" pitchFamily="34" charset="-122"/>
                <a:cs typeface="Cambria" pitchFamily="34" charset="-120"/>
              </a:rPr>
              <a:t>Requirement Understanding</a:t>
            </a:r>
            <a:endParaRPr lang="en-US" sz="1400" dirty="0"/>
          </a:p>
        </p:txBody>
      </p:sp>
      <p:sp>
        <p:nvSpPr>
          <p:cNvPr id="8" name="Shape 6"/>
          <p:cNvSpPr/>
          <p:nvPr/>
        </p:nvSpPr>
        <p:spPr>
          <a:xfrm>
            <a:off x="548640" y="1737360"/>
            <a:ext cx="5349240" cy="1051560"/>
          </a:xfrm>
          <a:prstGeom prst="roundRect">
            <a:avLst>
              <a:gd name="adj" fmla="val 5217"/>
            </a:avLst>
          </a:prstGeom>
          <a:solidFill>
            <a:srgbClr val="EEF3F9"/>
          </a:solidFill>
          <a:ln w="12700">
            <a:solidFill>
              <a:srgbClr val="CBD8E6"/>
            </a:solidFill>
            <a:prstDash val="solid"/>
          </a:ln>
        </p:spPr>
      </p:sp>
      <p:sp>
        <p:nvSpPr>
          <p:cNvPr id="9" name="Text 7"/>
          <p:cNvSpPr txBox="1"/>
          <p:nvPr/>
        </p:nvSpPr>
        <p:spPr>
          <a:xfrm>
            <a:off x="777240" y="1737360"/>
            <a:ext cx="4892040" cy="1051560"/>
          </a:xfrm>
          <a:prstGeom prst="rect">
            <a:avLst/>
          </a:prstGeom>
          <a:noFill/>
          <a:ln/>
        </p:spPr>
        <p:txBody>
          <a:bodyPr wrap="square" lIns="0" tIns="0" rIns="0" bIns="0" rtlCol="0" anchor="ctr"/>
          <a:lstStyle/>
          <a:p>
            <a:pPr indent="0" marL="0">
              <a:lnSpc>
                <a:spcPts val="1800"/>
              </a:lnSpc>
              <a:buNone/>
            </a:pPr>
            <a:r>
              <a:rPr lang="en-US" sz="1250" i="1" dirty="0">
                <a:solidFill>
                  <a:srgbClr val="13294B"/>
                </a:solidFill>
                <a:latin typeface="Calibri" pitchFamily="34" charset="0"/>
                <a:ea typeface="Calibri" pitchFamily="34" charset="-122"/>
                <a:cs typeface="Calibri" pitchFamily="34" charset="-120"/>
              </a:rPr>
              <a:t>“Design a 2BHK house on a 40 × 60 ft plot with two bedrooms, two bathrooms, kitchen, living room and dining area.”</a:t>
            </a:r>
            <a:endParaRPr lang="en-US" sz="1250" dirty="0"/>
          </a:p>
        </p:txBody>
      </p:sp>
      <p:sp>
        <p:nvSpPr>
          <p:cNvPr id="10" name="Text 8"/>
          <p:cNvSpPr txBox="1"/>
          <p:nvPr/>
        </p:nvSpPr>
        <p:spPr>
          <a:xfrm>
            <a:off x="548640" y="2889504"/>
            <a:ext cx="5349240" cy="256032"/>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The Requirement Agent extracts:</a:t>
            </a:r>
            <a:endParaRPr lang="en-US" sz="1200" dirty="0"/>
          </a:p>
        </p:txBody>
      </p:sp>
      <p:sp>
        <p:nvSpPr>
          <p:cNvPr id="11" name="Shape 9"/>
          <p:cNvSpPr/>
          <p:nvPr/>
        </p:nvSpPr>
        <p:spPr>
          <a:xfrm>
            <a:off x="548640" y="3218688"/>
            <a:ext cx="2587752" cy="457200"/>
          </a:xfrm>
          <a:prstGeom prst="roundRect">
            <a:avLst>
              <a:gd name="adj" fmla="val 12000"/>
            </a:avLst>
          </a:prstGeom>
          <a:solidFill>
            <a:srgbClr val="FFFFFF"/>
          </a:solidFill>
          <a:ln w="12700">
            <a:solidFill>
              <a:srgbClr val="1F4E79"/>
            </a:solidFill>
            <a:prstDash val="solid"/>
          </a:ln>
        </p:spPr>
      </p:sp>
      <p:sp>
        <p:nvSpPr>
          <p:cNvPr id="12" name="Text 10"/>
          <p:cNvSpPr txBox="1"/>
          <p:nvPr/>
        </p:nvSpPr>
        <p:spPr>
          <a:xfrm>
            <a:off x="685800" y="3218688"/>
            <a:ext cx="2313432" cy="457200"/>
          </a:xfrm>
          <a:prstGeom prst="rect">
            <a:avLst/>
          </a:prstGeom>
          <a:noFill/>
          <a:ln/>
        </p:spPr>
        <p:txBody>
          <a:bodyPr wrap="square" lIns="0" tIns="0" rIns="0" bIns="0" rtlCol="0" anchor="ctr"/>
          <a:lstStyle/>
          <a:p>
            <a:pPr indent="0" marL="0">
              <a:buNone/>
            </a:pPr>
            <a:r>
              <a:rPr lang="en-US" sz="1150" dirty="0">
                <a:solidFill>
                  <a:srgbClr val="13294B"/>
                </a:solidFill>
                <a:latin typeface="Calibri" pitchFamily="34" charset="0"/>
                <a:ea typeface="Calibri" pitchFamily="34" charset="-122"/>
                <a:cs typeface="Calibri" pitchFamily="34" charset="-120"/>
              </a:rPr>
              <a:t>Required spaces</a:t>
            </a:r>
            <a:endParaRPr lang="en-US" sz="1150" dirty="0"/>
          </a:p>
        </p:txBody>
      </p:sp>
      <p:sp>
        <p:nvSpPr>
          <p:cNvPr id="13" name="Shape 11"/>
          <p:cNvSpPr/>
          <p:nvPr/>
        </p:nvSpPr>
        <p:spPr>
          <a:xfrm>
            <a:off x="3310128" y="3218688"/>
            <a:ext cx="2587752" cy="457200"/>
          </a:xfrm>
          <a:prstGeom prst="roundRect">
            <a:avLst>
              <a:gd name="adj" fmla="val 12000"/>
            </a:avLst>
          </a:prstGeom>
          <a:solidFill>
            <a:srgbClr val="FFFFFF"/>
          </a:solidFill>
          <a:ln w="12700">
            <a:solidFill>
              <a:srgbClr val="1F4E79"/>
            </a:solidFill>
            <a:prstDash val="solid"/>
          </a:ln>
        </p:spPr>
      </p:sp>
      <p:sp>
        <p:nvSpPr>
          <p:cNvPr id="14" name="Text 12"/>
          <p:cNvSpPr txBox="1"/>
          <p:nvPr/>
        </p:nvSpPr>
        <p:spPr>
          <a:xfrm>
            <a:off x="3447288" y="3218688"/>
            <a:ext cx="2313432" cy="457200"/>
          </a:xfrm>
          <a:prstGeom prst="rect">
            <a:avLst/>
          </a:prstGeom>
          <a:noFill/>
          <a:ln/>
        </p:spPr>
        <p:txBody>
          <a:bodyPr wrap="square" lIns="0" tIns="0" rIns="0" bIns="0" rtlCol="0" anchor="ctr"/>
          <a:lstStyle/>
          <a:p>
            <a:pPr indent="0" marL="0">
              <a:buNone/>
            </a:pPr>
            <a:r>
              <a:rPr lang="en-US" sz="1150" dirty="0">
                <a:solidFill>
                  <a:srgbClr val="13294B"/>
                </a:solidFill>
                <a:latin typeface="Calibri" pitchFamily="34" charset="0"/>
                <a:ea typeface="Calibri" pitchFamily="34" charset="-122"/>
                <a:cs typeface="Calibri" pitchFamily="34" charset="-120"/>
              </a:rPr>
              <a:t>Approximate room sizes</a:t>
            </a:r>
            <a:endParaRPr lang="en-US" sz="1150" dirty="0"/>
          </a:p>
        </p:txBody>
      </p:sp>
      <p:sp>
        <p:nvSpPr>
          <p:cNvPr id="15" name="Shape 13"/>
          <p:cNvSpPr/>
          <p:nvPr/>
        </p:nvSpPr>
        <p:spPr>
          <a:xfrm>
            <a:off x="548640" y="3785616"/>
            <a:ext cx="2587752" cy="457200"/>
          </a:xfrm>
          <a:prstGeom prst="roundRect">
            <a:avLst>
              <a:gd name="adj" fmla="val 12000"/>
            </a:avLst>
          </a:prstGeom>
          <a:solidFill>
            <a:srgbClr val="FFFFFF"/>
          </a:solidFill>
          <a:ln w="12700">
            <a:solidFill>
              <a:srgbClr val="1F4E79"/>
            </a:solidFill>
            <a:prstDash val="solid"/>
          </a:ln>
        </p:spPr>
      </p:sp>
      <p:sp>
        <p:nvSpPr>
          <p:cNvPr id="16" name="Text 14"/>
          <p:cNvSpPr txBox="1"/>
          <p:nvPr/>
        </p:nvSpPr>
        <p:spPr>
          <a:xfrm>
            <a:off x="685800" y="3785616"/>
            <a:ext cx="2313432" cy="457200"/>
          </a:xfrm>
          <a:prstGeom prst="rect">
            <a:avLst/>
          </a:prstGeom>
          <a:noFill/>
          <a:ln/>
        </p:spPr>
        <p:txBody>
          <a:bodyPr wrap="square" lIns="0" tIns="0" rIns="0" bIns="0" rtlCol="0" anchor="ctr"/>
          <a:lstStyle/>
          <a:p>
            <a:pPr indent="0" marL="0">
              <a:buNone/>
            </a:pPr>
            <a:r>
              <a:rPr lang="en-US" sz="1150" dirty="0">
                <a:solidFill>
                  <a:srgbClr val="13294B"/>
                </a:solidFill>
                <a:latin typeface="Calibri" pitchFamily="34" charset="0"/>
                <a:ea typeface="Calibri" pitchFamily="34" charset="-122"/>
                <a:cs typeface="Calibri" pitchFamily="34" charset="-120"/>
              </a:rPr>
              <a:t>Plot dimensions</a:t>
            </a:r>
            <a:endParaRPr lang="en-US" sz="1150" dirty="0"/>
          </a:p>
        </p:txBody>
      </p:sp>
      <p:sp>
        <p:nvSpPr>
          <p:cNvPr id="17" name="Shape 15"/>
          <p:cNvSpPr/>
          <p:nvPr/>
        </p:nvSpPr>
        <p:spPr>
          <a:xfrm>
            <a:off x="3310128" y="3785616"/>
            <a:ext cx="2587752" cy="457200"/>
          </a:xfrm>
          <a:prstGeom prst="roundRect">
            <a:avLst>
              <a:gd name="adj" fmla="val 12000"/>
            </a:avLst>
          </a:prstGeom>
          <a:solidFill>
            <a:srgbClr val="FFFFFF"/>
          </a:solidFill>
          <a:ln w="12700">
            <a:solidFill>
              <a:srgbClr val="1F4E79"/>
            </a:solidFill>
            <a:prstDash val="solid"/>
          </a:ln>
        </p:spPr>
      </p:sp>
      <p:sp>
        <p:nvSpPr>
          <p:cNvPr id="18" name="Text 16"/>
          <p:cNvSpPr txBox="1"/>
          <p:nvPr/>
        </p:nvSpPr>
        <p:spPr>
          <a:xfrm>
            <a:off x="3447288" y="3785616"/>
            <a:ext cx="2313432" cy="457200"/>
          </a:xfrm>
          <a:prstGeom prst="rect">
            <a:avLst/>
          </a:prstGeom>
          <a:noFill/>
          <a:ln/>
        </p:spPr>
        <p:txBody>
          <a:bodyPr wrap="square" lIns="0" tIns="0" rIns="0" bIns="0" rtlCol="0" anchor="ctr"/>
          <a:lstStyle/>
          <a:p>
            <a:pPr indent="0" marL="0">
              <a:buNone/>
            </a:pPr>
            <a:r>
              <a:rPr lang="en-US" sz="1150" dirty="0">
                <a:solidFill>
                  <a:srgbClr val="13294B"/>
                </a:solidFill>
                <a:latin typeface="Calibri" pitchFamily="34" charset="0"/>
                <a:ea typeface="Calibri" pitchFamily="34" charset="-122"/>
                <a:cs typeface="Calibri" pitchFamily="34" charset="-120"/>
              </a:rPr>
              <a:t>Spatial preferences</a:t>
            </a:r>
            <a:endParaRPr lang="en-US" sz="1150" dirty="0"/>
          </a:p>
        </p:txBody>
      </p:sp>
      <p:sp>
        <p:nvSpPr>
          <p:cNvPr id="19" name="Shape 17"/>
          <p:cNvSpPr/>
          <p:nvPr/>
        </p:nvSpPr>
        <p:spPr>
          <a:xfrm>
            <a:off x="6263640" y="1298448"/>
            <a:ext cx="329184" cy="329184"/>
          </a:xfrm>
          <a:prstGeom prst="ellipse">
            <a:avLst/>
          </a:prstGeom>
          <a:solidFill>
            <a:srgbClr val="13294B"/>
          </a:solidFill>
          <a:ln w="12700">
            <a:solidFill>
              <a:srgbClr val="13294B"/>
            </a:solidFill>
            <a:prstDash val="solid"/>
          </a:ln>
        </p:spPr>
      </p:sp>
      <p:sp>
        <p:nvSpPr>
          <p:cNvPr id="20" name="Text 18"/>
          <p:cNvSpPr txBox="1"/>
          <p:nvPr/>
        </p:nvSpPr>
        <p:spPr>
          <a:xfrm>
            <a:off x="6263640" y="12984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Text 19"/>
          <p:cNvSpPr txBox="1"/>
          <p:nvPr/>
        </p:nvSpPr>
        <p:spPr>
          <a:xfrm>
            <a:off x="6702552" y="1325880"/>
            <a:ext cx="4937760" cy="274320"/>
          </a:xfrm>
          <a:prstGeom prst="rect">
            <a:avLst/>
          </a:prstGeom>
          <a:noFill/>
          <a:ln/>
        </p:spPr>
        <p:txBody>
          <a:bodyPr wrap="square" lIns="0" tIns="0" rIns="0" bIns="0" rtlCol="0" anchor="ctr"/>
          <a:lstStyle/>
          <a:p>
            <a:pPr indent="0" marL="0">
              <a:buNone/>
            </a:pPr>
            <a:r>
              <a:rPr lang="en-US" sz="1400" b="1" dirty="0">
                <a:solidFill>
                  <a:srgbClr val="13294B"/>
                </a:solidFill>
                <a:latin typeface="Cambria" pitchFamily="34" charset="0"/>
                <a:ea typeface="Cambria" pitchFamily="34" charset="-122"/>
                <a:cs typeface="Cambria" pitchFamily="34" charset="-120"/>
              </a:rPr>
              <a:t>Spatial Representation</a:t>
            </a:r>
            <a:endParaRPr lang="en-US" sz="1400" dirty="0"/>
          </a:p>
        </p:txBody>
      </p:sp>
      <p:sp>
        <p:nvSpPr>
          <p:cNvPr id="22" name="Text 20"/>
          <p:cNvSpPr txBox="1"/>
          <p:nvPr/>
        </p:nvSpPr>
        <p:spPr>
          <a:xfrm>
            <a:off x="6263640" y="1737360"/>
            <a:ext cx="5367528" cy="457200"/>
          </a:xfrm>
          <a:prstGeom prst="rect">
            <a:avLst/>
          </a:prstGeom>
          <a:noFill/>
          <a:ln/>
        </p:spPr>
        <p:txBody>
          <a:bodyPr wrap="square" lIns="0" tIns="0" rIns="0" bIns="0" rtlCol="0" anchor="ctr"/>
          <a:lstStyle/>
          <a:p>
            <a:pPr indent="0" marL="0">
              <a:lnSpc>
                <a:spcPts val="1600"/>
              </a:lnSpc>
              <a:buNone/>
            </a:pPr>
            <a:r>
              <a:rPr lang="en-US" sz="1200" dirty="0">
                <a:solidFill>
                  <a:srgbClr val="1B2430"/>
                </a:solidFill>
                <a:latin typeface="Calibri" pitchFamily="34" charset="0"/>
                <a:ea typeface="Calibri" pitchFamily="34" charset="-122"/>
                <a:cs typeface="Calibri" pitchFamily="34" charset="-120"/>
              </a:rPr>
              <a:t>The Spatial Planning Agent converts the requirements into an explicit relationship graph.</a:t>
            </a:r>
            <a:endParaRPr lang="en-US" sz="1200" dirty="0"/>
          </a:p>
        </p:txBody>
      </p:sp>
      <p:sp>
        <p:nvSpPr>
          <p:cNvPr id="23" name="Shape 21"/>
          <p:cNvSpPr/>
          <p:nvPr/>
        </p:nvSpPr>
        <p:spPr>
          <a:xfrm>
            <a:off x="6263640" y="2212848"/>
            <a:ext cx="5367528" cy="3310128"/>
          </a:xfrm>
          <a:prstGeom prst="roundRect">
            <a:avLst>
              <a:gd name="adj" fmla="val 1657"/>
            </a:avLst>
          </a:prstGeom>
          <a:solidFill>
            <a:srgbClr val="EEF3F9"/>
          </a:solidFill>
          <a:ln w="12700">
            <a:solidFill>
              <a:srgbClr val="CBD8E6"/>
            </a:solidFill>
            <a:prstDash val="solid"/>
          </a:ln>
        </p:spPr>
      </p:sp>
      <p:sp>
        <p:nvSpPr>
          <p:cNvPr id="24" name="Shape 22"/>
          <p:cNvSpPr/>
          <p:nvPr/>
        </p:nvSpPr>
        <p:spPr>
          <a:xfrm>
            <a:off x="6492240" y="2450592"/>
            <a:ext cx="1691640" cy="402336"/>
          </a:xfrm>
          <a:prstGeom prst="roundRect">
            <a:avLst>
              <a:gd name="adj" fmla="val 11364"/>
            </a:avLst>
          </a:prstGeom>
          <a:solidFill>
            <a:srgbClr val="FFFFFF"/>
          </a:solidFill>
          <a:ln w="15875">
            <a:solidFill>
              <a:srgbClr val="1F4E79"/>
            </a:solidFill>
            <a:prstDash val="solid"/>
          </a:ln>
        </p:spPr>
      </p:sp>
      <p:sp>
        <p:nvSpPr>
          <p:cNvPr id="25" name="Text 23"/>
          <p:cNvSpPr txBox="1"/>
          <p:nvPr/>
        </p:nvSpPr>
        <p:spPr>
          <a:xfrm>
            <a:off x="6528816" y="2450592"/>
            <a:ext cx="1618488" cy="402336"/>
          </a:xfrm>
          <a:prstGeom prst="rect">
            <a:avLst/>
          </a:prstGeom>
          <a:noFill/>
          <a:ln/>
        </p:spPr>
        <p:txBody>
          <a:bodyPr wrap="square" lIns="0" tIns="0" rIns="0" bIns="0" rtlCol="0" anchor="ctr"/>
          <a:lstStyle/>
          <a:p>
            <a:pPr algn="ctr" indent="0" marL="0">
              <a:buNone/>
            </a:pPr>
            <a:r>
              <a:rPr lang="en-US" sz="1050" b="1" dirty="0">
                <a:solidFill>
                  <a:srgbClr val="13294B"/>
                </a:solidFill>
                <a:latin typeface="Calibri" pitchFamily="34" charset="0"/>
                <a:ea typeface="Calibri" pitchFamily="34" charset="-122"/>
                <a:cs typeface="Calibri" pitchFamily="34" charset="-120"/>
              </a:rPr>
              <a:t>Kitchen</a:t>
            </a:r>
            <a:endParaRPr lang="en-US" sz="1050" dirty="0"/>
          </a:p>
        </p:txBody>
      </p:sp>
      <p:sp>
        <p:nvSpPr>
          <p:cNvPr id="26" name="Shape 24"/>
          <p:cNvSpPr/>
          <p:nvPr/>
        </p:nvSpPr>
        <p:spPr>
          <a:xfrm>
            <a:off x="8183880" y="2651760"/>
            <a:ext cx="1371600" cy="0"/>
          </a:xfrm>
          <a:prstGeom prst="line">
            <a:avLst/>
          </a:prstGeom>
          <a:noFill/>
          <a:ln w="15875">
            <a:solidFill>
              <a:srgbClr val="5C7C9E"/>
            </a:solidFill>
            <a:prstDash val="solid"/>
          </a:ln>
        </p:spPr>
      </p:sp>
      <p:sp>
        <p:nvSpPr>
          <p:cNvPr id="27" name="Text 25"/>
          <p:cNvSpPr txBox="1"/>
          <p:nvPr/>
        </p:nvSpPr>
        <p:spPr>
          <a:xfrm>
            <a:off x="8183880" y="2404872"/>
            <a:ext cx="1371600" cy="219456"/>
          </a:xfrm>
          <a:prstGeom prst="rect">
            <a:avLst/>
          </a:prstGeom>
          <a:noFill/>
          <a:ln/>
        </p:spPr>
        <p:txBody>
          <a:bodyPr wrap="square" lIns="0" tIns="0" rIns="0" bIns="0" rtlCol="0" anchor="ctr"/>
          <a:lstStyle/>
          <a:p>
            <a:pPr algn="ctr" indent="0" marL="0">
              <a:buNone/>
            </a:pPr>
            <a:r>
              <a:rPr lang="en-US" sz="950" i="1" dirty="0">
                <a:solidFill>
                  <a:srgbClr val="5C7C9E"/>
                </a:solidFill>
                <a:latin typeface="Calibri" pitchFamily="34" charset="0"/>
                <a:ea typeface="Calibri" pitchFamily="34" charset="-122"/>
                <a:cs typeface="Calibri" pitchFamily="34" charset="-120"/>
              </a:rPr>
              <a:t>near</a:t>
            </a:r>
            <a:endParaRPr lang="en-US" sz="950" dirty="0"/>
          </a:p>
        </p:txBody>
      </p:sp>
      <p:sp>
        <p:nvSpPr>
          <p:cNvPr id="28" name="Shape 26"/>
          <p:cNvSpPr/>
          <p:nvPr/>
        </p:nvSpPr>
        <p:spPr>
          <a:xfrm>
            <a:off x="9555480" y="2450592"/>
            <a:ext cx="1737360" cy="402336"/>
          </a:xfrm>
          <a:prstGeom prst="roundRect">
            <a:avLst>
              <a:gd name="adj" fmla="val 11364"/>
            </a:avLst>
          </a:prstGeom>
          <a:solidFill>
            <a:srgbClr val="FFFFFF"/>
          </a:solidFill>
          <a:ln w="15875">
            <a:solidFill>
              <a:srgbClr val="1F4E79"/>
            </a:solidFill>
            <a:prstDash val="solid"/>
          </a:ln>
        </p:spPr>
      </p:sp>
      <p:sp>
        <p:nvSpPr>
          <p:cNvPr id="29" name="Text 27"/>
          <p:cNvSpPr txBox="1"/>
          <p:nvPr/>
        </p:nvSpPr>
        <p:spPr>
          <a:xfrm>
            <a:off x="9592056" y="2450592"/>
            <a:ext cx="1664208" cy="402336"/>
          </a:xfrm>
          <a:prstGeom prst="rect">
            <a:avLst/>
          </a:prstGeom>
          <a:noFill/>
          <a:ln/>
        </p:spPr>
        <p:txBody>
          <a:bodyPr wrap="square" lIns="0" tIns="0" rIns="0" bIns="0" rtlCol="0" anchor="ctr"/>
          <a:lstStyle/>
          <a:p>
            <a:pPr algn="ctr" indent="0" marL="0">
              <a:buNone/>
            </a:pPr>
            <a:r>
              <a:rPr lang="en-US" sz="1050" b="1" dirty="0">
                <a:solidFill>
                  <a:srgbClr val="13294B"/>
                </a:solidFill>
                <a:latin typeface="Calibri" pitchFamily="34" charset="0"/>
                <a:ea typeface="Calibri" pitchFamily="34" charset="-122"/>
                <a:cs typeface="Calibri" pitchFamily="34" charset="-120"/>
              </a:rPr>
              <a:t>Dining</a:t>
            </a:r>
            <a:endParaRPr lang="en-US" sz="1050" dirty="0"/>
          </a:p>
        </p:txBody>
      </p:sp>
      <p:sp>
        <p:nvSpPr>
          <p:cNvPr id="30" name="Shape 28"/>
          <p:cNvSpPr/>
          <p:nvPr/>
        </p:nvSpPr>
        <p:spPr>
          <a:xfrm>
            <a:off x="6492240" y="3145536"/>
            <a:ext cx="1691640" cy="402336"/>
          </a:xfrm>
          <a:prstGeom prst="roundRect">
            <a:avLst>
              <a:gd name="adj" fmla="val 11364"/>
            </a:avLst>
          </a:prstGeom>
          <a:solidFill>
            <a:srgbClr val="FFFFFF"/>
          </a:solidFill>
          <a:ln w="15875">
            <a:solidFill>
              <a:srgbClr val="1F4E79"/>
            </a:solidFill>
            <a:prstDash val="solid"/>
          </a:ln>
        </p:spPr>
      </p:sp>
      <p:sp>
        <p:nvSpPr>
          <p:cNvPr id="31" name="Text 29"/>
          <p:cNvSpPr txBox="1"/>
          <p:nvPr/>
        </p:nvSpPr>
        <p:spPr>
          <a:xfrm>
            <a:off x="6528816" y="3145536"/>
            <a:ext cx="1618488" cy="402336"/>
          </a:xfrm>
          <a:prstGeom prst="rect">
            <a:avLst/>
          </a:prstGeom>
          <a:noFill/>
          <a:ln/>
        </p:spPr>
        <p:txBody>
          <a:bodyPr wrap="square" lIns="0" tIns="0" rIns="0" bIns="0" rtlCol="0" anchor="ctr"/>
          <a:lstStyle/>
          <a:p>
            <a:pPr algn="ctr" indent="0" marL="0">
              <a:buNone/>
            </a:pPr>
            <a:r>
              <a:rPr lang="en-US" sz="1050" b="1" dirty="0">
                <a:solidFill>
                  <a:srgbClr val="13294B"/>
                </a:solidFill>
                <a:latin typeface="Calibri" pitchFamily="34" charset="0"/>
                <a:ea typeface="Calibri" pitchFamily="34" charset="-122"/>
                <a:cs typeface="Calibri" pitchFamily="34" charset="-120"/>
              </a:rPr>
              <a:t>Bedroom</a:t>
            </a:r>
            <a:endParaRPr lang="en-US" sz="1050" dirty="0"/>
          </a:p>
        </p:txBody>
      </p:sp>
      <p:sp>
        <p:nvSpPr>
          <p:cNvPr id="32" name="Shape 30"/>
          <p:cNvSpPr/>
          <p:nvPr/>
        </p:nvSpPr>
        <p:spPr>
          <a:xfrm>
            <a:off x="8183880" y="3346704"/>
            <a:ext cx="1371600" cy="0"/>
          </a:xfrm>
          <a:prstGeom prst="line">
            <a:avLst/>
          </a:prstGeom>
          <a:noFill/>
          <a:ln w="15875">
            <a:solidFill>
              <a:srgbClr val="5C7C9E"/>
            </a:solidFill>
            <a:prstDash val="solid"/>
          </a:ln>
        </p:spPr>
      </p:sp>
      <p:sp>
        <p:nvSpPr>
          <p:cNvPr id="33" name="Text 31"/>
          <p:cNvSpPr txBox="1"/>
          <p:nvPr/>
        </p:nvSpPr>
        <p:spPr>
          <a:xfrm>
            <a:off x="8183880" y="3099816"/>
            <a:ext cx="1371600" cy="219456"/>
          </a:xfrm>
          <a:prstGeom prst="rect">
            <a:avLst/>
          </a:prstGeom>
          <a:noFill/>
          <a:ln/>
        </p:spPr>
        <p:txBody>
          <a:bodyPr wrap="square" lIns="0" tIns="0" rIns="0" bIns="0" rtlCol="0" anchor="ctr"/>
          <a:lstStyle/>
          <a:p>
            <a:pPr algn="ctr" indent="0" marL="0">
              <a:buNone/>
            </a:pPr>
            <a:r>
              <a:rPr lang="en-US" sz="950" i="1" dirty="0">
                <a:solidFill>
                  <a:srgbClr val="5C7C9E"/>
                </a:solidFill>
                <a:latin typeface="Calibri" pitchFamily="34" charset="0"/>
                <a:ea typeface="Calibri" pitchFamily="34" charset="-122"/>
                <a:cs typeface="Calibri" pitchFamily="34" charset="-120"/>
              </a:rPr>
              <a:t>near</a:t>
            </a:r>
            <a:endParaRPr lang="en-US" sz="950" dirty="0"/>
          </a:p>
        </p:txBody>
      </p:sp>
      <p:sp>
        <p:nvSpPr>
          <p:cNvPr id="34" name="Shape 32"/>
          <p:cNvSpPr/>
          <p:nvPr/>
        </p:nvSpPr>
        <p:spPr>
          <a:xfrm>
            <a:off x="9555480" y="3145536"/>
            <a:ext cx="1737360" cy="402336"/>
          </a:xfrm>
          <a:prstGeom prst="roundRect">
            <a:avLst>
              <a:gd name="adj" fmla="val 11364"/>
            </a:avLst>
          </a:prstGeom>
          <a:solidFill>
            <a:srgbClr val="FFFFFF"/>
          </a:solidFill>
          <a:ln w="15875">
            <a:solidFill>
              <a:srgbClr val="1F4E79"/>
            </a:solidFill>
            <a:prstDash val="solid"/>
          </a:ln>
        </p:spPr>
      </p:sp>
      <p:sp>
        <p:nvSpPr>
          <p:cNvPr id="35" name="Text 33"/>
          <p:cNvSpPr txBox="1"/>
          <p:nvPr/>
        </p:nvSpPr>
        <p:spPr>
          <a:xfrm>
            <a:off x="9592056" y="3145536"/>
            <a:ext cx="1664208" cy="402336"/>
          </a:xfrm>
          <a:prstGeom prst="rect">
            <a:avLst/>
          </a:prstGeom>
          <a:noFill/>
          <a:ln/>
        </p:spPr>
        <p:txBody>
          <a:bodyPr wrap="square" lIns="0" tIns="0" rIns="0" bIns="0" rtlCol="0" anchor="ctr"/>
          <a:lstStyle/>
          <a:p>
            <a:pPr algn="ctr" indent="0" marL="0">
              <a:buNone/>
            </a:pPr>
            <a:r>
              <a:rPr lang="en-US" sz="1050" b="1" dirty="0">
                <a:solidFill>
                  <a:srgbClr val="13294B"/>
                </a:solidFill>
                <a:latin typeface="Calibri" pitchFamily="34" charset="0"/>
                <a:ea typeface="Calibri" pitchFamily="34" charset="-122"/>
                <a:cs typeface="Calibri" pitchFamily="34" charset="-120"/>
              </a:rPr>
              <a:t>Bathroom</a:t>
            </a:r>
            <a:endParaRPr lang="en-US" sz="1050" dirty="0"/>
          </a:p>
        </p:txBody>
      </p:sp>
      <p:sp>
        <p:nvSpPr>
          <p:cNvPr id="36" name="Shape 34"/>
          <p:cNvSpPr/>
          <p:nvPr/>
        </p:nvSpPr>
        <p:spPr>
          <a:xfrm>
            <a:off x="6492240" y="3840480"/>
            <a:ext cx="1691640" cy="402336"/>
          </a:xfrm>
          <a:prstGeom prst="roundRect">
            <a:avLst>
              <a:gd name="adj" fmla="val 11364"/>
            </a:avLst>
          </a:prstGeom>
          <a:solidFill>
            <a:srgbClr val="FFFFFF"/>
          </a:solidFill>
          <a:ln w="15875">
            <a:solidFill>
              <a:srgbClr val="1F4E79"/>
            </a:solidFill>
            <a:prstDash val="solid"/>
          </a:ln>
        </p:spPr>
      </p:sp>
      <p:sp>
        <p:nvSpPr>
          <p:cNvPr id="37" name="Text 35"/>
          <p:cNvSpPr txBox="1"/>
          <p:nvPr/>
        </p:nvSpPr>
        <p:spPr>
          <a:xfrm>
            <a:off x="6528816" y="3840480"/>
            <a:ext cx="1618488" cy="402336"/>
          </a:xfrm>
          <a:prstGeom prst="rect">
            <a:avLst/>
          </a:prstGeom>
          <a:noFill/>
          <a:ln/>
        </p:spPr>
        <p:txBody>
          <a:bodyPr wrap="square" lIns="0" tIns="0" rIns="0" bIns="0" rtlCol="0" anchor="ctr"/>
          <a:lstStyle/>
          <a:p>
            <a:pPr algn="ctr" indent="0" marL="0">
              <a:buNone/>
            </a:pPr>
            <a:r>
              <a:rPr lang="en-US" sz="1050" b="1" dirty="0">
                <a:solidFill>
                  <a:srgbClr val="13294B"/>
                </a:solidFill>
                <a:latin typeface="Calibri" pitchFamily="34" charset="0"/>
                <a:ea typeface="Calibri" pitchFamily="34" charset="-122"/>
                <a:cs typeface="Calibri" pitchFamily="34" charset="-120"/>
              </a:rPr>
              <a:t>Bedroom</a:t>
            </a:r>
            <a:endParaRPr lang="en-US" sz="1050" dirty="0"/>
          </a:p>
        </p:txBody>
      </p:sp>
      <p:sp>
        <p:nvSpPr>
          <p:cNvPr id="38" name="Shape 36"/>
          <p:cNvSpPr/>
          <p:nvPr/>
        </p:nvSpPr>
        <p:spPr>
          <a:xfrm>
            <a:off x="8183880" y="4041648"/>
            <a:ext cx="1371600" cy="0"/>
          </a:xfrm>
          <a:prstGeom prst="line">
            <a:avLst/>
          </a:prstGeom>
          <a:noFill/>
          <a:ln w="15875">
            <a:solidFill>
              <a:srgbClr val="C05621"/>
            </a:solidFill>
            <a:prstDash val="dash"/>
          </a:ln>
        </p:spPr>
      </p:sp>
      <p:sp>
        <p:nvSpPr>
          <p:cNvPr id="39" name="Text 37"/>
          <p:cNvSpPr txBox="1"/>
          <p:nvPr/>
        </p:nvSpPr>
        <p:spPr>
          <a:xfrm>
            <a:off x="8183880" y="3794760"/>
            <a:ext cx="1371600" cy="219456"/>
          </a:xfrm>
          <a:prstGeom prst="rect">
            <a:avLst/>
          </a:prstGeom>
          <a:noFill/>
          <a:ln/>
        </p:spPr>
        <p:txBody>
          <a:bodyPr wrap="square" lIns="0" tIns="0" rIns="0" bIns="0" rtlCol="0" anchor="ctr"/>
          <a:lstStyle/>
          <a:p>
            <a:pPr algn="ctr" indent="0" marL="0">
              <a:buNone/>
            </a:pPr>
            <a:r>
              <a:rPr lang="en-US" sz="950" i="1" dirty="0">
                <a:solidFill>
                  <a:srgbClr val="C05621"/>
                </a:solidFill>
                <a:latin typeface="Calibri" pitchFamily="34" charset="0"/>
                <a:ea typeface="Calibri" pitchFamily="34" charset="-122"/>
                <a:cs typeface="Calibri" pitchFamily="34" charset="-120"/>
              </a:rPr>
              <a:t>away from</a:t>
            </a:r>
            <a:endParaRPr lang="en-US" sz="950" dirty="0"/>
          </a:p>
        </p:txBody>
      </p:sp>
      <p:sp>
        <p:nvSpPr>
          <p:cNvPr id="40" name="Shape 38"/>
          <p:cNvSpPr/>
          <p:nvPr/>
        </p:nvSpPr>
        <p:spPr>
          <a:xfrm>
            <a:off x="9555480" y="3840480"/>
            <a:ext cx="1737360" cy="402336"/>
          </a:xfrm>
          <a:prstGeom prst="roundRect">
            <a:avLst>
              <a:gd name="adj" fmla="val 11364"/>
            </a:avLst>
          </a:prstGeom>
          <a:solidFill>
            <a:srgbClr val="FFFFFF"/>
          </a:solidFill>
          <a:ln w="15875">
            <a:solidFill>
              <a:srgbClr val="1F4E79"/>
            </a:solidFill>
            <a:prstDash val="solid"/>
          </a:ln>
        </p:spPr>
      </p:sp>
      <p:sp>
        <p:nvSpPr>
          <p:cNvPr id="41" name="Text 39"/>
          <p:cNvSpPr txBox="1"/>
          <p:nvPr/>
        </p:nvSpPr>
        <p:spPr>
          <a:xfrm>
            <a:off x="9592056" y="3840480"/>
            <a:ext cx="1664208" cy="402336"/>
          </a:xfrm>
          <a:prstGeom prst="rect">
            <a:avLst/>
          </a:prstGeom>
          <a:noFill/>
          <a:ln/>
        </p:spPr>
        <p:txBody>
          <a:bodyPr wrap="square" lIns="0" tIns="0" rIns="0" bIns="0" rtlCol="0" anchor="ctr"/>
          <a:lstStyle/>
          <a:p>
            <a:pPr algn="ctr" indent="0" marL="0">
              <a:buNone/>
            </a:pPr>
            <a:r>
              <a:rPr lang="en-US" sz="1050" b="1" dirty="0">
                <a:solidFill>
                  <a:srgbClr val="13294B"/>
                </a:solidFill>
                <a:latin typeface="Calibri" pitchFamily="34" charset="0"/>
                <a:ea typeface="Calibri" pitchFamily="34" charset="-122"/>
                <a:cs typeface="Calibri" pitchFamily="34" charset="-120"/>
              </a:rPr>
              <a:t>Entrance</a:t>
            </a:r>
            <a:endParaRPr lang="en-US" sz="1050" dirty="0"/>
          </a:p>
        </p:txBody>
      </p:sp>
      <p:sp>
        <p:nvSpPr>
          <p:cNvPr id="42" name="Shape 40"/>
          <p:cNvSpPr/>
          <p:nvPr/>
        </p:nvSpPr>
        <p:spPr>
          <a:xfrm>
            <a:off x="6492240" y="4535424"/>
            <a:ext cx="1691640" cy="402336"/>
          </a:xfrm>
          <a:prstGeom prst="roundRect">
            <a:avLst>
              <a:gd name="adj" fmla="val 11364"/>
            </a:avLst>
          </a:prstGeom>
          <a:solidFill>
            <a:srgbClr val="FFFFFF"/>
          </a:solidFill>
          <a:ln w="15875">
            <a:solidFill>
              <a:srgbClr val="1F4E79"/>
            </a:solidFill>
            <a:prstDash val="solid"/>
          </a:ln>
        </p:spPr>
      </p:sp>
      <p:sp>
        <p:nvSpPr>
          <p:cNvPr id="43" name="Text 41"/>
          <p:cNvSpPr txBox="1"/>
          <p:nvPr/>
        </p:nvSpPr>
        <p:spPr>
          <a:xfrm>
            <a:off x="6528816" y="4535424"/>
            <a:ext cx="1618488" cy="402336"/>
          </a:xfrm>
          <a:prstGeom prst="rect">
            <a:avLst/>
          </a:prstGeom>
          <a:noFill/>
          <a:ln/>
        </p:spPr>
        <p:txBody>
          <a:bodyPr wrap="square" lIns="0" tIns="0" rIns="0" bIns="0" rtlCol="0" anchor="ctr"/>
          <a:lstStyle/>
          <a:p>
            <a:pPr algn="ctr" indent="0" marL="0">
              <a:buNone/>
            </a:pPr>
            <a:r>
              <a:rPr lang="en-US" sz="1050" b="1" dirty="0">
                <a:solidFill>
                  <a:srgbClr val="13294B"/>
                </a:solidFill>
                <a:latin typeface="Calibri" pitchFamily="34" charset="0"/>
                <a:ea typeface="Calibri" pitchFamily="34" charset="-122"/>
                <a:cs typeface="Calibri" pitchFamily="34" charset="-120"/>
              </a:rPr>
              <a:t>Living Room</a:t>
            </a:r>
            <a:endParaRPr lang="en-US" sz="1050" dirty="0"/>
          </a:p>
        </p:txBody>
      </p:sp>
      <p:sp>
        <p:nvSpPr>
          <p:cNvPr id="44" name="Shape 42"/>
          <p:cNvSpPr/>
          <p:nvPr/>
        </p:nvSpPr>
        <p:spPr>
          <a:xfrm>
            <a:off x="8183880" y="4736592"/>
            <a:ext cx="1371600" cy="0"/>
          </a:xfrm>
          <a:prstGeom prst="line">
            <a:avLst/>
          </a:prstGeom>
          <a:noFill/>
          <a:ln w="15875">
            <a:solidFill>
              <a:srgbClr val="5C7C9E"/>
            </a:solidFill>
            <a:prstDash val="solid"/>
          </a:ln>
        </p:spPr>
      </p:sp>
      <p:sp>
        <p:nvSpPr>
          <p:cNvPr id="45" name="Text 43"/>
          <p:cNvSpPr txBox="1"/>
          <p:nvPr/>
        </p:nvSpPr>
        <p:spPr>
          <a:xfrm>
            <a:off x="8183880" y="4489704"/>
            <a:ext cx="1371600" cy="219456"/>
          </a:xfrm>
          <a:prstGeom prst="rect">
            <a:avLst/>
          </a:prstGeom>
          <a:noFill/>
          <a:ln/>
        </p:spPr>
        <p:txBody>
          <a:bodyPr wrap="square" lIns="0" tIns="0" rIns="0" bIns="0" rtlCol="0" anchor="ctr"/>
          <a:lstStyle/>
          <a:p>
            <a:pPr algn="ctr" indent="0" marL="0">
              <a:buNone/>
            </a:pPr>
            <a:r>
              <a:rPr lang="en-US" sz="950" i="1" dirty="0">
                <a:solidFill>
                  <a:srgbClr val="5C7C9E"/>
                </a:solidFill>
                <a:latin typeface="Calibri" pitchFamily="34" charset="0"/>
                <a:ea typeface="Calibri" pitchFamily="34" charset="-122"/>
                <a:cs typeface="Calibri" pitchFamily="34" charset="-120"/>
              </a:rPr>
              <a:t>connected to</a:t>
            </a:r>
            <a:endParaRPr lang="en-US" sz="950" dirty="0"/>
          </a:p>
        </p:txBody>
      </p:sp>
      <p:sp>
        <p:nvSpPr>
          <p:cNvPr id="46" name="Shape 44"/>
          <p:cNvSpPr/>
          <p:nvPr/>
        </p:nvSpPr>
        <p:spPr>
          <a:xfrm>
            <a:off x="9555480" y="4535424"/>
            <a:ext cx="1737360" cy="402336"/>
          </a:xfrm>
          <a:prstGeom prst="roundRect">
            <a:avLst>
              <a:gd name="adj" fmla="val 11364"/>
            </a:avLst>
          </a:prstGeom>
          <a:solidFill>
            <a:srgbClr val="FFFFFF"/>
          </a:solidFill>
          <a:ln w="15875">
            <a:solidFill>
              <a:srgbClr val="1F4E79"/>
            </a:solidFill>
            <a:prstDash val="solid"/>
          </a:ln>
        </p:spPr>
      </p:sp>
      <p:sp>
        <p:nvSpPr>
          <p:cNvPr id="47" name="Text 45"/>
          <p:cNvSpPr txBox="1"/>
          <p:nvPr/>
        </p:nvSpPr>
        <p:spPr>
          <a:xfrm>
            <a:off x="9592056" y="4535424"/>
            <a:ext cx="1664208" cy="402336"/>
          </a:xfrm>
          <a:prstGeom prst="rect">
            <a:avLst/>
          </a:prstGeom>
          <a:noFill/>
          <a:ln/>
        </p:spPr>
        <p:txBody>
          <a:bodyPr wrap="square" lIns="0" tIns="0" rIns="0" bIns="0" rtlCol="0" anchor="ctr"/>
          <a:lstStyle/>
          <a:p>
            <a:pPr algn="ctr" indent="0" marL="0">
              <a:buNone/>
            </a:pPr>
            <a:r>
              <a:rPr lang="en-US" sz="1050" b="1" dirty="0">
                <a:solidFill>
                  <a:srgbClr val="13294B"/>
                </a:solidFill>
                <a:latin typeface="Calibri" pitchFamily="34" charset="0"/>
                <a:ea typeface="Calibri" pitchFamily="34" charset="-122"/>
                <a:cs typeface="Calibri" pitchFamily="34" charset="-120"/>
              </a:rPr>
              <a:t>Entrance</a:t>
            </a:r>
            <a:endParaRPr lang="en-US" sz="1050" dirty="0"/>
          </a:p>
        </p:txBody>
      </p:sp>
      <p:sp>
        <p:nvSpPr>
          <p:cNvPr id="48" name="Text 46"/>
          <p:cNvSpPr txBox="1"/>
          <p:nvPr/>
        </p:nvSpPr>
        <p:spPr>
          <a:xfrm>
            <a:off x="6492240" y="5029200"/>
            <a:ext cx="4892040" cy="420624"/>
          </a:xfrm>
          <a:prstGeom prst="rect">
            <a:avLst/>
          </a:prstGeom>
          <a:noFill/>
          <a:ln/>
        </p:spPr>
        <p:txBody>
          <a:bodyPr wrap="square" lIns="0" tIns="0" rIns="0" bIns="0" rtlCol="0" anchor="ctr"/>
          <a:lstStyle/>
          <a:p>
            <a:pPr indent="0" marL="0">
              <a:lnSpc>
                <a:spcPts val="1300"/>
              </a:lnSpc>
              <a:buNone/>
            </a:pPr>
            <a:r>
              <a:rPr lang="en-US" sz="1050" i="1" dirty="0">
                <a:solidFill>
                  <a:srgbClr val="5B6B7C"/>
                </a:solidFill>
                <a:latin typeface="Calibri" pitchFamily="34" charset="0"/>
                <a:ea typeface="Calibri" pitchFamily="34" charset="-122"/>
                <a:cs typeface="Calibri" pitchFamily="34" charset="-120"/>
              </a:rPr>
              <a:t>Adjacency · proximity · separation · connectivity are captured explicitly before any layout is drawn.</a:t>
            </a:r>
            <a:endParaRPr lang="en-US" sz="1050" dirty="0"/>
          </a:p>
        </p:txBody>
      </p:sp>
      <p:sp>
        <p:nvSpPr>
          <p:cNvPr id="49" name="Shape 47"/>
          <p:cNvSpPr/>
          <p:nvPr/>
        </p:nvSpPr>
        <p:spPr>
          <a:xfrm>
            <a:off x="548640" y="4526280"/>
            <a:ext cx="5349240" cy="960120"/>
          </a:xfrm>
          <a:prstGeom prst="roundRect">
            <a:avLst>
              <a:gd name="adj" fmla="val 5714"/>
            </a:avLst>
          </a:prstGeom>
          <a:solidFill>
            <a:srgbClr val="13294B"/>
          </a:solidFill>
          <a:ln w="12700">
            <a:solidFill>
              <a:srgbClr val="13294B"/>
            </a:solidFill>
            <a:prstDash val="solid"/>
          </a:ln>
        </p:spPr>
      </p:sp>
      <p:sp>
        <p:nvSpPr>
          <p:cNvPr id="50" name="Text 48"/>
          <p:cNvSpPr txBox="1"/>
          <p:nvPr/>
        </p:nvSpPr>
        <p:spPr>
          <a:xfrm>
            <a:off x="777240" y="4526280"/>
            <a:ext cx="4892040" cy="960120"/>
          </a:xfrm>
          <a:prstGeom prst="rect">
            <a:avLst/>
          </a:prstGeom>
          <a:noFill/>
          <a:ln/>
        </p:spPr>
        <p:txBody>
          <a:bodyPr wrap="square" lIns="0" tIns="0" rIns="0" bIns="0" rtlCol="0" anchor="ctr"/>
          <a:lstStyle/>
          <a:p>
            <a:pPr indent="0" marL="0">
              <a:lnSpc>
                <a:spcPts val="1600"/>
              </a:lnSpc>
              <a:buNone/>
            </a:pPr>
            <a:r>
              <a:rPr lang="en-US" sz="1200" b="1" dirty="0">
                <a:solidFill>
                  <a:srgbClr val="FFFFFF"/>
                </a:solidFill>
                <a:latin typeface="Calibri" pitchFamily="34" charset="0"/>
                <a:ea typeface="Calibri" pitchFamily="34" charset="-122"/>
                <a:cs typeface="Calibri" pitchFamily="34" charset="-120"/>
              </a:rPr>
              <a:t>Natural language is converted into machine-checkable constraints — this is what makes later evaluation possible.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327648"/>
            <a:ext cx="457200" cy="274320"/>
          </a:xfrm>
          <a:prstGeom prst="rect">
            <a:avLst/>
          </a:prstGeom>
          <a:noFill/>
          <a:ln/>
        </p:spPr>
        <p:txBody>
          <a:bodyPr wrap="square" lIns="0" tIns="0" rIns="0" bIns="0" rtlCol="0" anchor="ctr"/>
          <a:lstStyle/>
          <a:p>
            <a:pPr algn="r" indent="0" marL="0">
              <a:buNone/>
            </a:pPr>
            <a:r>
              <a:rPr lang="en-US" sz="900" dirty="0">
                <a:solidFill>
                  <a:srgbClr val="5C7C9E"/>
                </a:solidFill>
                <a:latin typeface="Calibri" pitchFamily="34" charset="0"/>
                <a:ea typeface="Calibri" pitchFamily="34" charset="-122"/>
                <a:cs typeface="Calibri" pitchFamily="34" charset="-120"/>
              </a:rPr>
              <a:t>08</a:t>
            </a:r>
            <a:endParaRPr lang="en-US" sz="900" dirty="0"/>
          </a:p>
        </p:txBody>
      </p:sp>
      <p:sp>
        <p:nvSpPr>
          <p:cNvPr id="3" name="Text 1"/>
          <p:cNvSpPr txBox="1"/>
          <p:nvPr/>
        </p:nvSpPr>
        <p:spPr>
          <a:xfrm>
            <a:off x="548640" y="310896"/>
            <a:ext cx="11064240" cy="502920"/>
          </a:xfrm>
          <a:prstGeom prst="rect">
            <a:avLst/>
          </a:prstGeom>
          <a:noFill/>
          <a:ln/>
        </p:spPr>
        <p:txBody>
          <a:bodyPr wrap="square" lIns="0" tIns="0" rIns="0" bIns="0" rtlCol="0" anchor="ctr"/>
          <a:lstStyle/>
          <a:p>
            <a:pPr indent="0" marL="0">
              <a:buNone/>
            </a:pPr>
            <a:r>
              <a:rPr lang="en-US" sz="2900" b="1" dirty="0">
                <a:solidFill>
                  <a:srgbClr val="13294B"/>
                </a:solidFill>
                <a:latin typeface="Cambria" pitchFamily="34" charset="0"/>
                <a:ea typeface="Cambria" pitchFamily="34" charset="-122"/>
                <a:cs typeface="Cambria" pitchFamily="34" charset="-120"/>
              </a:rPr>
              <a:t>How Our Approach Works — Part 2</a:t>
            </a:r>
            <a:endParaRPr lang="en-US" sz="2900" dirty="0"/>
          </a:p>
        </p:txBody>
      </p:sp>
      <p:sp>
        <p:nvSpPr>
          <p:cNvPr id="4" name="Text 2"/>
          <p:cNvSpPr txBox="1"/>
          <p:nvPr/>
        </p:nvSpPr>
        <p:spPr>
          <a:xfrm>
            <a:off x="548640" y="841248"/>
            <a:ext cx="1106424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Generation, spatial evaluation and iterative optimization</a:t>
            </a:r>
            <a:endParaRPr lang="en-US" sz="1200" dirty="0"/>
          </a:p>
        </p:txBody>
      </p:sp>
      <p:sp>
        <p:nvSpPr>
          <p:cNvPr id="5" name="Shape 3"/>
          <p:cNvSpPr/>
          <p:nvPr/>
        </p:nvSpPr>
        <p:spPr>
          <a:xfrm>
            <a:off x="548640" y="1298448"/>
            <a:ext cx="3566160" cy="3429000"/>
          </a:xfrm>
          <a:prstGeom prst="roundRect">
            <a:avLst>
              <a:gd name="adj" fmla="val 1600"/>
            </a:avLst>
          </a:prstGeom>
          <a:solidFill>
            <a:srgbClr val="FFFFFF"/>
          </a:solidFill>
          <a:ln w="19050">
            <a:solidFill>
              <a:srgbClr val="1F4E79"/>
            </a:solidFill>
            <a:prstDash val="solid"/>
          </a:ln>
        </p:spPr>
      </p:sp>
      <p:sp>
        <p:nvSpPr>
          <p:cNvPr id="6" name="Shape 4"/>
          <p:cNvSpPr/>
          <p:nvPr/>
        </p:nvSpPr>
        <p:spPr>
          <a:xfrm>
            <a:off x="804672" y="1536192"/>
            <a:ext cx="329184" cy="329184"/>
          </a:xfrm>
          <a:prstGeom prst="ellipse">
            <a:avLst/>
          </a:prstGeom>
          <a:solidFill>
            <a:srgbClr val="13294B"/>
          </a:solidFill>
          <a:ln w="12700">
            <a:solidFill>
              <a:srgbClr val="13294B"/>
            </a:solidFill>
            <a:prstDash val="solid"/>
          </a:ln>
        </p:spPr>
      </p:sp>
      <p:sp>
        <p:nvSpPr>
          <p:cNvPr id="7" name="Text 5"/>
          <p:cNvSpPr txBox="1"/>
          <p:nvPr/>
        </p:nvSpPr>
        <p:spPr>
          <a:xfrm>
            <a:off x="804672" y="15361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8" name="Text 6"/>
          <p:cNvSpPr txBox="1"/>
          <p:nvPr/>
        </p:nvSpPr>
        <p:spPr>
          <a:xfrm>
            <a:off x="1243584" y="1554480"/>
            <a:ext cx="2697480" cy="292608"/>
          </a:xfrm>
          <a:prstGeom prst="rect">
            <a:avLst/>
          </a:prstGeom>
          <a:noFill/>
          <a:ln/>
        </p:spPr>
        <p:txBody>
          <a:bodyPr wrap="square" lIns="0" tIns="0" rIns="0" bIns="0" rtlCol="0" anchor="ctr"/>
          <a:lstStyle/>
          <a:p>
            <a:pPr indent="0" marL="0">
              <a:buNone/>
            </a:pPr>
            <a:r>
              <a:rPr lang="en-US" sz="1450" b="1" dirty="0">
                <a:solidFill>
                  <a:srgbClr val="13294B"/>
                </a:solidFill>
                <a:latin typeface="Cambria" pitchFamily="34" charset="0"/>
                <a:ea typeface="Cambria" pitchFamily="34" charset="-122"/>
                <a:cs typeface="Cambria" pitchFamily="34" charset="-120"/>
              </a:rPr>
              <a:t>Layout Generation</a:t>
            </a:r>
            <a:endParaRPr lang="en-US" sz="1450" dirty="0"/>
          </a:p>
        </p:txBody>
      </p:sp>
      <p:sp>
        <p:nvSpPr>
          <p:cNvPr id="9" name="Text 7"/>
          <p:cNvSpPr txBox="1"/>
          <p:nvPr/>
        </p:nvSpPr>
        <p:spPr>
          <a:xfrm>
            <a:off x="804672" y="1975104"/>
            <a:ext cx="3054096" cy="868680"/>
          </a:xfrm>
          <a:prstGeom prst="rect">
            <a:avLst/>
          </a:prstGeom>
          <a:noFill/>
          <a:ln/>
        </p:spPr>
        <p:txBody>
          <a:bodyPr wrap="square" lIns="0" tIns="0" rIns="0" bIns="0" rtlCol="0" anchor="t"/>
          <a:lstStyle/>
          <a:p>
            <a:pPr indent="0" marL="0">
              <a:lnSpc>
                <a:spcPts val="1550"/>
              </a:lnSpc>
              <a:buNone/>
            </a:pPr>
            <a:r>
              <a:rPr lang="en-US" sz="1150" dirty="0">
                <a:solidFill>
                  <a:srgbClr val="1B2430"/>
                </a:solidFill>
                <a:latin typeface="Calibri" pitchFamily="34" charset="0"/>
                <a:ea typeface="Calibri" pitchFamily="34" charset="-122"/>
                <a:cs typeface="Calibri" pitchFamily="34" charset="-120"/>
              </a:rPr>
              <a:t>The floor-plan generation model produces multiple candidate layouts that respect the available plot and the extracted requirements.</a:t>
            </a:r>
            <a:endParaRPr lang="en-US" sz="1150" dirty="0"/>
          </a:p>
        </p:txBody>
      </p:sp>
      <p:sp>
        <p:nvSpPr>
          <p:cNvPr id="10" name="Shape 8"/>
          <p:cNvSpPr/>
          <p:nvPr/>
        </p:nvSpPr>
        <p:spPr>
          <a:xfrm>
            <a:off x="804672" y="2871216"/>
            <a:ext cx="3054096" cy="0"/>
          </a:xfrm>
          <a:prstGeom prst="line">
            <a:avLst/>
          </a:prstGeom>
          <a:noFill/>
          <a:ln w="12700">
            <a:solidFill>
              <a:srgbClr val="CBD8E6"/>
            </a:solidFill>
            <a:prstDash val="solid"/>
          </a:ln>
        </p:spPr>
      </p:sp>
      <p:sp>
        <p:nvSpPr>
          <p:cNvPr id="11" name="Text 9"/>
          <p:cNvSpPr txBox="1"/>
          <p:nvPr/>
        </p:nvSpPr>
        <p:spPr>
          <a:xfrm>
            <a:off x="804672" y="2999232"/>
            <a:ext cx="3054096" cy="16002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1B2430"/>
                </a:solidFill>
                <a:latin typeface="Calibri" pitchFamily="34" charset="0"/>
                <a:ea typeface="Calibri" pitchFamily="34" charset="-122"/>
                <a:cs typeface="Calibri" pitchFamily="34" charset="-120"/>
              </a:rPr>
              <a:t>Multiple candidates per requirement</a:t>
            </a:r>
            <a:endParaRPr lang="en-US" sz="1100" dirty="0"/>
          </a:p>
          <a:p>
            <a:pPr marL="177800" indent="-177800">
              <a:spcAft>
                <a:spcPts val="500"/>
              </a:spcAft>
              <a:buSzPct val="100000"/>
              <a:buChar char="•"/>
            </a:pPr>
            <a:r>
              <a:rPr lang="en-US" sz="1100" dirty="0">
                <a:solidFill>
                  <a:srgbClr val="1B2430"/>
                </a:solidFill>
                <a:latin typeface="Calibri" pitchFamily="34" charset="0"/>
                <a:ea typeface="Calibri" pitchFamily="34" charset="-122"/>
                <a:cs typeface="Calibri" pitchFamily="34" charset="-120"/>
              </a:rPr>
              <a:t>Constrained by plot dimensions</a:t>
            </a:r>
            <a:endParaRPr lang="en-US" sz="1100" dirty="0"/>
          </a:p>
        </p:txBody>
      </p:sp>
      <p:sp>
        <p:nvSpPr>
          <p:cNvPr id="12" name="Shape 10"/>
          <p:cNvSpPr/>
          <p:nvPr/>
        </p:nvSpPr>
        <p:spPr>
          <a:xfrm>
            <a:off x="4398264" y="1298448"/>
            <a:ext cx="3566160" cy="3429000"/>
          </a:xfrm>
          <a:prstGeom prst="roundRect">
            <a:avLst>
              <a:gd name="adj" fmla="val 1600"/>
            </a:avLst>
          </a:prstGeom>
          <a:solidFill>
            <a:srgbClr val="FFFFFF"/>
          </a:solidFill>
          <a:ln w="19050">
            <a:solidFill>
              <a:srgbClr val="C05621"/>
            </a:solidFill>
            <a:prstDash val="solid"/>
          </a:ln>
        </p:spPr>
      </p:sp>
      <p:sp>
        <p:nvSpPr>
          <p:cNvPr id="13" name="Shape 11"/>
          <p:cNvSpPr/>
          <p:nvPr/>
        </p:nvSpPr>
        <p:spPr>
          <a:xfrm>
            <a:off x="4654296" y="1536192"/>
            <a:ext cx="329184" cy="329184"/>
          </a:xfrm>
          <a:prstGeom prst="ellipse">
            <a:avLst/>
          </a:prstGeom>
          <a:solidFill>
            <a:srgbClr val="C05621"/>
          </a:solidFill>
          <a:ln w="12700">
            <a:solidFill>
              <a:srgbClr val="C05621"/>
            </a:solidFill>
            <a:prstDash val="solid"/>
          </a:ln>
        </p:spPr>
      </p:sp>
      <p:sp>
        <p:nvSpPr>
          <p:cNvPr id="14" name="Text 12"/>
          <p:cNvSpPr txBox="1"/>
          <p:nvPr/>
        </p:nvSpPr>
        <p:spPr>
          <a:xfrm>
            <a:off x="4654296" y="15361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5093208" y="1554480"/>
            <a:ext cx="2697480" cy="292608"/>
          </a:xfrm>
          <a:prstGeom prst="rect">
            <a:avLst/>
          </a:prstGeom>
          <a:noFill/>
          <a:ln/>
        </p:spPr>
        <p:txBody>
          <a:bodyPr wrap="square" lIns="0" tIns="0" rIns="0" bIns="0" rtlCol="0" anchor="ctr"/>
          <a:lstStyle/>
          <a:p>
            <a:pPr indent="0" marL="0">
              <a:buNone/>
            </a:pPr>
            <a:r>
              <a:rPr lang="en-US" sz="1450" b="1" dirty="0">
                <a:solidFill>
                  <a:srgbClr val="13294B"/>
                </a:solidFill>
                <a:latin typeface="Cambria" pitchFamily="34" charset="0"/>
                <a:ea typeface="Cambria" pitchFamily="34" charset="-122"/>
                <a:cs typeface="Cambria" pitchFamily="34" charset="-120"/>
              </a:rPr>
              <a:t>Spatial Evaluation</a:t>
            </a:r>
            <a:endParaRPr lang="en-US" sz="1450" dirty="0"/>
          </a:p>
        </p:txBody>
      </p:sp>
      <p:sp>
        <p:nvSpPr>
          <p:cNvPr id="16" name="Text 14"/>
          <p:cNvSpPr txBox="1"/>
          <p:nvPr/>
        </p:nvSpPr>
        <p:spPr>
          <a:xfrm>
            <a:off x="4654296" y="1975104"/>
            <a:ext cx="3054096" cy="868680"/>
          </a:xfrm>
          <a:prstGeom prst="rect">
            <a:avLst/>
          </a:prstGeom>
          <a:noFill/>
          <a:ln/>
        </p:spPr>
        <p:txBody>
          <a:bodyPr wrap="square" lIns="0" tIns="0" rIns="0" bIns="0" rtlCol="0" anchor="t"/>
          <a:lstStyle/>
          <a:p>
            <a:pPr indent="0" marL="0">
              <a:lnSpc>
                <a:spcPts val="1550"/>
              </a:lnSpc>
              <a:buNone/>
            </a:pPr>
            <a:r>
              <a:rPr lang="en-US" sz="1150" dirty="0">
                <a:solidFill>
                  <a:srgbClr val="1B2430"/>
                </a:solidFill>
                <a:latin typeface="Calibri" pitchFamily="34" charset="0"/>
                <a:ea typeface="Calibri" pitchFamily="34" charset="-122"/>
                <a:cs typeface="Calibri" pitchFamily="34" charset="-120"/>
              </a:rPr>
              <a:t>The Spatial Critic Agent scores each candidate layout against the extracted constraints.</a:t>
            </a:r>
            <a:endParaRPr lang="en-US" sz="1150" dirty="0"/>
          </a:p>
        </p:txBody>
      </p:sp>
      <p:sp>
        <p:nvSpPr>
          <p:cNvPr id="17" name="Shape 15"/>
          <p:cNvSpPr/>
          <p:nvPr/>
        </p:nvSpPr>
        <p:spPr>
          <a:xfrm>
            <a:off x="4654296" y="2871216"/>
            <a:ext cx="3054096" cy="0"/>
          </a:xfrm>
          <a:prstGeom prst="line">
            <a:avLst/>
          </a:prstGeom>
          <a:noFill/>
          <a:ln w="12700">
            <a:solidFill>
              <a:srgbClr val="CBD8E6"/>
            </a:solidFill>
            <a:prstDash val="solid"/>
          </a:ln>
        </p:spPr>
      </p:sp>
      <p:sp>
        <p:nvSpPr>
          <p:cNvPr id="18" name="Text 16"/>
          <p:cNvSpPr txBox="1"/>
          <p:nvPr/>
        </p:nvSpPr>
        <p:spPr>
          <a:xfrm>
            <a:off x="4654296" y="2999232"/>
            <a:ext cx="3054096" cy="16002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1B2430"/>
                </a:solidFill>
                <a:latin typeface="Calibri" pitchFamily="34" charset="0"/>
                <a:ea typeface="Calibri" pitchFamily="34" charset="-122"/>
                <a:cs typeface="Calibri" pitchFamily="34" charset="-120"/>
              </a:rPr>
              <a:t>Room-size constraints</a:t>
            </a:r>
            <a:endParaRPr lang="en-US" sz="1100" dirty="0"/>
          </a:p>
          <a:p>
            <a:pPr marL="177800" indent="-177800">
              <a:spcAft>
                <a:spcPts val="500"/>
              </a:spcAft>
              <a:buSzPct val="100000"/>
              <a:buChar char="•"/>
            </a:pPr>
            <a:r>
              <a:rPr lang="en-US" sz="1100" dirty="0">
                <a:solidFill>
                  <a:srgbClr val="1B2430"/>
                </a:solidFill>
                <a:latin typeface="Calibri" pitchFamily="34" charset="0"/>
                <a:ea typeface="Calibri" pitchFamily="34" charset="-122"/>
                <a:cs typeface="Calibri" pitchFamily="34" charset="-120"/>
              </a:rPr>
              <a:t>Required spatial relationships</a:t>
            </a:r>
            <a:endParaRPr lang="en-US" sz="1100" dirty="0"/>
          </a:p>
          <a:p>
            <a:pPr marL="177800" indent="-177800">
              <a:spcAft>
                <a:spcPts val="500"/>
              </a:spcAft>
              <a:buSzPct val="100000"/>
              <a:buChar char="•"/>
            </a:pPr>
            <a:r>
              <a:rPr lang="en-US" sz="1100" dirty="0">
                <a:solidFill>
                  <a:srgbClr val="1B2430"/>
                </a:solidFill>
                <a:latin typeface="Calibri" pitchFamily="34" charset="0"/>
                <a:ea typeface="Calibri" pitchFamily="34" charset="-122"/>
                <a:cs typeface="Calibri" pitchFamily="34" charset="-120"/>
              </a:rPr>
              <a:t>Overlapping areas</a:t>
            </a:r>
            <a:endParaRPr lang="en-US" sz="1100" dirty="0"/>
          </a:p>
          <a:p>
            <a:pPr marL="177800" indent="-177800">
              <a:spcAft>
                <a:spcPts val="500"/>
              </a:spcAft>
              <a:buSzPct val="100000"/>
              <a:buChar char="•"/>
            </a:pPr>
            <a:r>
              <a:rPr lang="en-US" sz="1100" dirty="0">
                <a:solidFill>
                  <a:srgbClr val="1B2430"/>
                </a:solidFill>
                <a:latin typeface="Calibri" pitchFamily="34" charset="0"/>
                <a:ea typeface="Calibri" pitchFamily="34" charset="-122"/>
                <a:cs typeface="Calibri" pitchFamily="34" charset="-120"/>
              </a:rPr>
              <a:t>Connectivity</a:t>
            </a:r>
            <a:endParaRPr lang="en-US" sz="1100" dirty="0"/>
          </a:p>
          <a:p>
            <a:pPr marL="177800" indent="-177800">
              <a:spcAft>
                <a:spcPts val="500"/>
              </a:spcAft>
              <a:buSzPct val="100000"/>
              <a:buChar char="•"/>
            </a:pPr>
            <a:r>
              <a:rPr lang="en-US" sz="1100" dirty="0">
                <a:solidFill>
                  <a:srgbClr val="1B2430"/>
                </a:solidFill>
                <a:latin typeface="Calibri" pitchFamily="34" charset="0"/>
                <a:ea typeface="Calibri" pitchFamily="34" charset="-122"/>
                <a:cs typeface="Calibri" pitchFamily="34" charset="-120"/>
              </a:rPr>
              <a:t>Circulation</a:t>
            </a:r>
            <a:endParaRPr lang="en-US" sz="1100" dirty="0"/>
          </a:p>
          <a:p>
            <a:pPr marL="177800" indent="-177800">
              <a:spcAft>
                <a:spcPts val="500"/>
              </a:spcAft>
              <a:buSzPct val="100000"/>
              <a:buChar char="•"/>
            </a:pPr>
            <a:r>
              <a:rPr lang="en-US" sz="1100" dirty="0">
                <a:solidFill>
                  <a:srgbClr val="1B2430"/>
                </a:solidFill>
                <a:latin typeface="Calibri" pitchFamily="34" charset="0"/>
                <a:ea typeface="Calibri" pitchFamily="34" charset="-122"/>
                <a:cs typeface="Calibri" pitchFamily="34" charset="-120"/>
              </a:rPr>
              <a:t>Space utilization</a:t>
            </a:r>
            <a:endParaRPr lang="en-US" sz="1100" dirty="0"/>
          </a:p>
        </p:txBody>
      </p:sp>
      <p:sp>
        <p:nvSpPr>
          <p:cNvPr id="19" name="Shape 17"/>
          <p:cNvSpPr/>
          <p:nvPr/>
        </p:nvSpPr>
        <p:spPr>
          <a:xfrm>
            <a:off x="8247888" y="1298448"/>
            <a:ext cx="3566160" cy="3429000"/>
          </a:xfrm>
          <a:prstGeom prst="roundRect">
            <a:avLst>
              <a:gd name="adj" fmla="val 1600"/>
            </a:avLst>
          </a:prstGeom>
          <a:solidFill>
            <a:srgbClr val="FFFFFF"/>
          </a:solidFill>
          <a:ln w="19050">
            <a:solidFill>
              <a:srgbClr val="C05621"/>
            </a:solidFill>
            <a:prstDash val="solid"/>
          </a:ln>
        </p:spPr>
      </p:sp>
      <p:sp>
        <p:nvSpPr>
          <p:cNvPr id="20" name="Shape 18"/>
          <p:cNvSpPr/>
          <p:nvPr/>
        </p:nvSpPr>
        <p:spPr>
          <a:xfrm>
            <a:off x="8503920" y="1536192"/>
            <a:ext cx="329184" cy="329184"/>
          </a:xfrm>
          <a:prstGeom prst="ellipse">
            <a:avLst/>
          </a:prstGeom>
          <a:solidFill>
            <a:srgbClr val="C05621"/>
          </a:solidFill>
          <a:ln w="12700">
            <a:solidFill>
              <a:srgbClr val="C05621"/>
            </a:solidFill>
            <a:prstDash val="solid"/>
          </a:ln>
        </p:spPr>
      </p:sp>
      <p:sp>
        <p:nvSpPr>
          <p:cNvPr id="21" name="Text 19"/>
          <p:cNvSpPr txBox="1"/>
          <p:nvPr/>
        </p:nvSpPr>
        <p:spPr>
          <a:xfrm>
            <a:off x="8503920" y="153619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2" name="Text 20"/>
          <p:cNvSpPr txBox="1"/>
          <p:nvPr/>
        </p:nvSpPr>
        <p:spPr>
          <a:xfrm>
            <a:off x="8942832" y="1554480"/>
            <a:ext cx="2697480" cy="292608"/>
          </a:xfrm>
          <a:prstGeom prst="rect">
            <a:avLst/>
          </a:prstGeom>
          <a:noFill/>
          <a:ln/>
        </p:spPr>
        <p:txBody>
          <a:bodyPr wrap="square" lIns="0" tIns="0" rIns="0" bIns="0" rtlCol="0" anchor="ctr"/>
          <a:lstStyle/>
          <a:p>
            <a:pPr indent="0" marL="0">
              <a:buNone/>
            </a:pPr>
            <a:r>
              <a:rPr lang="en-US" sz="1450" b="1" dirty="0">
                <a:solidFill>
                  <a:srgbClr val="13294B"/>
                </a:solidFill>
                <a:latin typeface="Cambria" pitchFamily="34" charset="0"/>
                <a:ea typeface="Cambria" pitchFamily="34" charset="-122"/>
                <a:cs typeface="Cambria" pitchFamily="34" charset="-120"/>
              </a:rPr>
              <a:t>Optimization</a:t>
            </a:r>
            <a:endParaRPr lang="en-US" sz="1450" dirty="0"/>
          </a:p>
        </p:txBody>
      </p:sp>
      <p:sp>
        <p:nvSpPr>
          <p:cNvPr id="23" name="Text 21"/>
          <p:cNvSpPr txBox="1"/>
          <p:nvPr/>
        </p:nvSpPr>
        <p:spPr>
          <a:xfrm>
            <a:off x="8503920" y="1975104"/>
            <a:ext cx="3054096" cy="868680"/>
          </a:xfrm>
          <a:prstGeom prst="rect">
            <a:avLst/>
          </a:prstGeom>
          <a:noFill/>
          <a:ln/>
        </p:spPr>
        <p:txBody>
          <a:bodyPr wrap="square" lIns="0" tIns="0" rIns="0" bIns="0" rtlCol="0" anchor="t"/>
          <a:lstStyle/>
          <a:p>
            <a:pPr indent="0" marL="0">
              <a:lnSpc>
                <a:spcPts val="1550"/>
              </a:lnSpc>
              <a:buNone/>
            </a:pPr>
            <a:r>
              <a:rPr lang="en-US" sz="1150" dirty="0">
                <a:solidFill>
                  <a:srgbClr val="1B2430"/>
                </a:solidFill>
                <a:latin typeface="Calibri" pitchFamily="34" charset="0"/>
                <a:ea typeface="Calibri" pitchFamily="34" charset="-122"/>
                <a:cs typeface="Calibri" pitchFamily="34" charset="-120"/>
              </a:rPr>
              <a:t>The Optimization Agent identifies weak areas in the layout and modifies them, then the layout is re-evaluated.</a:t>
            </a:r>
            <a:endParaRPr lang="en-US" sz="1150" dirty="0"/>
          </a:p>
        </p:txBody>
      </p:sp>
      <p:sp>
        <p:nvSpPr>
          <p:cNvPr id="24" name="Shape 22"/>
          <p:cNvSpPr/>
          <p:nvPr/>
        </p:nvSpPr>
        <p:spPr>
          <a:xfrm>
            <a:off x="8503920" y="2871216"/>
            <a:ext cx="3054096" cy="0"/>
          </a:xfrm>
          <a:prstGeom prst="line">
            <a:avLst/>
          </a:prstGeom>
          <a:noFill/>
          <a:ln w="12700">
            <a:solidFill>
              <a:srgbClr val="CBD8E6"/>
            </a:solidFill>
            <a:prstDash val="solid"/>
          </a:ln>
        </p:spPr>
      </p:sp>
      <p:sp>
        <p:nvSpPr>
          <p:cNvPr id="25" name="Text 23"/>
          <p:cNvSpPr txBox="1"/>
          <p:nvPr/>
        </p:nvSpPr>
        <p:spPr>
          <a:xfrm>
            <a:off x="8503920" y="2999232"/>
            <a:ext cx="3054096" cy="1600200"/>
          </a:xfrm>
          <a:prstGeom prst="rect">
            <a:avLst/>
          </a:prstGeom>
          <a:noFill/>
          <a:ln/>
        </p:spPr>
        <p:txBody>
          <a:bodyPr wrap="square" lIns="0" tIns="0" rIns="0" bIns="0" rtlCol="0" anchor="t"/>
          <a:lstStyle/>
          <a:p>
            <a:pPr marL="177800" indent="-177800">
              <a:spcAft>
                <a:spcPts val="500"/>
              </a:spcAft>
              <a:buSzPct val="100000"/>
              <a:buChar char="•"/>
            </a:pPr>
            <a:r>
              <a:rPr lang="en-US" sz="1100" dirty="0">
                <a:solidFill>
                  <a:srgbClr val="1B2430"/>
                </a:solidFill>
                <a:latin typeface="Calibri" pitchFamily="34" charset="0"/>
                <a:ea typeface="Calibri" pitchFamily="34" charset="-122"/>
                <a:cs typeface="Calibri" pitchFamily="34" charset="-120"/>
              </a:rPr>
              <a:t>Targets the lowest-scoring constraints</a:t>
            </a:r>
            <a:endParaRPr lang="en-US" sz="1100" dirty="0"/>
          </a:p>
          <a:p>
            <a:pPr marL="177800" indent="-177800">
              <a:spcAft>
                <a:spcPts val="500"/>
              </a:spcAft>
              <a:buSzPct val="100000"/>
              <a:buChar char="•"/>
            </a:pPr>
            <a:r>
              <a:rPr lang="en-US" sz="1100" dirty="0">
                <a:solidFill>
                  <a:srgbClr val="1B2430"/>
                </a:solidFill>
                <a:latin typeface="Calibri" pitchFamily="34" charset="0"/>
                <a:ea typeface="Calibri" pitchFamily="34" charset="-122"/>
                <a:cs typeface="Calibri" pitchFamily="34" charset="-120"/>
              </a:rPr>
              <a:t>Repeats until quality stabilises</a:t>
            </a:r>
            <a:endParaRPr lang="en-US" sz="1100" dirty="0"/>
          </a:p>
        </p:txBody>
      </p:sp>
      <p:sp>
        <p:nvSpPr>
          <p:cNvPr id="26" name="Text 24"/>
          <p:cNvSpPr txBox="1"/>
          <p:nvPr/>
        </p:nvSpPr>
        <p:spPr>
          <a:xfrm>
            <a:off x="548640" y="4892040"/>
            <a:ext cx="11064240" cy="237744"/>
          </a:xfrm>
          <a:prstGeom prst="rect">
            <a:avLst/>
          </a:prstGeom>
          <a:noFill/>
          <a:ln/>
        </p:spPr>
        <p:txBody>
          <a:bodyPr wrap="square" lIns="0" tIns="0" rIns="0" bIns="0" rtlCol="0" anchor="ctr"/>
          <a:lstStyle/>
          <a:p>
            <a:pPr algn="ctr" indent="0" marL="0">
              <a:buNone/>
            </a:pPr>
            <a:r>
              <a:rPr lang="en-US" sz="950" b="1" spc="120" kern="0" dirty="0">
                <a:solidFill>
                  <a:srgbClr val="5B6B7C"/>
                </a:solidFill>
                <a:latin typeface="Calibri" pitchFamily="34" charset="0"/>
                <a:ea typeface="Calibri" pitchFamily="34" charset="-122"/>
                <a:cs typeface="Calibri" pitchFamily="34" charset="-120"/>
              </a:rPr>
              <a:t>THE OPTIMIZATION LOOP</a:t>
            </a:r>
            <a:endParaRPr lang="en-US" sz="950" dirty="0"/>
          </a:p>
        </p:txBody>
      </p:sp>
      <p:sp>
        <p:nvSpPr>
          <p:cNvPr id="27" name="Shape 25"/>
          <p:cNvSpPr/>
          <p:nvPr/>
        </p:nvSpPr>
        <p:spPr>
          <a:xfrm>
            <a:off x="717804" y="5230368"/>
            <a:ext cx="2331720" cy="566928"/>
          </a:xfrm>
          <a:prstGeom prst="roundRect">
            <a:avLst>
              <a:gd name="adj" fmla="val 9677"/>
            </a:avLst>
          </a:prstGeom>
          <a:solidFill>
            <a:srgbClr val="13294B"/>
          </a:solidFill>
          <a:ln w="12700">
            <a:solidFill>
              <a:srgbClr val="13294B"/>
            </a:solidFill>
            <a:prstDash val="solid"/>
          </a:ln>
        </p:spPr>
      </p:sp>
      <p:sp>
        <p:nvSpPr>
          <p:cNvPr id="28" name="Text 26"/>
          <p:cNvSpPr txBox="1"/>
          <p:nvPr/>
        </p:nvSpPr>
        <p:spPr>
          <a:xfrm>
            <a:off x="717804" y="5230368"/>
            <a:ext cx="23317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Generate</a:t>
            </a:r>
            <a:endParaRPr lang="en-US" sz="1300" dirty="0"/>
          </a:p>
        </p:txBody>
      </p:sp>
      <p:sp>
        <p:nvSpPr>
          <p:cNvPr id="29" name="Shape 27"/>
          <p:cNvSpPr/>
          <p:nvPr/>
        </p:nvSpPr>
        <p:spPr>
          <a:xfrm>
            <a:off x="3122676" y="5513832"/>
            <a:ext cx="329184" cy="0"/>
          </a:xfrm>
          <a:prstGeom prst="line">
            <a:avLst/>
          </a:prstGeom>
          <a:noFill/>
          <a:ln w="19050">
            <a:solidFill>
              <a:srgbClr val="5C7C9E"/>
            </a:solidFill>
            <a:prstDash val="solid"/>
            <a:tailEnd type="triangle"/>
          </a:ln>
        </p:spPr>
      </p:sp>
      <p:sp>
        <p:nvSpPr>
          <p:cNvPr id="30" name="Shape 28"/>
          <p:cNvSpPr/>
          <p:nvPr/>
        </p:nvSpPr>
        <p:spPr>
          <a:xfrm>
            <a:off x="3525012" y="5230368"/>
            <a:ext cx="2331720" cy="566928"/>
          </a:xfrm>
          <a:prstGeom prst="roundRect">
            <a:avLst>
              <a:gd name="adj" fmla="val 9677"/>
            </a:avLst>
          </a:prstGeom>
          <a:solidFill>
            <a:srgbClr val="C05621"/>
          </a:solidFill>
          <a:ln w="12700">
            <a:solidFill>
              <a:srgbClr val="C05621"/>
            </a:solidFill>
            <a:prstDash val="solid"/>
          </a:ln>
        </p:spPr>
      </p:sp>
      <p:sp>
        <p:nvSpPr>
          <p:cNvPr id="31" name="Text 29"/>
          <p:cNvSpPr txBox="1"/>
          <p:nvPr/>
        </p:nvSpPr>
        <p:spPr>
          <a:xfrm>
            <a:off x="3525012" y="5230368"/>
            <a:ext cx="23317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Evaluate</a:t>
            </a:r>
            <a:endParaRPr lang="en-US" sz="1300" dirty="0"/>
          </a:p>
        </p:txBody>
      </p:sp>
      <p:sp>
        <p:nvSpPr>
          <p:cNvPr id="32" name="Shape 30"/>
          <p:cNvSpPr/>
          <p:nvPr/>
        </p:nvSpPr>
        <p:spPr>
          <a:xfrm>
            <a:off x="5929884" y="5513832"/>
            <a:ext cx="329184" cy="0"/>
          </a:xfrm>
          <a:prstGeom prst="line">
            <a:avLst/>
          </a:prstGeom>
          <a:noFill/>
          <a:ln w="19050">
            <a:solidFill>
              <a:srgbClr val="5C7C9E"/>
            </a:solidFill>
            <a:prstDash val="solid"/>
            <a:tailEnd type="triangle"/>
          </a:ln>
        </p:spPr>
      </p:sp>
      <p:sp>
        <p:nvSpPr>
          <p:cNvPr id="33" name="Shape 31"/>
          <p:cNvSpPr/>
          <p:nvPr/>
        </p:nvSpPr>
        <p:spPr>
          <a:xfrm>
            <a:off x="6332220" y="5230368"/>
            <a:ext cx="2331720" cy="566928"/>
          </a:xfrm>
          <a:prstGeom prst="roundRect">
            <a:avLst>
              <a:gd name="adj" fmla="val 9677"/>
            </a:avLst>
          </a:prstGeom>
          <a:solidFill>
            <a:srgbClr val="13294B"/>
          </a:solidFill>
          <a:ln w="12700">
            <a:solidFill>
              <a:srgbClr val="13294B"/>
            </a:solidFill>
            <a:prstDash val="solid"/>
          </a:ln>
        </p:spPr>
      </p:sp>
      <p:sp>
        <p:nvSpPr>
          <p:cNvPr id="34" name="Text 32"/>
          <p:cNvSpPr txBox="1"/>
          <p:nvPr/>
        </p:nvSpPr>
        <p:spPr>
          <a:xfrm>
            <a:off x="6332220" y="5230368"/>
            <a:ext cx="23317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Improve</a:t>
            </a:r>
            <a:endParaRPr lang="en-US" sz="1300" dirty="0"/>
          </a:p>
        </p:txBody>
      </p:sp>
      <p:sp>
        <p:nvSpPr>
          <p:cNvPr id="35" name="Shape 33"/>
          <p:cNvSpPr/>
          <p:nvPr/>
        </p:nvSpPr>
        <p:spPr>
          <a:xfrm>
            <a:off x="8737092" y="5513832"/>
            <a:ext cx="329184" cy="0"/>
          </a:xfrm>
          <a:prstGeom prst="line">
            <a:avLst/>
          </a:prstGeom>
          <a:noFill/>
          <a:ln w="19050">
            <a:solidFill>
              <a:srgbClr val="5C7C9E"/>
            </a:solidFill>
            <a:prstDash val="solid"/>
            <a:tailEnd type="triangle"/>
          </a:ln>
        </p:spPr>
      </p:sp>
      <p:sp>
        <p:nvSpPr>
          <p:cNvPr id="36" name="Shape 34"/>
          <p:cNvSpPr/>
          <p:nvPr/>
        </p:nvSpPr>
        <p:spPr>
          <a:xfrm>
            <a:off x="9139428" y="5230368"/>
            <a:ext cx="2331720" cy="566928"/>
          </a:xfrm>
          <a:prstGeom prst="roundRect">
            <a:avLst>
              <a:gd name="adj" fmla="val 9677"/>
            </a:avLst>
          </a:prstGeom>
          <a:solidFill>
            <a:srgbClr val="C05621"/>
          </a:solidFill>
          <a:ln w="12700">
            <a:solidFill>
              <a:srgbClr val="C05621"/>
            </a:solidFill>
            <a:prstDash val="solid"/>
          </a:ln>
        </p:spPr>
      </p:sp>
      <p:sp>
        <p:nvSpPr>
          <p:cNvPr id="37" name="Text 35"/>
          <p:cNvSpPr txBox="1"/>
          <p:nvPr/>
        </p:nvSpPr>
        <p:spPr>
          <a:xfrm>
            <a:off x="9139428" y="5230368"/>
            <a:ext cx="2331720"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Re-evaluate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327648"/>
            <a:ext cx="457200" cy="274320"/>
          </a:xfrm>
          <a:prstGeom prst="rect">
            <a:avLst/>
          </a:prstGeom>
          <a:noFill/>
          <a:ln/>
        </p:spPr>
        <p:txBody>
          <a:bodyPr wrap="square" lIns="0" tIns="0" rIns="0" bIns="0" rtlCol="0" anchor="ctr"/>
          <a:lstStyle/>
          <a:p>
            <a:pPr algn="r" indent="0" marL="0">
              <a:buNone/>
            </a:pPr>
            <a:r>
              <a:rPr lang="en-US" sz="900" dirty="0">
                <a:solidFill>
                  <a:srgbClr val="5C7C9E"/>
                </a:solidFill>
                <a:latin typeface="Calibri" pitchFamily="34" charset="0"/>
                <a:ea typeface="Calibri" pitchFamily="34" charset="-122"/>
                <a:cs typeface="Calibri" pitchFamily="34" charset="-120"/>
              </a:rPr>
              <a:t>09</a:t>
            </a:r>
            <a:endParaRPr lang="en-US" sz="900" dirty="0"/>
          </a:p>
        </p:txBody>
      </p:sp>
      <p:sp>
        <p:nvSpPr>
          <p:cNvPr id="3" name="Text 1"/>
          <p:cNvSpPr txBox="1"/>
          <p:nvPr/>
        </p:nvSpPr>
        <p:spPr>
          <a:xfrm>
            <a:off x="548640" y="310896"/>
            <a:ext cx="11064240" cy="502920"/>
          </a:xfrm>
          <a:prstGeom prst="rect">
            <a:avLst/>
          </a:prstGeom>
          <a:noFill/>
          <a:ln/>
        </p:spPr>
        <p:txBody>
          <a:bodyPr wrap="square" lIns="0" tIns="0" rIns="0" bIns="0" rtlCol="0" anchor="ctr"/>
          <a:lstStyle/>
          <a:p>
            <a:pPr indent="0" marL="0">
              <a:buNone/>
            </a:pPr>
            <a:r>
              <a:rPr lang="en-US" sz="2900" b="1" dirty="0">
                <a:solidFill>
                  <a:srgbClr val="13294B"/>
                </a:solidFill>
                <a:latin typeface="Cambria" pitchFamily="34" charset="0"/>
                <a:ea typeface="Cambria" pitchFamily="34" charset="-122"/>
                <a:cs typeface="Cambria" pitchFamily="34" charset="-120"/>
              </a:rPr>
              <a:t>Expected Output</a:t>
            </a:r>
            <a:endParaRPr lang="en-US" sz="2900" dirty="0"/>
          </a:p>
        </p:txBody>
      </p:sp>
      <p:sp>
        <p:nvSpPr>
          <p:cNvPr id="4" name="Text 2"/>
          <p:cNvSpPr txBox="1"/>
          <p:nvPr/>
        </p:nvSpPr>
        <p:spPr>
          <a:xfrm>
            <a:off x="548640" y="841248"/>
            <a:ext cx="1106424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What the system will produce for a given requirement</a:t>
            </a:r>
            <a:endParaRPr lang="en-US" sz="1200" dirty="0"/>
          </a:p>
        </p:txBody>
      </p:sp>
      <p:sp>
        <p:nvSpPr>
          <p:cNvPr id="5" name="Shape 3"/>
          <p:cNvSpPr/>
          <p:nvPr/>
        </p:nvSpPr>
        <p:spPr>
          <a:xfrm>
            <a:off x="548640" y="1298448"/>
            <a:ext cx="4754880" cy="3566160"/>
          </a:xfrm>
          <a:prstGeom prst="roundRect">
            <a:avLst>
              <a:gd name="adj" fmla="val 1538"/>
            </a:avLst>
          </a:prstGeom>
          <a:solidFill>
            <a:srgbClr val="EEF3F9"/>
          </a:solidFill>
          <a:ln w="12700">
            <a:solidFill>
              <a:srgbClr val="CBD8E6"/>
            </a:solidFill>
            <a:prstDash val="solid"/>
          </a:ln>
        </p:spPr>
      </p:sp>
      <p:sp>
        <p:nvSpPr>
          <p:cNvPr id="6" name="Shape 4"/>
          <p:cNvSpPr/>
          <p:nvPr/>
        </p:nvSpPr>
        <p:spPr>
          <a:xfrm>
            <a:off x="777240" y="1481328"/>
            <a:ext cx="274320" cy="274320"/>
          </a:xfrm>
          <a:prstGeom prst="ellipse">
            <a:avLst/>
          </a:prstGeom>
          <a:solidFill>
            <a:srgbClr val="13294B"/>
          </a:solidFill>
          <a:ln w="12700">
            <a:solidFill>
              <a:srgbClr val="13294B"/>
            </a:solidFill>
            <a:prstDash val="solid"/>
          </a:ln>
        </p:spPr>
      </p:sp>
      <p:sp>
        <p:nvSpPr>
          <p:cNvPr id="7" name="Text 5"/>
          <p:cNvSpPr txBox="1"/>
          <p:nvPr/>
        </p:nvSpPr>
        <p:spPr>
          <a:xfrm>
            <a:off x="777240" y="14813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8" name="Text 6"/>
          <p:cNvSpPr txBox="1"/>
          <p:nvPr/>
        </p:nvSpPr>
        <p:spPr>
          <a:xfrm>
            <a:off x="1152144" y="1481328"/>
            <a:ext cx="3931920" cy="274320"/>
          </a:xfrm>
          <a:prstGeom prst="rect">
            <a:avLst/>
          </a:prstGeom>
          <a:noFill/>
          <a:ln/>
        </p:spPr>
        <p:txBody>
          <a:bodyPr wrap="square" lIns="0" tIns="0" rIns="0" bIns="0" rtlCol="0" anchor="ctr"/>
          <a:lstStyle/>
          <a:p>
            <a:pPr indent="0" marL="0">
              <a:buNone/>
            </a:pPr>
            <a:r>
              <a:rPr lang="en-US" sz="1300" b="1" dirty="0">
                <a:solidFill>
                  <a:srgbClr val="13294B"/>
                </a:solidFill>
                <a:latin typeface="Cambria" pitchFamily="34" charset="0"/>
                <a:ea typeface="Cambria" pitchFamily="34" charset="-122"/>
                <a:cs typeface="Cambria" pitchFamily="34" charset="-120"/>
              </a:rPr>
              <a:t>Optimized 2D Floor Plan</a:t>
            </a:r>
            <a:endParaRPr lang="en-US" sz="1300" dirty="0"/>
          </a:p>
        </p:txBody>
      </p:sp>
      <p:sp>
        <p:nvSpPr>
          <p:cNvPr id="9" name="Shape 7"/>
          <p:cNvSpPr/>
          <p:nvPr/>
        </p:nvSpPr>
        <p:spPr>
          <a:xfrm>
            <a:off x="868680" y="1938528"/>
            <a:ext cx="4114800" cy="2377440"/>
          </a:xfrm>
          <a:prstGeom prst="rect">
            <a:avLst/>
          </a:prstGeom>
          <a:solidFill>
            <a:srgbClr val="FFFFFF"/>
          </a:solidFill>
          <a:ln w="25400">
            <a:solidFill>
              <a:srgbClr val="13294B"/>
            </a:solidFill>
            <a:prstDash val="solid"/>
          </a:ln>
        </p:spPr>
      </p:sp>
      <p:sp>
        <p:nvSpPr>
          <p:cNvPr id="10" name="Shape 8"/>
          <p:cNvSpPr/>
          <p:nvPr/>
        </p:nvSpPr>
        <p:spPr>
          <a:xfrm>
            <a:off x="868680" y="1938528"/>
            <a:ext cx="1463040" cy="1143000"/>
          </a:xfrm>
          <a:prstGeom prst="rect">
            <a:avLst/>
          </a:prstGeom>
          <a:solidFill>
            <a:srgbClr val="F7FAFD"/>
          </a:solidFill>
          <a:ln w="12700">
            <a:solidFill>
              <a:srgbClr val="5C7C9E"/>
            </a:solidFill>
            <a:prstDash val="solid"/>
          </a:ln>
        </p:spPr>
      </p:sp>
      <p:sp>
        <p:nvSpPr>
          <p:cNvPr id="11" name="Text 9"/>
          <p:cNvSpPr txBox="1"/>
          <p:nvPr/>
        </p:nvSpPr>
        <p:spPr>
          <a:xfrm>
            <a:off x="868680" y="1938528"/>
            <a:ext cx="1463040" cy="1143000"/>
          </a:xfrm>
          <a:prstGeom prst="rect">
            <a:avLst/>
          </a:prstGeom>
          <a:noFill/>
          <a:ln/>
        </p:spPr>
        <p:txBody>
          <a:bodyPr wrap="square" lIns="0" tIns="0" rIns="0" bIns="0" rtlCol="0" anchor="ctr"/>
          <a:lstStyle/>
          <a:p>
            <a:pPr algn="ctr" indent="0" marL="0">
              <a:buNone/>
            </a:pPr>
            <a:r>
              <a:rPr lang="en-US" sz="950" b="1" dirty="0">
                <a:solidFill>
                  <a:srgbClr val="13294B"/>
                </a:solidFill>
                <a:latin typeface="Calibri" pitchFamily="34" charset="0"/>
                <a:ea typeface="Calibri" pitchFamily="34" charset="-122"/>
                <a:cs typeface="Calibri" pitchFamily="34" charset="-120"/>
              </a:rPr>
              <a:t>Bedroom 1</a:t>
            </a:r>
            <a:endParaRPr lang="en-US" sz="950" dirty="0"/>
          </a:p>
        </p:txBody>
      </p:sp>
      <p:sp>
        <p:nvSpPr>
          <p:cNvPr id="12" name="Shape 10"/>
          <p:cNvSpPr/>
          <p:nvPr/>
        </p:nvSpPr>
        <p:spPr>
          <a:xfrm>
            <a:off x="2331720" y="1938528"/>
            <a:ext cx="1463040" cy="1143000"/>
          </a:xfrm>
          <a:prstGeom prst="rect">
            <a:avLst/>
          </a:prstGeom>
          <a:solidFill>
            <a:srgbClr val="F7FAFD"/>
          </a:solidFill>
          <a:ln w="12700">
            <a:solidFill>
              <a:srgbClr val="5C7C9E"/>
            </a:solidFill>
            <a:prstDash val="solid"/>
          </a:ln>
        </p:spPr>
      </p:sp>
      <p:sp>
        <p:nvSpPr>
          <p:cNvPr id="13" name="Text 11"/>
          <p:cNvSpPr txBox="1"/>
          <p:nvPr/>
        </p:nvSpPr>
        <p:spPr>
          <a:xfrm>
            <a:off x="2331720" y="1938528"/>
            <a:ext cx="1463040" cy="1143000"/>
          </a:xfrm>
          <a:prstGeom prst="rect">
            <a:avLst/>
          </a:prstGeom>
          <a:noFill/>
          <a:ln/>
        </p:spPr>
        <p:txBody>
          <a:bodyPr wrap="square" lIns="0" tIns="0" rIns="0" bIns="0" rtlCol="0" anchor="ctr"/>
          <a:lstStyle/>
          <a:p>
            <a:pPr algn="ctr" indent="0" marL="0">
              <a:buNone/>
            </a:pPr>
            <a:r>
              <a:rPr lang="en-US" sz="950" b="1" dirty="0">
                <a:solidFill>
                  <a:srgbClr val="13294B"/>
                </a:solidFill>
                <a:latin typeface="Calibri" pitchFamily="34" charset="0"/>
                <a:ea typeface="Calibri" pitchFamily="34" charset="-122"/>
                <a:cs typeface="Calibri" pitchFamily="34" charset="-120"/>
              </a:rPr>
              <a:t>Bedroom 2</a:t>
            </a:r>
            <a:endParaRPr lang="en-US" sz="950" dirty="0"/>
          </a:p>
        </p:txBody>
      </p:sp>
      <p:sp>
        <p:nvSpPr>
          <p:cNvPr id="14" name="Shape 12"/>
          <p:cNvSpPr/>
          <p:nvPr/>
        </p:nvSpPr>
        <p:spPr>
          <a:xfrm>
            <a:off x="3794760" y="1938528"/>
            <a:ext cx="1188720" cy="566928"/>
          </a:xfrm>
          <a:prstGeom prst="rect">
            <a:avLst/>
          </a:prstGeom>
          <a:solidFill>
            <a:srgbClr val="F7FAFD"/>
          </a:solidFill>
          <a:ln w="12700">
            <a:solidFill>
              <a:srgbClr val="5C7C9E"/>
            </a:solidFill>
            <a:prstDash val="solid"/>
          </a:ln>
        </p:spPr>
      </p:sp>
      <p:sp>
        <p:nvSpPr>
          <p:cNvPr id="15" name="Text 13"/>
          <p:cNvSpPr txBox="1"/>
          <p:nvPr/>
        </p:nvSpPr>
        <p:spPr>
          <a:xfrm>
            <a:off x="3794760" y="1938528"/>
            <a:ext cx="1188720" cy="566928"/>
          </a:xfrm>
          <a:prstGeom prst="rect">
            <a:avLst/>
          </a:prstGeom>
          <a:noFill/>
          <a:ln/>
        </p:spPr>
        <p:txBody>
          <a:bodyPr wrap="square" lIns="0" tIns="0" rIns="0" bIns="0" rtlCol="0" anchor="ctr"/>
          <a:lstStyle/>
          <a:p>
            <a:pPr algn="ctr" indent="0" marL="0">
              <a:buNone/>
            </a:pPr>
            <a:r>
              <a:rPr lang="en-US" sz="950" b="1" dirty="0">
                <a:solidFill>
                  <a:srgbClr val="13294B"/>
                </a:solidFill>
                <a:latin typeface="Calibri" pitchFamily="34" charset="0"/>
                <a:ea typeface="Calibri" pitchFamily="34" charset="-122"/>
                <a:cs typeface="Calibri" pitchFamily="34" charset="-120"/>
              </a:rPr>
              <a:t>Bath</a:t>
            </a:r>
            <a:endParaRPr lang="en-US" sz="950" dirty="0"/>
          </a:p>
        </p:txBody>
      </p:sp>
      <p:sp>
        <p:nvSpPr>
          <p:cNvPr id="16" name="Shape 14"/>
          <p:cNvSpPr/>
          <p:nvPr/>
        </p:nvSpPr>
        <p:spPr>
          <a:xfrm>
            <a:off x="3794760" y="2505456"/>
            <a:ext cx="1188720" cy="576072"/>
          </a:xfrm>
          <a:prstGeom prst="rect">
            <a:avLst/>
          </a:prstGeom>
          <a:solidFill>
            <a:srgbClr val="F7FAFD"/>
          </a:solidFill>
          <a:ln w="12700">
            <a:solidFill>
              <a:srgbClr val="5C7C9E"/>
            </a:solidFill>
            <a:prstDash val="solid"/>
          </a:ln>
        </p:spPr>
      </p:sp>
      <p:sp>
        <p:nvSpPr>
          <p:cNvPr id="17" name="Text 15"/>
          <p:cNvSpPr txBox="1"/>
          <p:nvPr/>
        </p:nvSpPr>
        <p:spPr>
          <a:xfrm>
            <a:off x="3794760" y="2505456"/>
            <a:ext cx="1188720" cy="576072"/>
          </a:xfrm>
          <a:prstGeom prst="rect">
            <a:avLst/>
          </a:prstGeom>
          <a:noFill/>
          <a:ln/>
        </p:spPr>
        <p:txBody>
          <a:bodyPr wrap="square" lIns="0" tIns="0" rIns="0" bIns="0" rtlCol="0" anchor="ctr"/>
          <a:lstStyle/>
          <a:p>
            <a:pPr algn="ctr" indent="0" marL="0">
              <a:buNone/>
            </a:pPr>
            <a:r>
              <a:rPr lang="en-US" sz="950" b="1" dirty="0">
                <a:solidFill>
                  <a:srgbClr val="13294B"/>
                </a:solidFill>
                <a:latin typeface="Calibri" pitchFamily="34" charset="0"/>
                <a:ea typeface="Calibri" pitchFamily="34" charset="-122"/>
                <a:cs typeface="Calibri" pitchFamily="34" charset="-120"/>
              </a:rPr>
              <a:t>Bath</a:t>
            </a:r>
            <a:endParaRPr lang="en-US" sz="950" dirty="0"/>
          </a:p>
        </p:txBody>
      </p:sp>
      <p:sp>
        <p:nvSpPr>
          <p:cNvPr id="18" name="Shape 16"/>
          <p:cNvSpPr/>
          <p:nvPr/>
        </p:nvSpPr>
        <p:spPr>
          <a:xfrm>
            <a:off x="868680" y="3081528"/>
            <a:ext cx="1828800" cy="1234440"/>
          </a:xfrm>
          <a:prstGeom prst="rect">
            <a:avLst/>
          </a:prstGeom>
          <a:solidFill>
            <a:srgbClr val="FCEDE2"/>
          </a:solidFill>
          <a:ln w="12700">
            <a:solidFill>
              <a:srgbClr val="5C7C9E"/>
            </a:solidFill>
            <a:prstDash val="solid"/>
          </a:ln>
        </p:spPr>
      </p:sp>
      <p:sp>
        <p:nvSpPr>
          <p:cNvPr id="19" name="Text 17"/>
          <p:cNvSpPr txBox="1"/>
          <p:nvPr/>
        </p:nvSpPr>
        <p:spPr>
          <a:xfrm>
            <a:off x="868680" y="3081528"/>
            <a:ext cx="1828800" cy="1234440"/>
          </a:xfrm>
          <a:prstGeom prst="rect">
            <a:avLst/>
          </a:prstGeom>
          <a:noFill/>
          <a:ln/>
        </p:spPr>
        <p:txBody>
          <a:bodyPr wrap="square" lIns="0" tIns="0" rIns="0" bIns="0" rtlCol="0" anchor="ctr"/>
          <a:lstStyle/>
          <a:p>
            <a:pPr algn="ctr" indent="0" marL="0">
              <a:buNone/>
            </a:pPr>
            <a:r>
              <a:rPr lang="en-US" sz="950" b="1" dirty="0">
                <a:solidFill>
                  <a:srgbClr val="13294B"/>
                </a:solidFill>
                <a:latin typeface="Calibri" pitchFamily="34" charset="0"/>
                <a:ea typeface="Calibri" pitchFamily="34" charset="-122"/>
                <a:cs typeface="Calibri" pitchFamily="34" charset="-120"/>
              </a:rPr>
              <a:t>Living Room</a:t>
            </a:r>
            <a:endParaRPr lang="en-US" sz="950" dirty="0"/>
          </a:p>
        </p:txBody>
      </p:sp>
      <p:sp>
        <p:nvSpPr>
          <p:cNvPr id="20" name="Shape 18"/>
          <p:cNvSpPr/>
          <p:nvPr/>
        </p:nvSpPr>
        <p:spPr>
          <a:xfrm>
            <a:off x="2697480" y="3081528"/>
            <a:ext cx="1143000" cy="1234440"/>
          </a:xfrm>
          <a:prstGeom prst="rect">
            <a:avLst/>
          </a:prstGeom>
          <a:solidFill>
            <a:srgbClr val="F7FAFD"/>
          </a:solidFill>
          <a:ln w="12700">
            <a:solidFill>
              <a:srgbClr val="5C7C9E"/>
            </a:solidFill>
            <a:prstDash val="solid"/>
          </a:ln>
        </p:spPr>
      </p:sp>
      <p:sp>
        <p:nvSpPr>
          <p:cNvPr id="21" name="Text 19"/>
          <p:cNvSpPr txBox="1"/>
          <p:nvPr/>
        </p:nvSpPr>
        <p:spPr>
          <a:xfrm>
            <a:off x="2697480" y="3081528"/>
            <a:ext cx="1143000" cy="1234440"/>
          </a:xfrm>
          <a:prstGeom prst="rect">
            <a:avLst/>
          </a:prstGeom>
          <a:noFill/>
          <a:ln/>
        </p:spPr>
        <p:txBody>
          <a:bodyPr wrap="square" lIns="0" tIns="0" rIns="0" bIns="0" rtlCol="0" anchor="ctr"/>
          <a:lstStyle/>
          <a:p>
            <a:pPr algn="ctr" indent="0" marL="0">
              <a:buNone/>
            </a:pPr>
            <a:r>
              <a:rPr lang="en-US" sz="950" b="1" dirty="0">
                <a:solidFill>
                  <a:srgbClr val="13294B"/>
                </a:solidFill>
                <a:latin typeface="Calibri" pitchFamily="34" charset="0"/>
                <a:ea typeface="Calibri" pitchFamily="34" charset="-122"/>
                <a:cs typeface="Calibri" pitchFamily="34" charset="-120"/>
              </a:rPr>
              <a:t>Dining</a:t>
            </a:r>
            <a:endParaRPr lang="en-US" sz="950" dirty="0"/>
          </a:p>
        </p:txBody>
      </p:sp>
      <p:sp>
        <p:nvSpPr>
          <p:cNvPr id="22" name="Shape 20"/>
          <p:cNvSpPr/>
          <p:nvPr/>
        </p:nvSpPr>
        <p:spPr>
          <a:xfrm>
            <a:off x="3840480" y="3081528"/>
            <a:ext cx="1143000" cy="1234440"/>
          </a:xfrm>
          <a:prstGeom prst="rect">
            <a:avLst/>
          </a:prstGeom>
          <a:solidFill>
            <a:srgbClr val="F7FAFD"/>
          </a:solidFill>
          <a:ln w="12700">
            <a:solidFill>
              <a:srgbClr val="5C7C9E"/>
            </a:solidFill>
            <a:prstDash val="solid"/>
          </a:ln>
        </p:spPr>
      </p:sp>
      <p:sp>
        <p:nvSpPr>
          <p:cNvPr id="23" name="Text 21"/>
          <p:cNvSpPr txBox="1"/>
          <p:nvPr/>
        </p:nvSpPr>
        <p:spPr>
          <a:xfrm>
            <a:off x="3840480" y="3081528"/>
            <a:ext cx="1143000" cy="1234440"/>
          </a:xfrm>
          <a:prstGeom prst="rect">
            <a:avLst/>
          </a:prstGeom>
          <a:noFill/>
          <a:ln/>
        </p:spPr>
        <p:txBody>
          <a:bodyPr wrap="square" lIns="0" tIns="0" rIns="0" bIns="0" rtlCol="0" anchor="ctr"/>
          <a:lstStyle/>
          <a:p>
            <a:pPr algn="ctr" indent="0" marL="0">
              <a:buNone/>
            </a:pPr>
            <a:r>
              <a:rPr lang="en-US" sz="950" b="1" dirty="0">
                <a:solidFill>
                  <a:srgbClr val="13294B"/>
                </a:solidFill>
                <a:latin typeface="Calibri" pitchFamily="34" charset="0"/>
                <a:ea typeface="Calibri" pitchFamily="34" charset="-122"/>
                <a:cs typeface="Calibri" pitchFamily="34" charset="-120"/>
              </a:rPr>
              <a:t>Kitchen</a:t>
            </a:r>
            <a:endParaRPr lang="en-US" sz="950" dirty="0"/>
          </a:p>
        </p:txBody>
      </p:sp>
      <p:sp>
        <p:nvSpPr>
          <p:cNvPr id="24" name="Shape 22"/>
          <p:cNvSpPr/>
          <p:nvPr/>
        </p:nvSpPr>
        <p:spPr>
          <a:xfrm>
            <a:off x="1371600" y="4270248"/>
            <a:ext cx="457200" cy="91440"/>
          </a:xfrm>
          <a:prstGeom prst="rect">
            <a:avLst/>
          </a:prstGeom>
          <a:solidFill>
            <a:srgbClr val="C05621"/>
          </a:solidFill>
          <a:ln w="12700">
            <a:solidFill>
              <a:srgbClr val="C05621"/>
            </a:solidFill>
            <a:prstDash val="solid"/>
          </a:ln>
        </p:spPr>
      </p:sp>
      <p:sp>
        <p:nvSpPr>
          <p:cNvPr id="25" name="Text 23"/>
          <p:cNvSpPr txBox="1"/>
          <p:nvPr/>
        </p:nvSpPr>
        <p:spPr>
          <a:xfrm>
            <a:off x="960120" y="4370832"/>
            <a:ext cx="1280160" cy="201168"/>
          </a:xfrm>
          <a:prstGeom prst="rect">
            <a:avLst/>
          </a:prstGeom>
          <a:noFill/>
          <a:ln/>
        </p:spPr>
        <p:txBody>
          <a:bodyPr wrap="square" lIns="0" tIns="0" rIns="0" bIns="0" rtlCol="0" anchor="ctr"/>
          <a:lstStyle/>
          <a:p>
            <a:pPr indent="0" marL="0">
              <a:buNone/>
            </a:pPr>
            <a:r>
              <a:rPr lang="en-US" sz="900" dirty="0">
                <a:solidFill>
                  <a:srgbClr val="C05621"/>
                </a:solidFill>
                <a:latin typeface="Calibri" pitchFamily="34" charset="0"/>
                <a:ea typeface="Calibri" pitchFamily="34" charset="-122"/>
                <a:cs typeface="Calibri" pitchFamily="34" charset="-120"/>
              </a:rPr>
              <a:t>Entrance</a:t>
            </a:r>
            <a:endParaRPr lang="en-US" sz="900" dirty="0"/>
          </a:p>
        </p:txBody>
      </p:sp>
      <p:sp>
        <p:nvSpPr>
          <p:cNvPr id="26" name="Text 24"/>
          <p:cNvSpPr txBox="1"/>
          <p:nvPr/>
        </p:nvSpPr>
        <p:spPr>
          <a:xfrm>
            <a:off x="2240280" y="4370832"/>
            <a:ext cx="2743200" cy="201168"/>
          </a:xfrm>
          <a:prstGeom prst="rect">
            <a:avLst/>
          </a:prstGeom>
          <a:noFill/>
          <a:ln/>
        </p:spPr>
        <p:txBody>
          <a:bodyPr wrap="square" lIns="0" tIns="0" rIns="0" bIns="0" rtlCol="0" anchor="ctr"/>
          <a:lstStyle/>
          <a:p>
            <a:pPr algn="r" indent="0" marL="0">
              <a:buNone/>
            </a:pPr>
            <a:r>
              <a:rPr lang="en-US" sz="900" i="1" dirty="0">
                <a:solidFill>
                  <a:srgbClr val="5B6B7C"/>
                </a:solidFill>
                <a:latin typeface="Calibri" pitchFamily="34" charset="0"/>
                <a:ea typeface="Calibri" pitchFamily="34" charset="-122"/>
                <a:cs typeface="Calibri" pitchFamily="34" charset="-120"/>
              </a:rPr>
              <a:t>Illustrative example — not a generated result</a:t>
            </a:r>
            <a:endParaRPr lang="en-US" sz="900" dirty="0"/>
          </a:p>
        </p:txBody>
      </p:sp>
      <p:sp>
        <p:nvSpPr>
          <p:cNvPr id="27" name="Shape 25"/>
          <p:cNvSpPr/>
          <p:nvPr/>
        </p:nvSpPr>
        <p:spPr>
          <a:xfrm>
            <a:off x="5486400" y="1298448"/>
            <a:ext cx="6144768" cy="1673352"/>
          </a:xfrm>
          <a:prstGeom prst="roundRect">
            <a:avLst>
              <a:gd name="adj" fmla="val 3279"/>
            </a:avLst>
          </a:prstGeom>
          <a:solidFill>
            <a:srgbClr val="EEF3F9"/>
          </a:solidFill>
          <a:ln w="12700">
            <a:solidFill>
              <a:srgbClr val="CBD8E6"/>
            </a:solidFill>
            <a:prstDash val="solid"/>
          </a:ln>
        </p:spPr>
      </p:sp>
      <p:sp>
        <p:nvSpPr>
          <p:cNvPr id="28" name="Shape 26"/>
          <p:cNvSpPr/>
          <p:nvPr/>
        </p:nvSpPr>
        <p:spPr>
          <a:xfrm>
            <a:off x="5715000" y="1481328"/>
            <a:ext cx="274320" cy="274320"/>
          </a:xfrm>
          <a:prstGeom prst="ellipse">
            <a:avLst/>
          </a:prstGeom>
          <a:solidFill>
            <a:srgbClr val="13294B"/>
          </a:solidFill>
          <a:ln w="12700">
            <a:solidFill>
              <a:srgbClr val="13294B"/>
            </a:solidFill>
            <a:prstDash val="solid"/>
          </a:ln>
        </p:spPr>
      </p:sp>
      <p:sp>
        <p:nvSpPr>
          <p:cNvPr id="29" name="Text 27"/>
          <p:cNvSpPr txBox="1"/>
          <p:nvPr/>
        </p:nvSpPr>
        <p:spPr>
          <a:xfrm>
            <a:off x="5715000" y="14813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30" name="Text 28"/>
          <p:cNvSpPr txBox="1"/>
          <p:nvPr/>
        </p:nvSpPr>
        <p:spPr>
          <a:xfrm>
            <a:off x="6089904" y="1481328"/>
            <a:ext cx="5303520" cy="274320"/>
          </a:xfrm>
          <a:prstGeom prst="rect">
            <a:avLst/>
          </a:prstGeom>
          <a:noFill/>
          <a:ln/>
        </p:spPr>
        <p:txBody>
          <a:bodyPr wrap="square" lIns="0" tIns="0" rIns="0" bIns="0" rtlCol="0" anchor="ctr"/>
          <a:lstStyle/>
          <a:p>
            <a:pPr indent="0" marL="0">
              <a:buNone/>
            </a:pPr>
            <a:r>
              <a:rPr lang="en-US" sz="1300" b="1" dirty="0">
                <a:solidFill>
                  <a:srgbClr val="13294B"/>
                </a:solidFill>
                <a:latin typeface="Cambria" pitchFamily="34" charset="0"/>
                <a:ea typeface="Cambria" pitchFamily="34" charset="-122"/>
                <a:cs typeface="Cambria" pitchFamily="34" charset="-120"/>
              </a:rPr>
              <a:t>Structured Spatial Representation</a:t>
            </a:r>
            <a:endParaRPr lang="en-US" sz="1300" dirty="0"/>
          </a:p>
        </p:txBody>
      </p:sp>
      <p:sp>
        <p:nvSpPr>
          <p:cNvPr id="31" name="Text 29"/>
          <p:cNvSpPr txBox="1"/>
          <p:nvPr/>
        </p:nvSpPr>
        <p:spPr>
          <a:xfrm>
            <a:off x="5806440" y="1883664"/>
            <a:ext cx="5577840" cy="960120"/>
          </a:xfrm>
          <a:prstGeom prst="rect">
            <a:avLst/>
          </a:prstGeom>
          <a:noFill/>
          <a:ln/>
        </p:spPr>
        <p:txBody>
          <a:bodyPr wrap="square" lIns="0" tIns="0" rIns="0" bIns="0" rtlCol="0" anchor="t"/>
          <a:lstStyle/>
          <a:p>
            <a:pPr indent="0" marL="0">
              <a:lnSpc>
                <a:spcPts val="1700"/>
              </a:lnSpc>
              <a:buNone/>
            </a:pPr>
            <a:r>
              <a:rPr lang="en-US" sz="1100" dirty="0">
                <a:solidFill>
                  <a:srgbClr val="13294B"/>
                </a:solidFill>
                <a:latin typeface="Courier New" pitchFamily="34" charset="0"/>
                <a:ea typeface="Courier New" pitchFamily="34" charset="-122"/>
                <a:cs typeface="Courier New" pitchFamily="34" charset="-120"/>
              </a:rPr>
              <a:t>Room: Bedroom 1        Size: 12 × 12 ft</a:t>
            </a:r>
            <a:endParaRPr lang="en-US" sz="1100" dirty="0"/>
          </a:p>
          <a:p>
            <a:pPr indent="0" marL="0">
              <a:lnSpc>
                <a:spcPts val="1700"/>
              </a:lnSpc>
              <a:buNone/>
            </a:pPr>
            <a:r>
              <a:rPr lang="en-US" sz="1100" dirty="0">
                <a:solidFill>
                  <a:srgbClr val="13294B"/>
                </a:solidFill>
                <a:latin typeface="Courier New" pitchFamily="34" charset="0"/>
                <a:ea typeface="Courier New" pitchFamily="34" charset="-122"/>
                <a:cs typeface="Courier New" pitchFamily="34" charset="-120"/>
              </a:rPr>
              <a:t>Bedroom 1  →  near      →  Bathroom</a:t>
            </a:r>
            <a:endParaRPr lang="en-US" sz="1100" dirty="0"/>
          </a:p>
          <a:p>
            <a:pPr indent="0" marL="0">
              <a:lnSpc>
                <a:spcPts val="1700"/>
              </a:lnSpc>
              <a:buNone/>
            </a:pPr>
            <a:r>
              <a:rPr lang="en-US" sz="1100" dirty="0">
                <a:solidFill>
                  <a:srgbClr val="13294B"/>
                </a:solidFill>
                <a:latin typeface="Courier New" pitchFamily="34" charset="0"/>
                <a:ea typeface="Courier New" pitchFamily="34" charset="-122"/>
                <a:cs typeface="Courier New" pitchFamily="34" charset="-120"/>
              </a:rPr>
              <a:t>Bedroom 1  →  away from →  Entrance</a:t>
            </a:r>
            <a:endParaRPr lang="en-US" sz="1100" dirty="0"/>
          </a:p>
        </p:txBody>
      </p:sp>
      <p:sp>
        <p:nvSpPr>
          <p:cNvPr id="32" name="Shape 30"/>
          <p:cNvSpPr/>
          <p:nvPr/>
        </p:nvSpPr>
        <p:spPr>
          <a:xfrm>
            <a:off x="5486400" y="3191256"/>
            <a:ext cx="6144768" cy="1673352"/>
          </a:xfrm>
          <a:prstGeom prst="roundRect">
            <a:avLst>
              <a:gd name="adj" fmla="val 3279"/>
            </a:avLst>
          </a:prstGeom>
          <a:solidFill>
            <a:srgbClr val="EEF3F9"/>
          </a:solidFill>
          <a:ln w="12700">
            <a:solidFill>
              <a:srgbClr val="CBD8E6"/>
            </a:solidFill>
            <a:prstDash val="solid"/>
          </a:ln>
        </p:spPr>
      </p:sp>
      <p:sp>
        <p:nvSpPr>
          <p:cNvPr id="33" name="Shape 31"/>
          <p:cNvSpPr/>
          <p:nvPr/>
        </p:nvSpPr>
        <p:spPr>
          <a:xfrm>
            <a:off x="5715000" y="3374136"/>
            <a:ext cx="274320" cy="274320"/>
          </a:xfrm>
          <a:prstGeom prst="ellipse">
            <a:avLst/>
          </a:prstGeom>
          <a:solidFill>
            <a:srgbClr val="13294B"/>
          </a:solidFill>
          <a:ln w="12700">
            <a:solidFill>
              <a:srgbClr val="13294B"/>
            </a:solidFill>
            <a:prstDash val="solid"/>
          </a:ln>
        </p:spPr>
      </p:sp>
      <p:sp>
        <p:nvSpPr>
          <p:cNvPr id="34" name="Text 32"/>
          <p:cNvSpPr txBox="1"/>
          <p:nvPr/>
        </p:nvSpPr>
        <p:spPr>
          <a:xfrm>
            <a:off x="5715000" y="33741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35" name="Text 33"/>
          <p:cNvSpPr txBox="1"/>
          <p:nvPr/>
        </p:nvSpPr>
        <p:spPr>
          <a:xfrm>
            <a:off x="6089904" y="3374136"/>
            <a:ext cx="5303520" cy="274320"/>
          </a:xfrm>
          <a:prstGeom prst="rect">
            <a:avLst/>
          </a:prstGeom>
          <a:noFill/>
          <a:ln/>
        </p:spPr>
        <p:txBody>
          <a:bodyPr wrap="square" lIns="0" tIns="0" rIns="0" bIns="0" rtlCol="0" anchor="ctr"/>
          <a:lstStyle/>
          <a:p>
            <a:pPr indent="0" marL="0">
              <a:buNone/>
            </a:pPr>
            <a:r>
              <a:rPr lang="en-US" sz="1300" b="1" dirty="0">
                <a:solidFill>
                  <a:srgbClr val="13294B"/>
                </a:solidFill>
                <a:latin typeface="Cambria" pitchFamily="34" charset="0"/>
                <a:ea typeface="Cambria" pitchFamily="34" charset="-122"/>
                <a:cs typeface="Cambria" pitchFamily="34" charset="-120"/>
              </a:rPr>
              <a:t>Spatial Evaluation</a:t>
            </a:r>
            <a:endParaRPr lang="en-US" sz="1300" dirty="0"/>
          </a:p>
        </p:txBody>
      </p:sp>
      <p:sp>
        <p:nvSpPr>
          <p:cNvPr id="36" name="Text 34"/>
          <p:cNvSpPr txBox="1"/>
          <p:nvPr/>
        </p:nvSpPr>
        <p:spPr>
          <a:xfrm>
            <a:off x="5806440" y="3730752"/>
            <a:ext cx="2194560" cy="256032"/>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Room requirements</a:t>
            </a:r>
            <a:endParaRPr lang="en-US" sz="1050" dirty="0"/>
          </a:p>
        </p:txBody>
      </p:sp>
      <p:sp>
        <p:nvSpPr>
          <p:cNvPr id="37" name="Text 35"/>
          <p:cNvSpPr txBox="1"/>
          <p:nvPr/>
        </p:nvSpPr>
        <p:spPr>
          <a:xfrm>
            <a:off x="8001000" y="3730752"/>
            <a:ext cx="548640" cy="256032"/>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a:t>
            </a:r>
            <a:endParaRPr lang="en-US" sz="1050" dirty="0"/>
          </a:p>
        </p:txBody>
      </p:sp>
      <p:sp>
        <p:nvSpPr>
          <p:cNvPr id="38" name="Text 36"/>
          <p:cNvSpPr txBox="1"/>
          <p:nvPr/>
        </p:nvSpPr>
        <p:spPr>
          <a:xfrm>
            <a:off x="8686800" y="3730752"/>
            <a:ext cx="2194560" cy="256032"/>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Room dimensions</a:t>
            </a:r>
            <a:endParaRPr lang="en-US" sz="1050" dirty="0"/>
          </a:p>
        </p:txBody>
      </p:sp>
      <p:sp>
        <p:nvSpPr>
          <p:cNvPr id="39" name="Text 37"/>
          <p:cNvSpPr txBox="1"/>
          <p:nvPr/>
        </p:nvSpPr>
        <p:spPr>
          <a:xfrm>
            <a:off x="10881360" y="3730752"/>
            <a:ext cx="548640" cy="256032"/>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a:t>
            </a:r>
            <a:endParaRPr lang="en-US" sz="1050" dirty="0"/>
          </a:p>
        </p:txBody>
      </p:sp>
      <p:sp>
        <p:nvSpPr>
          <p:cNvPr id="40" name="Text 38"/>
          <p:cNvSpPr txBox="1"/>
          <p:nvPr/>
        </p:nvSpPr>
        <p:spPr>
          <a:xfrm>
            <a:off x="5806440" y="4023360"/>
            <a:ext cx="2194560" cy="256032"/>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No overlapping spaces</a:t>
            </a:r>
            <a:endParaRPr lang="en-US" sz="1050" dirty="0"/>
          </a:p>
        </p:txBody>
      </p:sp>
      <p:sp>
        <p:nvSpPr>
          <p:cNvPr id="41" name="Text 39"/>
          <p:cNvSpPr txBox="1"/>
          <p:nvPr/>
        </p:nvSpPr>
        <p:spPr>
          <a:xfrm>
            <a:off x="8001000" y="4023360"/>
            <a:ext cx="548640" cy="256032"/>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a:t>
            </a:r>
            <a:endParaRPr lang="en-US" sz="1050" dirty="0"/>
          </a:p>
        </p:txBody>
      </p:sp>
      <p:sp>
        <p:nvSpPr>
          <p:cNvPr id="42" name="Text 40"/>
          <p:cNvSpPr txBox="1"/>
          <p:nvPr/>
        </p:nvSpPr>
        <p:spPr>
          <a:xfrm>
            <a:off x="8686800" y="4023360"/>
            <a:ext cx="2194560" cy="256032"/>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Required adjacency</a:t>
            </a:r>
            <a:endParaRPr lang="en-US" sz="1050" dirty="0"/>
          </a:p>
        </p:txBody>
      </p:sp>
      <p:sp>
        <p:nvSpPr>
          <p:cNvPr id="43" name="Text 41"/>
          <p:cNvSpPr txBox="1"/>
          <p:nvPr/>
        </p:nvSpPr>
        <p:spPr>
          <a:xfrm>
            <a:off x="10881360" y="4023360"/>
            <a:ext cx="548640" cy="256032"/>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a:t>
            </a:r>
            <a:endParaRPr lang="en-US" sz="1050" dirty="0"/>
          </a:p>
        </p:txBody>
      </p:sp>
      <p:sp>
        <p:nvSpPr>
          <p:cNvPr id="44" name="Text 42"/>
          <p:cNvSpPr txBox="1"/>
          <p:nvPr/>
        </p:nvSpPr>
        <p:spPr>
          <a:xfrm>
            <a:off x="5806440" y="4315968"/>
            <a:ext cx="2194560" cy="256032"/>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Connectivity</a:t>
            </a:r>
            <a:endParaRPr lang="en-US" sz="1050" dirty="0"/>
          </a:p>
        </p:txBody>
      </p:sp>
      <p:sp>
        <p:nvSpPr>
          <p:cNvPr id="45" name="Text 43"/>
          <p:cNvSpPr txBox="1"/>
          <p:nvPr/>
        </p:nvSpPr>
        <p:spPr>
          <a:xfrm>
            <a:off x="8001000" y="4315968"/>
            <a:ext cx="548640" cy="256032"/>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a:t>
            </a:r>
            <a:endParaRPr lang="en-US" sz="1050" dirty="0"/>
          </a:p>
        </p:txBody>
      </p:sp>
      <p:sp>
        <p:nvSpPr>
          <p:cNvPr id="46" name="Text 44"/>
          <p:cNvSpPr txBox="1"/>
          <p:nvPr/>
        </p:nvSpPr>
        <p:spPr>
          <a:xfrm>
            <a:off x="8686800" y="4315968"/>
            <a:ext cx="2194560" cy="256032"/>
          </a:xfrm>
          <a:prstGeom prst="rect">
            <a:avLst/>
          </a:prstGeom>
          <a:noFill/>
          <a:ln/>
        </p:spPr>
        <p:txBody>
          <a:bodyPr wrap="square" lIns="0" tIns="0" rIns="0" bIns="0" rtlCol="0" anchor="ctr"/>
          <a:lstStyle/>
          <a:p>
            <a:pPr indent="0" marL="0">
              <a:buNone/>
            </a:pPr>
            <a:r>
              <a:rPr lang="en-US" sz="1050" dirty="0">
                <a:solidFill>
                  <a:srgbClr val="1B2430"/>
                </a:solidFill>
                <a:latin typeface="Calibri" pitchFamily="34" charset="0"/>
                <a:ea typeface="Calibri" pitchFamily="34" charset="-122"/>
                <a:cs typeface="Calibri" pitchFamily="34" charset="-120"/>
              </a:rPr>
              <a:t>Space utilization</a:t>
            </a:r>
            <a:endParaRPr lang="en-US" sz="1050" dirty="0"/>
          </a:p>
        </p:txBody>
      </p:sp>
      <p:sp>
        <p:nvSpPr>
          <p:cNvPr id="47" name="Text 45"/>
          <p:cNvSpPr txBox="1"/>
          <p:nvPr/>
        </p:nvSpPr>
        <p:spPr>
          <a:xfrm>
            <a:off x="10881360" y="4315968"/>
            <a:ext cx="548640" cy="256032"/>
          </a:xfrm>
          <a:prstGeom prst="rect">
            <a:avLst/>
          </a:prstGeom>
          <a:noFill/>
          <a:ln/>
        </p:spPr>
        <p:txBody>
          <a:bodyPr wrap="square" lIns="0" tIns="0" rIns="0" bIns="0" rtlCol="0" anchor="ctr"/>
          <a:lstStyle/>
          <a:p>
            <a:pPr indent="0" marL="0">
              <a:buNone/>
            </a:pPr>
            <a:r>
              <a:rPr lang="en-US" sz="1050" b="1" dirty="0">
                <a:solidFill>
                  <a:srgbClr val="C05621"/>
                </a:solidFill>
                <a:latin typeface="Calibri" pitchFamily="34" charset="0"/>
                <a:ea typeface="Calibri" pitchFamily="34" charset="-122"/>
                <a:cs typeface="Calibri" pitchFamily="34" charset="-120"/>
              </a:rPr>
              <a:t>0.xx</a:t>
            </a:r>
            <a:endParaRPr lang="en-US" sz="1050" dirty="0"/>
          </a:p>
        </p:txBody>
      </p:sp>
      <p:sp>
        <p:nvSpPr>
          <p:cNvPr id="48" name="Text 46"/>
          <p:cNvSpPr txBox="1"/>
          <p:nvPr/>
        </p:nvSpPr>
        <p:spPr>
          <a:xfrm>
            <a:off x="5806440" y="4599432"/>
            <a:ext cx="5577840" cy="219456"/>
          </a:xfrm>
          <a:prstGeom prst="rect">
            <a:avLst/>
          </a:prstGeom>
          <a:noFill/>
          <a:ln/>
        </p:spPr>
        <p:txBody>
          <a:bodyPr wrap="square" lIns="0" tIns="0" rIns="0" bIns="0" rtlCol="0" anchor="ctr"/>
          <a:lstStyle/>
          <a:p>
            <a:pPr indent="0" marL="0">
              <a:buNone/>
            </a:pPr>
            <a:r>
              <a:rPr lang="en-US" sz="950" i="1" dirty="0">
                <a:solidFill>
                  <a:srgbClr val="5B6B7C"/>
                </a:solidFill>
                <a:latin typeface="Calibri" pitchFamily="34" charset="0"/>
                <a:ea typeface="Calibri" pitchFamily="34" charset="-122"/>
                <a:cs typeface="Calibri" pitchFamily="34" charset="-120"/>
              </a:rPr>
              <a:t>Example format only — scores are to be evaluated, not achieved results.</a:t>
            </a:r>
            <a:endParaRPr lang="en-US" sz="950" dirty="0"/>
          </a:p>
        </p:txBody>
      </p:sp>
      <p:sp>
        <p:nvSpPr>
          <p:cNvPr id="49" name="Shape 47"/>
          <p:cNvSpPr/>
          <p:nvPr/>
        </p:nvSpPr>
        <p:spPr>
          <a:xfrm>
            <a:off x="548640" y="5285232"/>
            <a:ext cx="1755648" cy="621792"/>
          </a:xfrm>
          <a:prstGeom prst="roundRect">
            <a:avLst>
              <a:gd name="adj" fmla="val 8824"/>
            </a:avLst>
          </a:prstGeom>
          <a:solidFill>
            <a:srgbClr val="EEF3F9"/>
          </a:solidFill>
          <a:ln w="12700">
            <a:solidFill>
              <a:srgbClr val="CBD8E6"/>
            </a:solidFill>
            <a:prstDash val="solid"/>
          </a:ln>
        </p:spPr>
      </p:sp>
      <p:sp>
        <p:nvSpPr>
          <p:cNvPr id="50" name="Text 48"/>
          <p:cNvSpPr txBox="1"/>
          <p:nvPr/>
        </p:nvSpPr>
        <p:spPr>
          <a:xfrm>
            <a:off x="594360" y="5285232"/>
            <a:ext cx="1664208" cy="621792"/>
          </a:xfrm>
          <a:prstGeom prst="rect">
            <a:avLst/>
          </a:prstGeom>
          <a:noFill/>
          <a:ln/>
        </p:spPr>
        <p:txBody>
          <a:bodyPr wrap="square" lIns="0" tIns="0" rIns="0" bIns="0" rtlCol="0" anchor="ctr"/>
          <a:lstStyle/>
          <a:p>
            <a:pPr algn="ctr" indent="0" marL="0">
              <a:lnSpc>
                <a:spcPts val="1300"/>
              </a:lnSpc>
              <a:buNone/>
            </a:pPr>
            <a:r>
              <a:rPr lang="en-US" sz="1050" dirty="0">
                <a:solidFill>
                  <a:srgbClr val="13294B"/>
                </a:solidFill>
                <a:latin typeface="Calibri" pitchFamily="34" charset="0"/>
                <a:ea typeface="Calibri" pitchFamily="34" charset="-122"/>
                <a:cs typeface="Calibri" pitchFamily="34" charset="-120"/>
              </a:rPr>
              <a:t>Natural Language</a:t>
            </a:r>
            <a:endParaRPr lang="en-US" sz="1050" dirty="0"/>
          </a:p>
        </p:txBody>
      </p:sp>
      <p:sp>
        <p:nvSpPr>
          <p:cNvPr id="51" name="Shape 49"/>
          <p:cNvSpPr/>
          <p:nvPr/>
        </p:nvSpPr>
        <p:spPr>
          <a:xfrm>
            <a:off x="2318004" y="5596128"/>
            <a:ext cx="91440" cy="0"/>
          </a:xfrm>
          <a:prstGeom prst="line">
            <a:avLst/>
          </a:prstGeom>
          <a:noFill/>
          <a:ln w="15240">
            <a:solidFill>
              <a:srgbClr val="5C7C9E"/>
            </a:solidFill>
            <a:prstDash val="solid"/>
            <a:tailEnd type="triangle"/>
          </a:ln>
        </p:spPr>
      </p:sp>
      <p:sp>
        <p:nvSpPr>
          <p:cNvPr id="52" name="Shape 50"/>
          <p:cNvSpPr/>
          <p:nvPr/>
        </p:nvSpPr>
        <p:spPr>
          <a:xfrm>
            <a:off x="2423160" y="5285232"/>
            <a:ext cx="1755648" cy="621792"/>
          </a:xfrm>
          <a:prstGeom prst="roundRect">
            <a:avLst>
              <a:gd name="adj" fmla="val 8824"/>
            </a:avLst>
          </a:prstGeom>
          <a:solidFill>
            <a:srgbClr val="EEF3F9"/>
          </a:solidFill>
          <a:ln w="12700">
            <a:solidFill>
              <a:srgbClr val="CBD8E6"/>
            </a:solidFill>
            <a:prstDash val="solid"/>
          </a:ln>
        </p:spPr>
      </p:sp>
      <p:sp>
        <p:nvSpPr>
          <p:cNvPr id="53" name="Text 51"/>
          <p:cNvSpPr txBox="1"/>
          <p:nvPr/>
        </p:nvSpPr>
        <p:spPr>
          <a:xfrm>
            <a:off x="2468880" y="5285232"/>
            <a:ext cx="1664208" cy="621792"/>
          </a:xfrm>
          <a:prstGeom prst="rect">
            <a:avLst/>
          </a:prstGeom>
          <a:noFill/>
          <a:ln/>
        </p:spPr>
        <p:txBody>
          <a:bodyPr wrap="square" lIns="0" tIns="0" rIns="0" bIns="0" rtlCol="0" anchor="ctr"/>
          <a:lstStyle/>
          <a:p>
            <a:pPr algn="ctr" indent="0" marL="0">
              <a:lnSpc>
                <a:spcPts val="1300"/>
              </a:lnSpc>
              <a:buNone/>
            </a:pPr>
            <a:r>
              <a:rPr lang="en-US" sz="1050" dirty="0">
                <a:solidFill>
                  <a:srgbClr val="13294B"/>
                </a:solidFill>
                <a:latin typeface="Calibri" pitchFamily="34" charset="0"/>
                <a:ea typeface="Calibri" pitchFamily="34" charset="-122"/>
                <a:cs typeface="Calibri" pitchFamily="34" charset="-120"/>
              </a:rPr>
              <a:t>Spatial Reasoning</a:t>
            </a:r>
            <a:endParaRPr lang="en-US" sz="1050" dirty="0"/>
          </a:p>
        </p:txBody>
      </p:sp>
      <p:sp>
        <p:nvSpPr>
          <p:cNvPr id="54" name="Shape 52"/>
          <p:cNvSpPr/>
          <p:nvPr/>
        </p:nvSpPr>
        <p:spPr>
          <a:xfrm>
            <a:off x="4192524" y="5596128"/>
            <a:ext cx="91440" cy="0"/>
          </a:xfrm>
          <a:prstGeom prst="line">
            <a:avLst/>
          </a:prstGeom>
          <a:noFill/>
          <a:ln w="15240">
            <a:solidFill>
              <a:srgbClr val="5C7C9E"/>
            </a:solidFill>
            <a:prstDash val="solid"/>
            <a:tailEnd type="triangle"/>
          </a:ln>
        </p:spPr>
      </p:sp>
      <p:sp>
        <p:nvSpPr>
          <p:cNvPr id="55" name="Shape 53"/>
          <p:cNvSpPr/>
          <p:nvPr/>
        </p:nvSpPr>
        <p:spPr>
          <a:xfrm>
            <a:off x="4297680" y="5285232"/>
            <a:ext cx="1755648" cy="621792"/>
          </a:xfrm>
          <a:prstGeom prst="roundRect">
            <a:avLst>
              <a:gd name="adj" fmla="val 8824"/>
            </a:avLst>
          </a:prstGeom>
          <a:solidFill>
            <a:srgbClr val="EEF3F9"/>
          </a:solidFill>
          <a:ln w="12700">
            <a:solidFill>
              <a:srgbClr val="CBD8E6"/>
            </a:solidFill>
            <a:prstDash val="solid"/>
          </a:ln>
        </p:spPr>
      </p:sp>
      <p:sp>
        <p:nvSpPr>
          <p:cNvPr id="56" name="Text 54"/>
          <p:cNvSpPr txBox="1"/>
          <p:nvPr/>
        </p:nvSpPr>
        <p:spPr>
          <a:xfrm>
            <a:off x="4343400" y="5285232"/>
            <a:ext cx="1664208" cy="621792"/>
          </a:xfrm>
          <a:prstGeom prst="rect">
            <a:avLst/>
          </a:prstGeom>
          <a:noFill/>
          <a:ln/>
        </p:spPr>
        <p:txBody>
          <a:bodyPr wrap="square" lIns="0" tIns="0" rIns="0" bIns="0" rtlCol="0" anchor="ctr"/>
          <a:lstStyle/>
          <a:p>
            <a:pPr algn="ctr" indent="0" marL="0">
              <a:lnSpc>
                <a:spcPts val="1300"/>
              </a:lnSpc>
              <a:buNone/>
            </a:pPr>
            <a:r>
              <a:rPr lang="en-US" sz="1050" dirty="0">
                <a:solidFill>
                  <a:srgbClr val="13294B"/>
                </a:solidFill>
                <a:latin typeface="Calibri" pitchFamily="34" charset="0"/>
                <a:ea typeface="Calibri" pitchFamily="34" charset="-122"/>
                <a:cs typeface="Calibri" pitchFamily="34" charset="-120"/>
              </a:rPr>
              <a:t>Candidate Plans</a:t>
            </a:r>
            <a:endParaRPr lang="en-US" sz="1050" dirty="0"/>
          </a:p>
        </p:txBody>
      </p:sp>
      <p:sp>
        <p:nvSpPr>
          <p:cNvPr id="57" name="Shape 55"/>
          <p:cNvSpPr/>
          <p:nvPr/>
        </p:nvSpPr>
        <p:spPr>
          <a:xfrm>
            <a:off x="6067044" y="5596128"/>
            <a:ext cx="91440" cy="0"/>
          </a:xfrm>
          <a:prstGeom prst="line">
            <a:avLst/>
          </a:prstGeom>
          <a:noFill/>
          <a:ln w="15240">
            <a:solidFill>
              <a:srgbClr val="5C7C9E"/>
            </a:solidFill>
            <a:prstDash val="solid"/>
            <a:tailEnd type="triangle"/>
          </a:ln>
        </p:spPr>
      </p:sp>
      <p:sp>
        <p:nvSpPr>
          <p:cNvPr id="58" name="Shape 56"/>
          <p:cNvSpPr/>
          <p:nvPr/>
        </p:nvSpPr>
        <p:spPr>
          <a:xfrm>
            <a:off x="6172200" y="5285232"/>
            <a:ext cx="1755648" cy="621792"/>
          </a:xfrm>
          <a:prstGeom prst="roundRect">
            <a:avLst>
              <a:gd name="adj" fmla="val 8824"/>
            </a:avLst>
          </a:prstGeom>
          <a:solidFill>
            <a:srgbClr val="EEF3F9"/>
          </a:solidFill>
          <a:ln w="12700">
            <a:solidFill>
              <a:srgbClr val="CBD8E6"/>
            </a:solidFill>
            <a:prstDash val="solid"/>
          </a:ln>
        </p:spPr>
      </p:sp>
      <p:sp>
        <p:nvSpPr>
          <p:cNvPr id="59" name="Text 57"/>
          <p:cNvSpPr txBox="1"/>
          <p:nvPr/>
        </p:nvSpPr>
        <p:spPr>
          <a:xfrm>
            <a:off x="6217920" y="5285232"/>
            <a:ext cx="1664208" cy="621792"/>
          </a:xfrm>
          <a:prstGeom prst="rect">
            <a:avLst/>
          </a:prstGeom>
          <a:noFill/>
          <a:ln/>
        </p:spPr>
        <p:txBody>
          <a:bodyPr wrap="square" lIns="0" tIns="0" rIns="0" bIns="0" rtlCol="0" anchor="ctr"/>
          <a:lstStyle/>
          <a:p>
            <a:pPr algn="ctr" indent="0" marL="0">
              <a:lnSpc>
                <a:spcPts val="1300"/>
              </a:lnSpc>
              <a:buNone/>
            </a:pPr>
            <a:r>
              <a:rPr lang="en-US" sz="1050" dirty="0">
                <a:solidFill>
                  <a:srgbClr val="13294B"/>
                </a:solidFill>
                <a:latin typeface="Calibri" pitchFamily="34" charset="0"/>
                <a:ea typeface="Calibri" pitchFamily="34" charset="-122"/>
                <a:cs typeface="Calibri" pitchFamily="34" charset="-120"/>
              </a:rPr>
              <a:t>Spatial Evaluation</a:t>
            </a:r>
            <a:endParaRPr lang="en-US" sz="1050" dirty="0"/>
          </a:p>
        </p:txBody>
      </p:sp>
      <p:sp>
        <p:nvSpPr>
          <p:cNvPr id="60" name="Shape 58"/>
          <p:cNvSpPr/>
          <p:nvPr/>
        </p:nvSpPr>
        <p:spPr>
          <a:xfrm>
            <a:off x="7941564" y="5596128"/>
            <a:ext cx="91440" cy="0"/>
          </a:xfrm>
          <a:prstGeom prst="line">
            <a:avLst/>
          </a:prstGeom>
          <a:noFill/>
          <a:ln w="15240">
            <a:solidFill>
              <a:srgbClr val="5C7C9E"/>
            </a:solidFill>
            <a:prstDash val="solid"/>
            <a:tailEnd type="triangle"/>
          </a:ln>
        </p:spPr>
      </p:sp>
      <p:sp>
        <p:nvSpPr>
          <p:cNvPr id="61" name="Shape 59"/>
          <p:cNvSpPr/>
          <p:nvPr/>
        </p:nvSpPr>
        <p:spPr>
          <a:xfrm>
            <a:off x="8046720" y="5285232"/>
            <a:ext cx="1755648" cy="621792"/>
          </a:xfrm>
          <a:prstGeom prst="roundRect">
            <a:avLst>
              <a:gd name="adj" fmla="val 8824"/>
            </a:avLst>
          </a:prstGeom>
          <a:solidFill>
            <a:srgbClr val="EEF3F9"/>
          </a:solidFill>
          <a:ln w="12700">
            <a:solidFill>
              <a:srgbClr val="CBD8E6"/>
            </a:solidFill>
            <a:prstDash val="solid"/>
          </a:ln>
        </p:spPr>
      </p:sp>
      <p:sp>
        <p:nvSpPr>
          <p:cNvPr id="62" name="Text 60"/>
          <p:cNvSpPr txBox="1"/>
          <p:nvPr/>
        </p:nvSpPr>
        <p:spPr>
          <a:xfrm>
            <a:off x="8092440" y="5285232"/>
            <a:ext cx="1664208" cy="621792"/>
          </a:xfrm>
          <a:prstGeom prst="rect">
            <a:avLst/>
          </a:prstGeom>
          <a:noFill/>
          <a:ln/>
        </p:spPr>
        <p:txBody>
          <a:bodyPr wrap="square" lIns="0" tIns="0" rIns="0" bIns="0" rtlCol="0" anchor="ctr"/>
          <a:lstStyle/>
          <a:p>
            <a:pPr algn="ctr" indent="0" marL="0">
              <a:lnSpc>
                <a:spcPts val="1300"/>
              </a:lnSpc>
              <a:buNone/>
            </a:pPr>
            <a:r>
              <a:rPr lang="en-US" sz="1050" dirty="0">
                <a:solidFill>
                  <a:srgbClr val="13294B"/>
                </a:solidFill>
                <a:latin typeface="Calibri" pitchFamily="34" charset="0"/>
                <a:ea typeface="Calibri" pitchFamily="34" charset="-122"/>
                <a:cs typeface="Calibri" pitchFamily="34" charset="-120"/>
              </a:rPr>
              <a:t>Optimization</a:t>
            </a:r>
            <a:endParaRPr lang="en-US" sz="1050" dirty="0"/>
          </a:p>
        </p:txBody>
      </p:sp>
      <p:sp>
        <p:nvSpPr>
          <p:cNvPr id="63" name="Shape 61"/>
          <p:cNvSpPr/>
          <p:nvPr/>
        </p:nvSpPr>
        <p:spPr>
          <a:xfrm>
            <a:off x="9816084" y="5596128"/>
            <a:ext cx="91440" cy="0"/>
          </a:xfrm>
          <a:prstGeom prst="line">
            <a:avLst/>
          </a:prstGeom>
          <a:noFill/>
          <a:ln w="15240">
            <a:solidFill>
              <a:srgbClr val="5C7C9E"/>
            </a:solidFill>
            <a:prstDash val="solid"/>
            <a:tailEnd type="triangle"/>
          </a:ln>
        </p:spPr>
      </p:sp>
      <p:sp>
        <p:nvSpPr>
          <p:cNvPr id="64" name="Shape 62"/>
          <p:cNvSpPr/>
          <p:nvPr/>
        </p:nvSpPr>
        <p:spPr>
          <a:xfrm>
            <a:off x="9921240" y="5285232"/>
            <a:ext cx="1755648" cy="621792"/>
          </a:xfrm>
          <a:prstGeom prst="roundRect">
            <a:avLst>
              <a:gd name="adj" fmla="val 8824"/>
            </a:avLst>
          </a:prstGeom>
          <a:solidFill>
            <a:srgbClr val="13294B"/>
          </a:solidFill>
          <a:ln w="12700">
            <a:solidFill>
              <a:srgbClr val="13294B"/>
            </a:solidFill>
            <a:prstDash val="solid"/>
          </a:ln>
        </p:spPr>
      </p:sp>
      <p:sp>
        <p:nvSpPr>
          <p:cNvPr id="65" name="Text 63"/>
          <p:cNvSpPr txBox="1"/>
          <p:nvPr/>
        </p:nvSpPr>
        <p:spPr>
          <a:xfrm>
            <a:off x="9966960" y="5285232"/>
            <a:ext cx="1664208" cy="621792"/>
          </a:xfrm>
          <a:prstGeom prst="rect">
            <a:avLst/>
          </a:prstGeom>
          <a:noFill/>
          <a:ln/>
        </p:spPr>
        <p:txBody>
          <a:bodyPr wrap="square" lIns="0" tIns="0" rIns="0" bIns="0" rtlCol="0" anchor="ctr"/>
          <a:lstStyle/>
          <a:p>
            <a:pPr algn="ctr" indent="0" marL="0">
              <a:lnSpc>
                <a:spcPts val="1300"/>
              </a:lnSpc>
              <a:buNone/>
            </a:pPr>
            <a:r>
              <a:rPr lang="en-US" sz="1050" b="1" dirty="0">
                <a:solidFill>
                  <a:srgbClr val="FFFFFF"/>
                </a:solidFill>
                <a:latin typeface="Calibri" pitchFamily="34" charset="0"/>
                <a:ea typeface="Calibri" pitchFamily="34" charset="-122"/>
                <a:cs typeface="Calibri" pitchFamily="34" charset="-120"/>
              </a:rPr>
              <a:t>OPTIMIZED PLAN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327648"/>
            <a:ext cx="457200" cy="274320"/>
          </a:xfrm>
          <a:prstGeom prst="rect">
            <a:avLst/>
          </a:prstGeom>
          <a:noFill/>
          <a:ln/>
        </p:spPr>
        <p:txBody>
          <a:bodyPr wrap="square" lIns="0" tIns="0" rIns="0" bIns="0" rtlCol="0" anchor="ctr"/>
          <a:lstStyle/>
          <a:p>
            <a:pPr algn="r" indent="0" marL="0">
              <a:buNone/>
            </a:pPr>
            <a:r>
              <a:rPr lang="en-US" sz="900" dirty="0">
                <a:solidFill>
                  <a:srgbClr val="5C7C9E"/>
                </a:solidFill>
                <a:latin typeface="Calibri" pitchFamily="34" charset="0"/>
                <a:ea typeface="Calibri" pitchFamily="34" charset="-122"/>
                <a:cs typeface="Calibri" pitchFamily="34" charset="-120"/>
              </a:rPr>
              <a:t>10</a:t>
            </a:r>
            <a:endParaRPr lang="en-US" sz="900" dirty="0"/>
          </a:p>
        </p:txBody>
      </p:sp>
      <p:sp>
        <p:nvSpPr>
          <p:cNvPr id="3" name="Text 1"/>
          <p:cNvSpPr txBox="1"/>
          <p:nvPr/>
        </p:nvSpPr>
        <p:spPr>
          <a:xfrm>
            <a:off x="548640" y="310896"/>
            <a:ext cx="11064240" cy="502920"/>
          </a:xfrm>
          <a:prstGeom prst="rect">
            <a:avLst/>
          </a:prstGeom>
          <a:noFill/>
          <a:ln/>
        </p:spPr>
        <p:txBody>
          <a:bodyPr wrap="square" lIns="0" tIns="0" rIns="0" bIns="0" rtlCol="0" anchor="ctr"/>
          <a:lstStyle/>
          <a:p>
            <a:pPr indent="0" marL="0">
              <a:buNone/>
            </a:pPr>
            <a:r>
              <a:rPr lang="en-US" sz="2900" b="1" dirty="0">
                <a:solidFill>
                  <a:srgbClr val="13294B"/>
                </a:solidFill>
                <a:latin typeface="Cambria" pitchFamily="34" charset="0"/>
                <a:ea typeface="Cambria" pitchFamily="34" charset="-122"/>
                <a:cs typeface="Cambria" pitchFamily="34" charset="-120"/>
              </a:rPr>
              <a:t>Existing vs Proposed</a:t>
            </a:r>
            <a:endParaRPr lang="en-US" sz="2900" dirty="0"/>
          </a:p>
        </p:txBody>
      </p:sp>
      <p:sp>
        <p:nvSpPr>
          <p:cNvPr id="4" name="Text 2"/>
          <p:cNvSpPr txBox="1"/>
          <p:nvPr/>
        </p:nvSpPr>
        <p:spPr>
          <a:xfrm>
            <a:off x="548640" y="841248"/>
            <a:ext cx="1106424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Scope of the base paper compared with the proposed framework</a:t>
            </a:r>
            <a:endParaRPr lang="en-US" sz="1200" dirty="0"/>
          </a:p>
        </p:txBody>
      </p:sp>
      <p:sp>
        <p:nvSpPr>
          <p:cNvPr id="5" name="Shape 3"/>
          <p:cNvSpPr/>
          <p:nvPr/>
        </p:nvSpPr>
        <p:spPr>
          <a:xfrm>
            <a:off x="548640" y="1280160"/>
            <a:ext cx="5440680" cy="530352"/>
          </a:xfrm>
          <a:prstGeom prst="roundRect">
            <a:avLst>
              <a:gd name="adj" fmla="val 10345"/>
            </a:avLst>
          </a:prstGeom>
          <a:solidFill>
            <a:srgbClr val="5C7C9E"/>
          </a:solidFill>
          <a:ln w="12700">
            <a:solidFill>
              <a:srgbClr val="5C7C9E"/>
            </a:solidFill>
            <a:prstDash val="solid"/>
          </a:ln>
        </p:spPr>
      </p:sp>
      <p:sp>
        <p:nvSpPr>
          <p:cNvPr id="6" name="Text 4"/>
          <p:cNvSpPr txBox="1"/>
          <p:nvPr/>
        </p:nvSpPr>
        <p:spPr>
          <a:xfrm>
            <a:off x="548640" y="1280160"/>
            <a:ext cx="5440680" cy="530352"/>
          </a:xfrm>
          <a:prstGeom prst="rect">
            <a:avLst/>
          </a:prstGeom>
          <a:noFill/>
          <a:ln/>
        </p:spPr>
        <p:txBody>
          <a:bodyPr wrap="square" lIns="0" tIns="0" rIns="0" bIns="0" rtlCol="0" anchor="ctr"/>
          <a:lstStyle/>
          <a:p>
            <a:pPr algn="ctr" indent="0" marL="0">
              <a:buNone/>
            </a:pPr>
            <a:r>
              <a:rPr lang="en-US" sz="1250" b="1" spc="120" kern="0" dirty="0">
                <a:solidFill>
                  <a:srgbClr val="FFFFFF"/>
                </a:solidFill>
                <a:latin typeface="Calibri" pitchFamily="34" charset="0"/>
                <a:ea typeface="Calibri" pitchFamily="34" charset="-122"/>
                <a:cs typeface="Calibri" pitchFamily="34" charset="-120"/>
              </a:rPr>
              <a:t>EXISTING BASE PAPER</a:t>
            </a:r>
            <a:endParaRPr lang="en-US" sz="1250" dirty="0"/>
          </a:p>
        </p:txBody>
      </p:sp>
      <p:sp>
        <p:nvSpPr>
          <p:cNvPr id="7" name="Shape 5"/>
          <p:cNvSpPr/>
          <p:nvPr/>
        </p:nvSpPr>
        <p:spPr>
          <a:xfrm>
            <a:off x="6190488" y="1280160"/>
            <a:ext cx="5440680" cy="530352"/>
          </a:xfrm>
          <a:prstGeom prst="roundRect">
            <a:avLst>
              <a:gd name="adj" fmla="val 10345"/>
            </a:avLst>
          </a:prstGeom>
          <a:solidFill>
            <a:srgbClr val="13294B"/>
          </a:solidFill>
          <a:ln w="12700">
            <a:solidFill>
              <a:srgbClr val="13294B"/>
            </a:solidFill>
            <a:prstDash val="solid"/>
          </a:ln>
        </p:spPr>
      </p:sp>
      <p:sp>
        <p:nvSpPr>
          <p:cNvPr id="8" name="Text 6"/>
          <p:cNvSpPr txBox="1"/>
          <p:nvPr/>
        </p:nvSpPr>
        <p:spPr>
          <a:xfrm>
            <a:off x="6190488" y="1280160"/>
            <a:ext cx="5440680" cy="530352"/>
          </a:xfrm>
          <a:prstGeom prst="rect">
            <a:avLst/>
          </a:prstGeom>
          <a:noFill/>
          <a:ln/>
        </p:spPr>
        <p:txBody>
          <a:bodyPr wrap="square" lIns="0" tIns="0" rIns="0" bIns="0" rtlCol="0" anchor="ctr"/>
          <a:lstStyle/>
          <a:p>
            <a:pPr algn="ctr" indent="0" marL="0">
              <a:buNone/>
            </a:pPr>
            <a:r>
              <a:rPr lang="en-US" sz="1250" b="1" spc="120" kern="0" dirty="0">
                <a:solidFill>
                  <a:srgbClr val="FFFFFF"/>
                </a:solidFill>
                <a:latin typeface="Calibri" pitchFamily="34" charset="0"/>
                <a:ea typeface="Calibri" pitchFamily="34" charset="-122"/>
                <a:cs typeface="Calibri" pitchFamily="34" charset="-120"/>
              </a:rPr>
              <a:t>PROPOSED FRAMEWORK</a:t>
            </a:r>
            <a:endParaRPr lang="en-US" sz="1250" dirty="0"/>
          </a:p>
        </p:txBody>
      </p:sp>
      <p:sp>
        <p:nvSpPr>
          <p:cNvPr id="9" name="Shape 7"/>
          <p:cNvSpPr/>
          <p:nvPr/>
        </p:nvSpPr>
        <p:spPr>
          <a:xfrm>
            <a:off x="548640" y="1975104"/>
            <a:ext cx="5440680" cy="475488"/>
          </a:xfrm>
          <a:prstGeom prst="roundRect">
            <a:avLst>
              <a:gd name="adj" fmla="val 11538"/>
            </a:avLst>
          </a:prstGeom>
          <a:solidFill>
            <a:srgbClr val="F5F7FA"/>
          </a:solidFill>
          <a:ln w="12700">
            <a:solidFill>
              <a:srgbClr val="CBD8E6"/>
            </a:solidFill>
            <a:prstDash val="solid"/>
          </a:ln>
        </p:spPr>
      </p:sp>
      <p:sp>
        <p:nvSpPr>
          <p:cNvPr id="10" name="Text 8"/>
          <p:cNvSpPr txBox="1"/>
          <p:nvPr/>
        </p:nvSpPr>
        <p:spPr>
          <a:xfrm>
            <a:off x="822960" y="1975104"/>
            <a:ext cx="4937760" cy="475488"/>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Floor-plan synthesis</a:t>
            </a:r>
            <a:endParaRPr lang="en-US" sz="1150" dirty="0"/>
          </a:p>
        </p:txBody>
      </p:sp>
      <p:sp>
        <p:nvSpPr>
          <p:cNvPr id="11" name="Shape 9"/>
          <p:cNvSpPr/>
          <p:nvPr/>
        </p:nvSpPr>
        <p:spPr>
          <a:xfrm>
            <a:off x="6035040" y="2212848"/>
            <a:ext cx="109728" cy="0"/>
          </a:xfrm>
          <a:prstGeom prst="line">
            <a:avLst/>
          </a:prstGeom>
          <a:noFill/>
          <a:ln w="15240">
            <a:solidFill>
              <a:srgbClr val="C05621"/>
            </a:solidFill>
            <a:prstDash val="solid"/>
            <a:tailEnd type="triangle"/>
          </a:ln>
        </p:spPr>
      </p:sp>
      <p:sp>
        <p:nvSpPr>
          <p:cNvPr id="12" name="Shape 10"/>
          <p:cNvSpPr/>
          <p:nvPr/>
        </p:nvSpPr>
        <p:spPr>
          <a:xfrm>
            <a:off x="6190488" y="1975104"/>
            <a:ext cx="5440680" cy="475488"/>
          </a:xfrm>
          <a:prstGeom prst="roundRect">
            <a:avLst>
              <a:gd name="adj" fmla="val 11538"/>
            </a:avLst>
          </a:prstGeom>
          <a:solidFill>
            <a:srgbClr val="FCEDE2"/>
          </a:solidFill>
          <a:ln w="12700">
            <a:solidFill>
              <a:srgbClr val="E9C3A6"/>
            </a:solidFill>
            <a:prstDash val="solid"/>
          </a:ln>
        </p:spPr>
      </p:sp>
      <p:sp>
        <p:nvSpPr>
          <p:cNvPr id="13" name="Text 11"/>
          <p:cNvSpPr txBox="1"/>
          <p:nvPr/>
        </p:nvSpPr>
        <p:spPr>
          <a:xfrm>
            <a:off x="6464808" y="1975104"/>
            <a:ext cx="4937760" cy="475488"/>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Requirement-driven space planning</a:t>
            </a:r>
            <a:endParaRPr lang="en-US" sz="1150" dirty="0"/>
          </a:p>
        </p:txBody>
      </p:sp>
      <p:sp>
        <p:nvSpPr>
          <p:cNvPr id="14" name="Shape 12"/>
          <p:cNvSpPr/>
          <p:nvPr/>
        </p:nvSpPr>
        <p:spPr>
          <a:xfrm>
            <a:off x="548640" y="2542032"/>
            <a:ext cx="5440680" cy="475488"/>
          </a:xfrm>
          <a:prstGeom prst="roundRect">
            <a:avLst>
              <a:gd name="adj" fmla="val 11538"/>
            </a:avLst>
          </a:prstGeom>
          <a:solidFill>
            <a:srgbClr val="F5F7FA"/>
          </a:solidFill>
          <a:ln w="12700">
            <a:solidFill>
              <a:srgbClr val="CBD8E6"/>
            </a:solidFill>
            <a:prstDash val="solid"/>
          </a:ln>
        </p:spPr>
      </p:sp>
      <p:sp>
        <p:nvSpPr>
          <p:cNvPr id="15" name="Text 13"/>
          <p:cNvSpPr txBox="1"/>
          <p:nvPr/>
        </p:nvSpPr>
        <p:spPr>
          <a:xfrm>
            <a:off x="822960" y="2542032"/>
            <a:ext cx="4937760" cy="475488"/>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Single generative model</a:t>
            </a:r>
            <a:endParaRPr lang="en-US" sz="1150" dirty="0"/>
          </a:p>
        </p:txBody>
      </p:sp>
      <p:sp>
        <p:nvSpPr>
          <p:cNvPr id="16" name="Shape 14"/>
          <p:cNvSpPr/>
          <p:nvPr/>
        </p:nvSpPr>
        <p:spPr>
          <a:xfrm>
            <a:off x="6035040" y="2779776"/>
            <a:ext cx="109728" cy="0"/>
          </a:xfrm>
          <a:prstGeom prst="line">
            <a:avLst/>
          </a:prstGeom>
          <a:noFill/>
          <a:ln w="15240">
            <a:solidFill>
              <a:srgbClr val="C05621"/>
            </a:solidFill>
            <a:prstDash val="solid"/>
            <a:tailEnd type="triangle"/>
          </a:ln>
        </p:spPr>
      </p:sp>
      <p:sp>
        <p:nvSpPr>
          <p:cNvPr id="17" name="Shape 15"/>
          <p:cNvSpPr/>
          <p:nvPr/>
        </p:nvSpPr>
        <p:spPr>
          <a:xfrm>
            <a:off x="6190488" y="2542032"/>
            <a:ext cx="5440680" cy="475488"/>
          </a:xfrm>
          <a:prstGeom prst="roundRect">
            <a:avLst>
              <a:gd name="adj" fmla="val 11538"/>
            </a:avLst>
          </a:prstGeom>
          <a:solidFill>
            <a:srgbClr val="FCEDE2"/>
          </a:solidFill>
          <a:ln w="12700">
            <a:solidFill>
              <a:srgbClr val="E9C3A6"/>
            </a:solidFill>
            <a:prstDash val="solid"/>
          </a:ln>
        </p:spPr>
      </p:sp>
      <p:sp>
        <p:nvSpPr>
          <p:cNvPr id="18" name="Text 16"/>
          <p:cNvSpPr txBox="1"/>
          <p:nvPr/>
        </p:nvSpPr>
        <p:spPr>
          <a:xfrm>
            <a:off x="6464808" y="2542032"/>
            <a:ext cx="4937760" cy="475488"/>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Multiple specialized agents / models</a:t>
            </a:r>
            <a:endParaRPr lang="en-US" sz="1150" dirty="0"/>
          </a:p>
        </p:txBody>
      </p:sp>
      <p:sp>
        <p:nvSpPr>
          <p:cNvPr id="19" name="Shape 17"/>
          <p:cNvSpPr/>
          <p:nvPr/>
        </p:nvSpPr>
        <p:spPr>
          <a:xfrm>
            <a:off x="548640" y="3108960"/>
            <a:ext cx="5440680" cy="475488"/>
          </a:xfrm>
          <a:prstGeom prst="roundRect">
            <a:avLst>
              <a:gd name="adj" fmla="val 11538"/>
            </a:avLst>
          </a:prstGeom>
          <a:solidFill>
            <a:srgbClr val="F5F7FA"/>
          </a:solidFill>
          <a:ln w="12700">
            <a:solidFill>
              <a:srgbClr val="CBD8E6"/>
            </a:solidFill>
            <a:prstDash val="solid"/>
          </a:ln>
        </p:spPr>
      </p:sp>
      <p:sp>
        <p:nvSpPr>
          <p:cNvPr id="20" name="Text 18"/>
          <p:cNvSpPr txBox="1"/>
          <p:nvPr/>
        </p:nvSpPr>
        <p:spPr>
          <a:xfrm>
            <a:off x="822960" y="3108960"/>
            <a:ext cx="4937760" cy="475488"/>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Mainly generation-focused</a:t>
            </a:r>
            <a:endParaRPr lang="en-US" sz="1150" dirty="0"/>
          </a:p>
        </p:txBody>
      </p:sp>
      <p:sp>
        <p:nvSpPr>
          <p:cNvPr id="21" name="Shape 19"/>
          <p:cNvSpPr/>
          <p:nvPr/>
        </p:nvSpPr>
        <p:spPr>
          <a:xfrm>
            <a:off x="6035040" y="3346704"/>
            <a:ext cx="109728" cy="0"/>
          </a:xfrm>
          <a:prstGeom prst="line">
            <a:avLst/>
          </a:prstGeom>
          <a:noFill/>
          <a:ln w="15240">
            <a:solidFill>
              <a:srgbClr val="C05621"/>
            </a:solidFill>
            <a:prstDash val="solid"/>
            <a:tailEnd type="triangle"/>
          </a:ln>
        </p:spPr>
      </p:sp>
      <p:sp>
        <p:nvSpPr>
          <p:cNvPr id="22" name="Shape 20"/>
          <p:cNvSpPr/>
          <p:nvPr/>
        </p:nvSpPr>
        <p:spPr>
          <a:xfrm>
            <a:off x="6190488" y="3108960"/>
            <a:ext cx="5440680" cy="475488"/>
          </a:xfrm>
          <a:prstGeom prst="roundRect">
            <a:avLst>
              <a:gd name="adj" fmla="val 11538"/>
            </a:avLst>
          </a:prstGeom>
          <a:solidFill>
            <a:srgbClr val="FCEDE2"/>
          </a:solidFill>
          <a:ln w="12700">
            <a:solidFill>
              <a:srgbClr val="E9C3A6"/>
            </a:solidFill>
            <a:prstDash val="solid"/>
          </a:ln>
        </p:spPr>
      </p:sp>
      <p:sp>
        <p:nvSpPr>
          <p:cNvPr id="23" name="Text 21"/>
          <p:cNvSpPr txBox="1"/>
          <p:nvPr/>
        </p:nvSpPr>
        <p:spPr>
          <a:xfrm>
            <a:off x="6464808" y="3108960"/>
            <a:ext cx="4937760" cy="475488"/>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Generation + evaluation + optimization</a:t>
            </a:r>
            <a:endParaRPr lang="en-US" sz="1150" dirty="0"/>
          </a:p>
        </p:txBody>
      </p:sp>
      <p:sp>
        <p:nvSpPr>
          <p:cNvPr id="24" name="Shape 22"/>
          <p:cNvSpPr/>
          <p:nvPr/>
        </p:nvSpPr>
        <p:spPr>
          <a:xfrm>
            <a:off x="548640" y="3675888"/>
            <a:ext cx="5440680" cy="475488"/>
          </a:xfrm>
          <a:prstGeom prst="roundRect">
            <a:avLst>
              <a:gd name="adj" fmla="val 11538"/>
            </a:avLst>
          </a:prstGeom>
          <a:solidFill>
            <a:srgbClr val="F5F7FA"/>
          </a:solidFill>
          <a:ln w="12700">
            <a:solidFill>
              <a:srgbClr val="CBD8E6"/>
            </a:solidFill>
            <a:prstDash val="solid"/>
          </a:ln>
        </p:spPr>
      </p:sp>
      <p:sp>
        <p:nvSpPr>
          <p:cNvPr id="25" name="Text 23"/>
          <p:cNvSpPr txBox="1"/>
          <p:nvPr/>
        </p:nvSpPr>
        <p:spPr>
          <a:xfrm>
            <a:off x="822960" y="3675888"/>
            <a:ext cx="4937760" cy="475488"/>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Floor-plan data as training basis</a:t>
            </a:r>
            <a:endParaRPr lang="en-US" sz="1150" dirty="0"/>
          </a:p>
        </p:txBody>
      </p:sp>
      <p:sp>
        <p:nvSpPr>
          <p:cNvPr id="26" name="Shape 24"/>
          <p:cNvSpPr/>
          <p:nvPr/>
        </p:nvSpPr>
        <p:spPr>
          <a:xfrm>
            <a:off x="6035040" y="3913632"/>
            <a:ext cx="109728" cy="0"/>
          </a:xfrm>
          <a:prstGeom prst="line">
            <a:avLst/>
          </a:prstGeom>
          <a:noFill/>
          <a:ln w="15240">
            <a:solidFill>
              <a:srgbClr val="C05621"/>
            </a:solidFill>
            <a:prstDash val="solid"/>
            <a:tailEnd type="triangle"/>
          </a:ln>
        </p:spPr>
      </p:sp>
      <p:sp>
        <p:nvSpPr>
          <p:cNvPr id="27" name="Shape 25"/>
          <p:cNvSpPr/>
          <p:nvPr/>
        </p:nvSpPr>
        <p:spPr>
          <a:xfrm>
            <a:off x="6190488" y="3675888"/>
            <a:ext cx="5440680" cy="475488"/>
          </a:xfrm>
          <a:prstGeom prst="roundRect">
            <a:avLst>
              <a:gd name="adj" fmla="val 11538"/>
            </a:avLst>
          </a:prstGeom>
          <a:solidFill>
            <a:srgbClr val="FCEDE2"/>
          </a:solidFill>
          <a:ln w="12700">
            <a:solidFill>
              <a:srgbClr val="E9C3A6"/>
            </a:solidFill>
            <a:prstDash val="solid"/>
          </a:ln>
        </p:spPr>
      </p:sp>
      <p:sp>
        <p:nvSpPr>
          <p:cNvPr id="28" name="Text 26"/>
          <p:cNvSpPr txBox="1"/>
          <p:nvPr/>
        </p:nvSpPr>
        <p:spPr>
          <a:xfrm>
            <a:off x="6464808" y="3675888"/>
            <a:ext cx="4937760" cy="475488"/>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Natural-language requirements as input</a:t>
            </a:r>
            <a:endParaRPr lang="en-US" sz="1150" dirty="0"/>
          </a:p>
        </p:txBody>
      </p:sp>
      <p:sp>
        <p:nvSpPr>
          <p:cNvPr id="29" name="Shape 27"/>
          <p:cNvSpPr/>
          <p:nvPr/>
        </p:nvSpPr>
        <p:spPr>
          <a:xfrm>
            <a:off x="548640" y="4242816"/>
            <a:ext cx="5440680" cy="475488"/>
          </a:xfrm>
          <a:prstGeom prst="roundRect">
            <a:avLst>
              <a:gd name="adj" fmla="val 11538"/>
            </a:avLst>
          </a:prstGeom>
          <a:solidFill>
            <a:srgbClr val="F5F7FA"/>
          </a:solidFill>
          <a:ln w="12700">
            <a:solidFill>
              <a:srgbClr val="CBD8E6"/>
            </a:solidFill>
            <a:prstDash val="solid"/>
          </a:ln>
        </p:spPr>
      </p:sp>
      <p:sp>
        <p:nvSpPr>
          <p:cNvPr id="30" name="Text 28"/>
          <p:cNvSpPr txBox="1"/>
          <p:nvPr/>
        </p:nvSpPr>
        <p:spPr>
          <a:xfrm>
            <a:off x="822960" y="4242816"/>
            <a:ext cx="4937760" cy="475488"/>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Generates diverse layouts</a:t>
            </a:r>
            <a:endParaRPr lang="en-US" sz="1150" dirty="0"/>
          </a:p>
        </p:txBody>
      </p:sp>
      <p:sp>
        <p:nvSpPr>
          <p:cNvPr id="31" name="Shape 29"/>
          <p:cNvSpPr/>
          <p:nvPr/>
        </p:nvSpPr>
        <p:spPr>
          <a:xfrm>
            <a:off x="6035040" y="4480560"/>
            <a:ext cx="109728" cy="0"/>
          </a:xfrm>
          <a:prstGeom prst="line">
            <a:avLst/>
          </a:prstGeom>
          <a:noFill/>
          <a:ln w="15240">
            <a:solidFill>
              <a:srgbClr val="C05621"/>
            </a:solidFill>
            <a:prstDash val="solid"/>
            <a:tailEnd type="triangle"/>
          </a:ln>
        </p:spPr>
      </p:sp>
      <p:sp>
        <p:nvSpPr>
          <p:cNvPr id="32" name="Shape 30"/>
          <p:cNvSpPr/>
          <p:nvPr/>
        </p:nvSpPr>
        <p:spPr>
          <a:xfrm>
            <a:off x="6190488" y="4242816"/>
            <a:ext cx="5440680" cy="475488"/>
          </a:xfrm>
          <a:prstGeom prst="roundRect">
            <a:avLst>
              <a:gd name="adj" fmla="val 11538"/>
            </a:avLst>
          </a:prstGeom>
          <a:solidFill>
            <a:srgbClr val="FCEDE2"/>
          </a:solidFill>
          <a:ln w="12700">
            <a:solidFill>
              <a:srgbClr val="E9C3A6"/>
            </a:solidFill>
            <a:prstDash val="solid"/>
          </a:ln>
        </p:spPr>
      </p:sp>
      <p:sp>
        <p:nvSpPr>
          <p:cNvPr id="33" name="Text 31"/>
          <p:cNvSpPr txBox="1"/>
          <p:nvPr/>
        </p:nvSpPr>
        <p:spPr>
          <a:xfrm>
            <a:off x="6464808" y="4242816"/>
            <a:ext cx="4937760" cy="475488"/>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Generates and iteratively improves layouts</a:t>
            </a:r>
            <a:endParaRPr lang="en-US" sz="1150" dirty="0"/>
          </a:p>
        </p:txBody>
      </p:sp>
      <p:sp>
        <p:nvSpPr>
          <p:cNvPr id="34" name="Shape 32"/>
          <p:cNvSpPr/>
          <p:nvPr/>
        </p:nvSpPr>
        <p:spPr>
          <a:xfrm>
            <a:off x="548640" y="4809744"/>
            <a:ext cx="5440680" cy="475488"/>
          </a:xfrm>
          <a:prstGeom prst="roundRect">
            <a:avLst>
              <a:gd name="adj" fmla="val 11538"/>
            </a:avLst>
          </a:prstGeom>
          <a:solidFill>
            <a:srgbClr val="F5F7FA"/>
          </a:solidFill>
          <a:ln w="12700">
            <a:solidFill>
              <a:srgbClr val="CBD8E6"/>
            </a:solidFill>
            <a:prstDash val="solid"/>
          </a:ln>
        </p:spPr>
      </p:sp>
      <p:sp>
        <p:nvSpPr>
          <p:cNvPr id="35" name="Text 33"/>
          <p:cNvSpPr txBox="1"/>
          <p:nvPr/>
        </p:nvSpPr>
        <p:spPr>
          <a:xfrm>
            <a:off x="822960" y="4809744"/>
            <a:ext cx="4937760" cy="475488"/>
          </a:xfrm>
          <a:prstGeom prst="rect">
            <a:avLst/>
          </a:prstGeom>
          <a:noFill/>
          <a:ln/>
        </p:spPr>
        <p:txBody>
          <a:bodyPr wrap="square" lIns="0" tIns="0" rIns="0" bIns="0" rtlCol="0" anchor="ctr"/>
          <a:lstStyle/>
          <a:p>
            <a:pPr indent="0" marL="0">
              <a:buNone/>
            </a:pPr>
            <a:r>
              <a:rPr lang="en-US" sz="1150" dirty="0">
                <a:solidFill>
                  <a:srgbClr val="1B2430"/>
                </a:solidFill>
                <a:latin typeface="Calibri" pitchFamily="34" charset="0"/>
                <a:ea typeface="Calibri" pitchFamily="34" charset="-122"/>
                <a:cs typeface="Calibri" pitchFamily="34" charset="-120"/>
              </a:rPr>
              <a:t>Focus on diversity and sampling efficiency</a:t>
            </a:r>
            <a:endParaRPr lang="en-US" sz="1150" dirty="0"/>
          </a:p>
        </p:txBody>
      </p:sp>
      <p:sp>
        <p:nvSpPr>
          <p:cNvPr id="36" name="Shape 34"/>
          <p:cNvSpPr/>
          <p:nvPr/>
        </p:nvSpPr>
        <p:spPr>
          <a:xfrm>
            <a:off x="6035040" y="5047488"/>
            <a:ext cx="109728" cy="0"/>
          </a:xfrm>
          <a:prstGeom prst="line">
            <a:avLst/>
          </a:prstGeom>
          <a:noFill/>
          <a:ln w="15240">
            <a:solidFill>
              <a:srgbClr val="C05621"/>
            </a:solidFill>
            <a:prstDash val="solid"/>
            <a:tailEnd type="triangle"/>
          </a:ln>
        </p:spPr>
      </p:sp>
      <p:sp>
        <p:nvSpPr>
          <p:cNvPr id="37" name="Shape 35"/>
          <p:cNvSpPr/>
          <p:nvPr/>
        </p:nvSpPr>
        <p:spPr>
          <a:xfrm>
            <a:off x="6190488" y="4809744"/>
            <a:ext cx="5440680" cy="475488"/>
          </a:xfrm>
          <a:prstGeom prst="roundRect">
            <a:avLst>
              <a:gd name="adj" fmla="val 11538"/>
            </a:avLst>
          </a:prstGeom>
          <a:solidFill>
            <a:srgbClr val="FCEDE2"/>
          </a:solidFill>
          <a:ln w="12700">
            <a:solidFill>
              <a:srgbClr val="E9C3A6"/>
            </a:solidFill>
            <a:prstDash val="solid"/>
          </a:ln>
        </p:spPr>
      </p:sp>
      <p:sp>
        <p:nvSpPr>
          <p:cNvPr id="38" name="Text 36"/>
          <p:cNvSpPr txBox="1"/>
          <p:nvPr/>
        </p:nvSpPr>
        <p:spPr>
          <a:xfrm>
            <a:off x="6464808" y="4809744"/>
            <a:ext cx="4937760" cy="475488"/>
          </a:xfrm>
          <a:prstGeom prst="rect">
            <a:avLst/>
          </a:prstGeom>
          <a:noFill/>
          <a:ln/>
        </p:spPr>
        <p:txBody>
          <a:bodyPr wrap="square" lIns="0" tIns="0" rIns="0" bIns="0" rtlCol="0" anchor="ctr"/>
          <a:lstStyle/>
          <a:p>
            <a:pPr indent="0" marL="0">
              <a:buNone/>
            </a:pPr>
            <a:r>
              <a:rPr lang="en-US" sz="1150" b="1" dirty="0">
                <a:solidFill>
                  <a:srgbClr val="13294B"/>
                </a:solidFill>
                <a:latin typeface="Calibri" pitchFamily="34" charset="0"/>
                <a:ea typeface="Calibri" pitchFamily="34" charset="-122"/>
                <a:cs typeface="Calibri" pitchFamily="34" charset="-120"/>
              </a:rPr>
              <a:t>Focus on spatial constraints and layout quality</a:t>
            </a:r>
            <a:endParaRPr lang="en-US" sz="1150" dirty="0"/>
          </a:p>
        </p:txBody>
      </p:sp>
      <p:sp>
        <p:nvSpPr>
          <p:cNvPr id="39" name="Shape 37"/>
          <p:cNvSpPr/>
          <p:nvPr/>
        </p:nvSpPr>
        <p:spPr>
          <a:xfrm>
            <a:off x="548640" y="5541264"/>
            <a:ext cx="11082528" cy="749808"/>
          </a:xfrm>
          <a:prstGeom prst="roundRect">
            <a:avLst>
              <a:gd name="adj" fmla="val 7317"/>
            </a:avLst>
          </a:prstGeom>
          <a:solidFill>
            <a:srgbClr val="13294B"/>
          </a:solidFill>
          <a:ln w="12700">
            <a:solidFill>
              <a:srgbClr val="13294B"/>
            </a:solidFill>
            <a:prstDash val="solid"/>
          </a:ln>
        </p:spPr>
      </p:sp>
      <p:sp>
        <p:nvSpPr>
          <p:cNvPr id="40" name="Text 38"/>
          <p:cNvSpPr txBox="1"/>
          <p:nvPr/>
        </p:nvSpPr>
        <p:spPr>
          <a:xfrm>
            <a:off x="868680" y="5541264"/>
            <a:ext cx="10515600" cy="749808"/>
          </a:xfrm>
          <a:prstGeom prst="rect">
            <a:avLst/>
          </a:prstGeom>
          <a:noFill/>
          <a:ln/>
        </p:spPr>
        <p:txBody>
          <a:bodyPr wrap="square" lIns="0" tIns="0" rIns="0" bIns="0" rtlCol="0" anchor="ctr"/>
          <a:lstStyle/>
          <a:p>
            <a:pPr indent="0" marL="0">
              <a:buNone/>
            </a:pPr>
            <a:r>
              <a:rPr lang="en-US" sz="1000" b="1" spc="120" kern="0" dirty="0">
                <a:solidFill>
                  <a:srgbClr val="9FB8D6"/>
                </a:solidFill>
                <a:latin typeface="Calibri" pitchFamily="34" charset="0"/>
                <a:ea typeface="Calibri" pitchFamily="34" charset="-122"/>
                <a:cs typeface="Calibri" pitchFamily="34" charset="-120"/>
              </a:rPr>
              <a:t>OUR CORE CONTRIBUTION   </a:t>
            </a:r>
            <a:pPr indent="0" marL="0">
              <a:buNone/>
            </a:pPr>
            <a:r>
              <a:rPr lang="en-US" sz="1400" b="1" dirty="0">
                <a:solidFill>
                  <a:srgbClr val="FFFFFF"/>
                </a:solidFill>
                <a:latin typeface="Cambria" pitchFamily="34" charset="0"/>
                <a:ea typeface="Cambria" pitchFamily="34" charset="-122"/>
                <a:cs typeface="Cambria" pitchFamily="34" charset="-120"/>
              </a:rPr>
              <a:t>Move from “generating a floor plan” towards “reasoning about and optimizing a floor plan.”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327648"/>
            <a:ext cx="457200" cy="274320"/>
          </a:xfrm>
          <a:prstGeom prst="rect">
            <a:avLst/>
          </a:prstGeom>
          <a:noFill/>
          <a:ln/>
        </p:spPr>
        <p:txBody>
          <a:bodyPr wrap="square" lIns="0" tIns="0" rIns="0" bIns="0" rtlCol="0" anchor="ctr"/>
          <a:lstStyle/>
          <a:p>
            <a:pPr algn="r" indent="0" marL="0">
              <a:buNone/>
            </a:pPr>
            <a:r>
              <a:rPr lang="en-US" sz="900" dirty="0">
                <a:solidFill>
                  <a:srgbClr val="5C7C9E"/>
                </a:solidFill>
                <a:latin typeface="Calibri" pitchFamily="34" charset="0"/>
                <a:ea typeface="Calibri" pitchFamily="34" charset="-122"/>
                <a:cs typeface="Calibri" pitchFamily="34" charset="-120"/>
              </a:rPr>
              <a:t>11</a:t>
            </a:r>
            <a:endParaRPr lang="en-US" sz="900" dirty="0"/>
          </a:p>
        </p:txBody>
      </p:sp>
      <p:sp>
        <p:nvSpPr>
          <p:cNvPr id="3" name="Text 1"/>
          <p:cNvSpPr txBox="1"/>
          <p:nvPr/>
        </p:nvSpPr>
        <p:spPr>
          <a:xfrm>
            <a:off x="548640" y="310896"/>
            <a:ext cx="11064240" cy="502920"/>
          </a:xfrm>
          <a:prstGeom prst="rect">
            <a:avLst/>
          </a:prstGeom>
          <a:noFill/>
          <a:ln/>
        </p:spPr>
        <p:txBody>
          <a:bodyPr wrap="square" lIns="0" tIns="0" rIns="0" bIns="0" rtlCol="0" anchor="ctr"/>
          <a:lstStyle/>
          <a:p>
            <a:pPr indent="0" marL="0">
              <a:buNone/>
            </a:pPr>
            <a:r>
              <a:rPr lang="en-US" sz="2900" b="1" dirty="0">
                <a:solidFill>
                  <a:srgbClr val="13294B"/>
                </a:solidFill>
                <a:latin typeface="Cambria" pitchFamily="34" charset="0"/>
                <a:ea typeface="Cambria" pitchFamily="34" charset="-122"/>
                <a:cs typeface="Cambria" pitchFamily="34" charset="-120"/>
              </a:rPr>
              <a:t>Future Extensions</a:t>
            </a:r>
            <a:endParaRPr lang="en-US" sz="2900" dirty="0"/>
          </a:p>
        </p:txBody>
      </p:sp>
      <p:sp>
        <p:nvSpPr>
          <p:cNvPr id="4" name="Text 2"/>
          <p:cNvSpPr txBox="1"/>
          <p:nvPr/>
        </p:nvSpPr>
        <p:spPr>
          <a:xfrm>
            <a:off x="548640" y="841248"/>
            <a:ext cx="1106424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Not part of the current implementation scope</a:t>
            </a:r>
            <a:endParaRPr lang="en-US" sz="1200" dirty="0"/>
          </a:p>
        </p:txBody>
      </p:sp>
      <p:sp>
        <p:nvSpPr>
          <p:cNvPr id="5" name="Shape 3"/>
          <p:cNvSpPr/>
          <p:nvPr/>
        </p:nvSpPr>
        <p:spPr>
          <a:xfrm>
            <a:off x="548640" y="1298448"/>
            <a:ext cx="1600200" cy="365760"/>
          </a:xfrm>
          <a:prstGeom prst="roundRect">
            <a:avLst>
              <a:gd name="adj" fmla="val 12500"/>
            </a:avLst>
          </a:prstGeom>
          <a:solidFill>
            <a:srgbClr val="C05621"/>
          </a:solidFill>
          <a:ln w="12700">
            <a:solidFill>
              <a:srgbClr val="C05621"/>
            </a:solidFill>
            <a:prstDash val="solid"/>
          </a:ln>
        </p:spPr>
      </p:sp>
      <p:sp>
        <p:nvSpPr>
          <p:cNvPr id="6" name="Text 4"/>
          <p:cNvSpPr txBox="1"/>
          <p:nvPr/>
        </p:nvSpPr>
        <p:spPr>
          <a:xfrm>
            <a:off x="548640" y="1298448"/>
            <a:ext cx="1600200" cy="365760"/>
          </a:xfrm>
          <a:prstGeom prst="rect">
            <a:avLst/>
          </a:prstGeom>
          <a:noFill/>
          <a:ln/>
        </p:spPr>
        <p:txBody>
          <a:bodyPr wrap="square" lIns="0" tIns="0" rIns="0" bIns="0" rtlCol="0" anchor="ctr"/>
          <a:lstStyle/>
          <a:p>
            <a:pPr algn="ctr" indent="0" marL="0">
              <a:buNone/>
            </a:pPr>
            <a:r>
              <a:rPr lang="en-US" sz="1050" b="1" spc="120" kern="0" dirty="0">
                <a:solidFill>
                  <a:srgbClr val="FFFFFF"/>
                </a:solidFill>
                <a:latin typeface="Calibri" pitchFamily="34" charset="0"/>
                <a:ea typeface="Calibri" pitchFamily="34" charset="-122"/>
                <a:cs typeface="Calibri" pitchFamily="34" charset="-120"/>
              </a:rPr>
              <a:t>FUTURE WORK</a:t>
            </a:r>
            <a:endParaRPr lang="en-US" sz="1050" dirty="0"/>
          </a:p>
        </p:txBody>
      </p:sp>
      <p:sp>
        <p:nvSpPr>
          <p:cNvPr id="7" name="Text 5"/>
          <p:cNvSpPr txBox="1"/>
          <p:nvPr/>
        </p:nvSpPr>
        <p:spPr>
          <a:xfrm>
            <a:off x="2331720" y="1298448"/>
            <a:ext cx="9299448" cy="365760"/>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Once the spatial-planning framework is established, the pipeline can be extended downstream:</a:t>
            </a:r>
            <a:endParaRPr lang="en-US" sz="1250" dirty="0"/>
          </a:p>
        </p:txBody>
      </p:sp>
      <p:sp>
        <p:nvSpPr>
          <p:cNvPr id="8" name="Shape 6"/>
          <p:cNvSpPr/>
          <p:nvPr/>
        </p:nvSpPr>
        <p:spPr>
          <a:xfrm>
            <a:off x="2926080" y="1965960"/>
            <a:ext cx="6309360" cy="566928"/>
          </a:xfrm>
          <a:prstGeom prst="roundRect">
            <a:avLst>
              <a:gd name="adj" fmla="val 9677"/>
            </a:avLst>
          </a:prstGeom>
          <a:solidFill>
            <a:srgbClr val="13294B"/>
          </a:solidFill>
          <a:ln w="12700">
            <a:solidFill>
              <a:srgbClr val="13294B"/>
            </a:solidFill>
            <a:prstDash val="solid"/>
          </a:ln>
        </p:spPr>
      </p:sp>
      <p:sp>
        <p:nvSpPr>
          <p:cNvPr id="9" name="Text 7"/>
          <p:cNvSpPr txBox="1"/>
          <p:nvPr/>
        </p:nvSpPr>
        <p:spPr>
          <a:xfrm>
            <a:off x="3200400" y="2011680"/>
            <a:ext cx="5760720" cy="274320"/>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Optimized Floor Plan</a:t>
            </a:r>
            <a:endParaRPr lang="en-US" sz="1300" dirty="0"/>
          </a:p>
        </p:txBody>
      </p:sp>
      <p:sp>
        <p:nvSpPr>
          <p:cNvPr id="10" name="Text 8"/>
          <p:cNvSpPr txBox="1"/>
          <p:nvPr/>
        </p:nvSpPr>
        <p:spPr>
          <a:xfrm>
            <a:off x="3200400" y="2258568"/>
            <a:ext cx="5760720" cy="237744"/>
          </a:xfrm>
          <a:prstGeom prst="rect">
            <a:avLst/>
          </a:prstGeom>
          <a:noFill/>
          <a:ln/>
        </p:spPr>
        <p:txBody>
          <a:bodyPr wrap="square" lIns="0" tIns="0" rIns="0" bIns="0" rtlCol="0" anchor="ctr"/>
          <a:lstStyle/>
          <a:p>
            <a:pPr indent="0" marL="0">
              <a:buNone/>
            </a:pPr>
            <a:r>
              <a:rPr lang="en-US" sz="1050" dirty="0">
                <a:solidFill>
                  <a:srgbClr val="9FB8D6"/>
                </a:solidFill>
                <a:latin typeface="Calibri" pitchFamily="34" charset="0"/>
                <a:ea typeface="Calibri" pitchFamily="34" charset="-122"/>
                <a:cs typeface="Calibri" pitchFamily="34" charset="-120"/>
              </a:rPr>
              <a:t>Current project scope</a:t>
            </a:r>
            <a:endParaRPr lang="en-US" sz="1050" dirty="0"/>
          </a:p>
        </p:txBody>
      </p:sp>
      <p:sp>
        <p:nvSpPr>
          <p:cNvPr id="11" name="Shape 9"/>
          <p:cNvSpPr/>
          <p:nvPr/>
        </p:nvSpPr>
        <p:spPr>
          <a:xfrm>
            <a:off x="6080760" y="2532888"/>
            <a:ext cx="0" cy="182880"/>
          </a:xfrm>
          <a:prstGeom prst="line">
            <a:avLst/>
          </a:prstGeom>
          <a:noFill/>
          <a:ln w="16510">
            <a:solidFill>
              <a:srgbClr val="C05621"/>
            </a:solidFill>
            <a:prstDash val="dash"/>
            <a:tailEnd type="triangle"/>
          </a:ln>
        </p:spPr>
      </p:sp>
      <p:sp>
        <p:nvSpPr>
          <p:cNvPr id="12" name="Shape 10"/>
          <p:cNvSpPr/>
          <p:nvPr/>
        </p:nvSpPr>
        <p:spPr>
          <a:xfrm>
            <a:off x="2926080" y="2715768"/>
            <a:ext cx="6309360" cy="566928"/>
          </a:xfrm>
          <a:prstGeom prst="roundRect">
            <a:avLst>
              <a:gd name="adj" fmla="val 9677"/>
            </a:avLst>
          </a:prstGeom>
          <a:solidFill>
            <a:srgbClr val="FFFFFF"/>
          </a:solidFill>
          <a:ln w="19050">
            <a:solidFill>
              <a:srgbClr val="C05621"/>
            </a:solidFill>
            <a:prstDash val="dash"/>
          </a:ln>
        </p:spPr>
      </p:sp>
      <p:sp>
        <p:nvSpPr>
          <p:cNvPr id="13" name="Text 11"/>
          <p:cNvSpPr txBox="1"/>
          <p:nvPr/>
        </p:nvSpPr>
        <p:spPr>
          <a:xfrm>
            <a:off x="3200400" y="2761488"/>
            <a:ext cx="5760720" cy="274320"/>
          </a:xfrm>
          <a:prstGeom prst="rect">
            <a:avLst/>
          </a:prstGeom>
          <a:noFill/>
          <a:ln/>
        </p:spPr>
        <p:txBody>
          <a:bodyPr wrap="square" lIns="0" tIns="0" rIns="0" bIns="0" rtlCol="0" anchor="ctr"/>
          <a:lstStyle/>
          <a:p>
            <a:pPr indent="0" marL="0">
              <a:buNone/>
            </a:pPr>
            <a:r>
              <a:rPr lang="en-US" sz="1300" b="1" dirty="0">
                <a:solidFill>
                  <a:srgbClr val="13294B"/>
                </a:solidFill>
                <a:latin typeface="Cambria" pitchFamily="34" charset="0"/>
                <a:ea typeface="Cambria" pitchFamily="34" charset="-122"/>
                <a:cs typeface="Cambria" pitchFamily="34" charset="-120"/>
              </a:rPr>
              <a:t>BIM Generation</a:t>
            </a:r>
            <a:endParaRPr lang="en-US" sz="1300" dirty="0"/>
          </a:p>
        </p:txBody>
      </p:sp>
      <p:sp>
        <p:nvSpPr>
          <p:cNvPr id="14" name="Text 12"/>
          <p:cNvSpPr txBox="1"/>
          <p:nvPr/>
        </p:nvSpPr>
        <p:spPr>
          <a:xfrm>
            <a:off x="3200400" y="3008376"/>
            <a:ext cx="5760720" cy="237744"/>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Convert layout to a building information model</a:t>
            </a:r>
            <a:endParaRPr lang="en-US" sz="1050" dirty="0"/>
          </a:p>
        </p:txBody>
      </p:sp>
      <p:sp>
        <p:nvSpPr>
          <p:cNvPr id="15" name="Shape 13"/>
          <p:cNvSpPr/>
          <p:nvPr/>
        </p:nvSpPr>
        <p:spPr>
          <a:xfrm>
            <a:off x="6080760" y="3282696"/>
            <a:ext cx="0" cy="182880"/>
          </a:xfrm>
          <a:prstGeom prst="line">
            <a:avLst/>
          </a:prstGeom>
          <a:noFill/>
          <a:ln w="16510">
            <a:solidFill>
              <a:srgbClr val="C05621"/>
            </a:solidFill>
            <a:prstDash val="dash"/>
            <a:tailEnd type="triangle"/>
          </a:ln>
        </p:spPr>
      </p:sp>
      <p:sp>
        <p:nvSpPr>
          <p:cNvPr id="16" name="Shape 14"/>
          <p:cNvSpPr/>
          <p:nvPr/>
        </p:nvSpPr>
        <p:spPr>
          <a:xfrm>
            <a:off x="2926080" y="3465576"/>
            <a:ext cx="6309360" cy="566928"/>
          </a:xfrm>
          <a:prstGeom prst="roundRect">
            <a:avLst>
              <a:gd name="adj" fmla="val 9677"/>
            </a:avLst>
          </a:prstGeom>
          <a:solidFill>
            <a:srgbClr val="FFFFFF"/>
          </a:solidFill>
          <a:ln w="19050">
            <a:solidFill>
              <a:srgbClr val="C05621"/>
            </a:solidFill>
            <a:prstDash val="dash"/>
          </a:ln>
        </p:spPr>
      </p:sp>
      <p:sp>
        <p:nvSpPr>
          <p:cNvPr id="17" name="Text 15"/>
          <p:cNvSpPr txBox="1"/>
          <p:nvPr/>
        </p:nvSpPr>
        <p:spPr>
          <a:xfrm>
            <a:off x="3200400" y="3511296"/>
            <a:ext cx="5760720" cy="274320"/>
          </a:xfrm>
          <a:prstGeom prst="rect">
            <a:avLst/>
          </a:prstGeom>
          <a:noFill/>
          <a:ln/>
        </p:spPr>
        <p:txBody>
          <a:bodyPr wrap="square" lIns="0" tIns="0" rIns="0" bIns="0" rtlCol="0" anchor="ctr"/>
          <a:lstStyle/>
          <a:p>
            <a:pPr indent="0" marL="0">
              <a:buNone/>
            </a:pPr>
            <a:r>
              <a:rPr lang="en-US" sz="1300" b="1" dirty="0">
                <a:solidFill>
                  <a:srgbClr val="13294B"/>
                </a:solidFill>
                <a:latin typeface="Cambria" pitchFamily="34" charset="0"/>
                <a:ea typeface="Cambria" pitchFamily="34" charset="-122"/>
                <a:cs typeface="Cambria" pitchFamily="34" charset="-120"/>
              </a:rPr>
              <a:t>Building-Code Compliance</a:t>
            </a:r>
            <a:endParaRPr lang="en-US" sz="1300" dirty="0"/>
          </a:p>
        </p:txBody>
      </p:sp>
      <p:sp>
        <p:nvSpPr>
          <p:cNvPr id="18" name="Text 16"/>
          <p:cNvSpPr txBox="1"/>
          <p:nvPr/>
        </p:nvSpPr>
        <p:spPr>
          <a:xfrm>
            <a:off x="3200400" y="3758184"/>
            <a:ext cx="5760720" cy="237744"/>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Automated checking against regulations</a:t>
            </a:r>
            <a:endParaRPr lang="en-US" sz="1050" dirty="0"/>
          </a:p>
        </p:txBody>
      </p:sp>
      <p:sp>
        <p:nvSpPr>
          <p:cNvPr id="19" name="Shape 17"/>
          <p:cNvSpPr/>
          <p:nvPr/>
        </p:nvSpPr>
        <p:spPr>
          <a:xfrm>
            <a:off x="6080760" y="4032504"/>
            <a:ext cx="0" cy="182880"/>
          </a:xfrm>
          <a:prstGeom prst="line">
            <a:avLst/>
          </a:prstGeom>
          <a:noFill/>
          <a:ln w="16510">
            <a:solidFill>
              <a:srgbClr val="C05621"/>
            </a:solidFill>
            <a:prstDash val="dash"/>
            <a:tailEnd type="triangle"/>
          </a:ln>
        </p:spPr>
      </p:sp>
      <p:sp>
        <p:nvSpPr>
          <p:cNvPr id="20" name="Shape 18"/>
          <p:cNvSpPr/>
          <p:nvPr/>
        </p:nvSpPr>
        <p:spPr>
          <a:xfrm>
            <a:off x="2926080" y="4215384"/>
            <a:ext cx="6309360" cy="566928"/>
          </a:xfrm>
          <a:prstGeom prst="roundRect">
            <a:avLst>
              <a:gd name="adj" fmla="val 9677"/>
            </a:avLst>
          </a:prstGeom>
          <a:solidFill>
            <a:srgbClr val="FFFFFF"/>
          </a:solidFill>
          <a:ln w="19050">
            <a:solidFill>
              <a:srgbClr val="C05621"/>
            </a:solidFill>
            <a:prstDash val="dash"/>
          </a:ln>
        </p:spPr>
      </p:sp>
      <p:sp>
        <p:nvSpPr>
          <p:cNvPr id="21" name="Text 19"/>
          <p:cNvSpPr txBox="1"/>
          <p:nvPr/>
        </p:nvSpPr>
        <p:spPr>
          <a:xfrm>
            <a:off x="3200400" y="4261104"/>
            <a:ext cx="5760720" cy="274320"/>
          </a:xfrm>
          <a:prstGeom prst="rect">
            <a:avLst/>
          </a:prstGeom>
          <a:noFill/>
          <a:ln/>
        </p:spPr>
        <p:txBody>
          <a:bodyPr wrap="square" lIns="0" tIns="0" rIns="0" bIns="0" rtlCol="0" anchor="ctr"/>
          <a:lstStyle/>
          <a:p>
            <a:pPr indent="0" marL="0">
              <a:buNone/>
            </a:pPr>
            <a:r>
              <a:rPr lang="en-US" sz="1300" b="1" dirty="0">
                <a:solidFill>
                  <a:srgbClr val="13294B"/>
                </a:solidFill>
                <a:latin typeface="Cambria" pitchFamily="34" charset="0"/>
                <a:ea typeface="Cambria" pitchFamily="34" charset="-122"/>
                <a:cs typeface="Cambria" pitchFamily="34" charset="-120"/>
              </a:rPr>
              <a:t>Cost Estimation</a:t>
            </a:r>
            <a:endParaRPr lang="en-US" sz="1300" dirty="0"/>
          </a:p>
        </p:txBody>
      </p:sp>
      <p:sp>
        <p:nvSpPr>
          <p:cNvPr id="22" name="Text 20"/>
          <p:cNvSpPr txBox="1"/>
          <p:nvPr/>
        </p:nvSpPr>
        <p:spPr>
          <a:xfrm>
            <a:off x="3200400" y="4507992"/>
            <a:ext cx="5760720" cy="237744"/>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Material and construction cost prediction</a:t>
            </a:r>
            <a:endParaRPr lang="en-US" sz="1050" dirty="0"/>
          </a:p>
        </p:txBody>
      </p:sp>
      <p:sp>
        <p:nvSpPr>
          <p:cNvPr id="23" name="Shape 21"/>
          <p:cNvSpPr/>
          <p:nvPr/>
        </p:nvSpPr>
        <p:spPr>
          <a:xfrm>
            <a:off x="6080760" y="4782312"/>
            <a:ext cx="0" cy="182880"/>
          </a:xfrm>
          <a:prstGeom prst="line">
            <a:avLst/>
          </a:prstGeom>
          <a:noFill/>
          <a:ln w="16510">
            <a:solidFill>
              <a:srgbClr val="C05621"/>
            </a:solidFill>
            <a:prstDash val="dash"/>
            <a:tailEnd type="triangle"/>
          </a:ln>
        </p:spPr>
      </p:sp>
      <p:sp>
        <p:nvSpPr>
          <p:cNvPr id="24" name="Shape 22"/>
          <p:cNvSpPr/>
          <p:nvPr/>
        </p:nvSpPr>
        <p:spPr>
          <a:xfrm>
            <a:off x="2926080" y="4965192"/>
            <a:ext cx="6309360" cy="566928"/>
          </a:xfrm>
          <a:prstGeom prst="roundRect">
            <a:avLst>
              <a:gd name="adj" fmla="val 9677"/>
            </a:avLst>
          </a:prstGeom>
          <a:solidFill>
            <a:srgbClr val="FFFFFF"/>
          </a:solidFill>
          <a:ln w="19050">
            <a:solidFill>
              <a:srgbClr val="C05621"/>
            </a:solidFill>
            <a:prstDash val="dash"/>
          </a:ln>
        </p:spPr>
      </p:sp>
      <p:sp>
        <p:nvSpPr>
          <p:cNvPr id="25" name="Text 23"/>
          <p:cNvSpPr txBox="1"/>
          <p:nvPr/>
        </p:nvSpPr>
        <p:spPr>
          <a:xfrm>
            <a:off x="3200400" y="5010912"/>
            <a:ext cx="5760720" cy="274320"/>
          </a:xfrm>
          <a:prstGeom prst="rect">
            <a:avLst/>
          </a:prstGeom>
          <a:noFill/>
          <a:ln/>
        </p:spPr>
        <p:txBody>
          <a:bodyPr wrap="square" lIns="0" tIns="0" rIns="0" bIns="0" rtlCol="0" anchor="ctr"/>
          <a:lstStyle/>
          <a:p>
            <a:pPr indent="0" marL="0">
              <a:buNone/>
            </a:pPr>
            <a:r>
              <a:rPr lang="en-US" sz="1300" b="1" dirty="0">
                <a:solidFill>
                  <a:srgbClr val="13294B"/>
                </a:solidFill>
                <a:latin typeface="Cambria" pitchFamily="34" charset="0"/>
                <a:ea typeface="Cambria" pitchFamily="34" charset="-122"/>
                <a:cs typeface="Cambria" pitchFamily="34" charset="-120"/>
              </a:rPr>
              <a:t>Environmental Performance</a:t>
            </a:r>
            <a:endParaRPr lang="en-US" sz="1300" dirty="0"/>
          </a:p>
        </p:txBody>
      </p:sp>
      <p:sp>
        <p:nvSpPr>
          <p:cNvPr id="26" name="Text 24"/>
          <p:cNvSpPr txBox="1"/>
          <p:nvPr/>
        </p:nvSpPr>
        <p:spPr>
          <a:xfrm>
            <a:off x="3200400" y="5257800"/>
            <a:ext cx="5760720" cy="237744"/>
          </a:xfrm>
          <a:prstGeom prst="rect">
            <a:avLst/>
          </a:prstGeom>
          <a:noFill/>
          <a:ln/>
        </p:spPr>
        <p:txBody>
          <a:bodyPr wrap="square" lIns="0" tIns="0" rIns="0" bIns="0" rtlCol="0" anchor="ctr"/>
          <a:lstStyle/>
          <a:p>
            <a:pPr indent="0" marL="0">
              <a:buNone/>
            </a:pPr>
            <a:r>
              <a:rPr lang="en-US" sz="1050" dirty="0">
                <a:solidFill>
                  <a:srgbClr val="5B6B7C"/>
                </a:solidFill>
                <a:latin typeface="Calibri" pitchFamily="34" charset="0"/>
                <a:ea typeface="Calibri" pitchFamily="34" charset="-122"/>
                <a:cs typeface="Calibri" pitchFamily="34" charset="-120"/>
              </a:rPr>
              <a:t>Daylight, ventilation and energy analysis</a:t>
            </a:r>
            <a:endParaRPr lang="en-US" sz="1050" dirty="0"/>
          </a:p>
        </p:txBody>
      </p:sp>
      <p:sp>
        <p:nvSpPr>
          <p:cNvPr id="27" name="Text 25"/>
          <p:cNvSpPr txBox="1"/>
          <p:nvPr/>
        </p:nvSpPr>
        <p:spPr>
          <a:xfrm>
            <a:off x="548640" y="5806440"/>
            <a:ext cx="11082528" cy="365760"/>
          </a:xfrm>
          <a:prstGeom prst="rect">
            <a:avLst/>
          </a:prstGeom>
          <a:noFill/>
          <a:ln/>
        </p:spPr>
        <p:txBody>
          <a:bodyPr wrap="square" lIns="0" tIns="0" rIns="0" bIns="0" rtlCol="0" anchor="ctr"/>
          <a:lstStyle/>
          <a:p>
            <a:pPr algn="ctr" indent="0" marL="0">
              <a:buNone/>
            </a:pPr>
            <a:r>
              <a:rPr lang="en-US" sz="1150" i="1" dirty="0">
                <a:solidFill>
                  <a:srgbClr val="5B6B7C"/>
                </a:solidFill>
                <a:latin typeface="Calibri" pitchFamily="34" charset="0"/>
                <a:ea typeface="Calibri" pitchFamily="34" charset="-122"/>
                <a:cs typeface="Calibri" pitchFamily="34" charset="-120"/>
              </a:rPr>
              <a:t>These modules are stated as future extensions only. They are not claimed as part of the current implementation.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338560" y="6327648"/>
            <a:ext cx="457200" cy="274320"/>
          </a:xfrm>
          <a:prstGeom prst="rect">
            <a:avLst/>
          </a:prstGeom>
          <a:noFill/>
          <a:ln/>
        </p:spPr>
        <p:txBody>
          <a:bodyPr wrap="square" lIns="0" tIns="0" rIns="0" bIns="0" rtlCol="0" anchor="ctr"/>
          <a:lstStyle/>
          <a:p>
            <a:pPr algn="r" indent="0" marL="0">
              <a:buNone/>
            </a:pPr>
            <a:r>
              <a:rPr lang="en-US" sz="900" dirty="0">
                <a:solidFill>
                  <a:srgbClr val="5C7C9E"/>
                </a:solidFill>
                <a:latin typeface="Calibri" pitchFamily="34" charset="0"/>
                <a:ea typeface="Calibri" pitchFamily="34" charset="-122"/>
                <a:cs typeface="Calibri" pitchFamily="34" charset="-120"/>
              </a:rPr>
              <a:t>12</a:t>
            </a:r>
            <a:endParaRPr lang="en-US" sz="900" dirty="0"/>
          </a:p>
        </p:txBody>
      </p:sp>
      <p:sp>
        <p:nvSpPr>
          <p:cNvPr id="3" name="Text 1"/>
          <p:cNvSpPr txBox="1"/>
          <p:nvPr/>
        </p:nvSpPr>
        <p:spPr>
          <a:xfrm>
            <a:off x="548640" y="310896"/>
            <a:ext cx="11064240" cy="502920"/>
          </a:xfrm>
          <a:prstGeom prst="rect">
            <a:avLst/>
          </a:prstGeom>
          <a:noFill/>
          <a:ln/>
        </p:spPr>
        <p:txBody>
          <a:bodyPr wrap="square" lIns="0" tIns="0" rIns="0" bIns="0" rtlCol="0" anchor="ctr"/>
          <a:lstStyle/>
          <a:p>
            <a:pPr indent="0" marL="0">
              <a:buNone/>
            </a:pPr>
            <a:r>
              <a:rPr lang="en-US" sz="2900" b="1" dirty="0">
                <a:solidFill>
                  <a:srgbClr val="13294B"/>
                </a:solidFill>
                <a:latin typeface="Cambria" pitchFamily="34" charset="0"/>
                <a:ea typeface="Cambria" pitchFamily="34" charset="-122"/>
                <a:cs typeface="Cambria" pitchFamily="34" charset="-120"/>
              </a:rPr>
              <a:t>References</a:t>
            </a:r>
            <a:endParaRPr lang="en-US" sz="2900" dirty="0"/>
          </a:p>
        </p:txBody>
      </p:sp>
      <p:sp>
        <p:nvSpPr>
          <p:cNvPr id="4" name="Text 2"/>
          <p:cNvSpPr txBox="1"/>
          <p:nvPr/>
        </p:nvSpPr>
        <p:spPr>
          <a:xfrm>
            <a:off x="548640" y="841248"/>
            <a:ext cx="11064240" cy="274320"/>
          </a:xfrm>
          <a:prstGeom prst="rect">
            <a:avLst/>
          </a:prstGeom>
          <a:noFill/>
          <a:ln/>
        </p:spPr>
        <p:txBody>
          <a:bodyPr wrap="square" lIns="0" tIns="0" rIns="0" bIns="0" rtlCol="0" anchor="ctr"/>
          <a:lstStyle/>
          <a:p>
            <a:pPr indent="0" marL="0">
              <a:buNone/>
            </a:pPr>
            <a:r>
              <a:rPr lang="en-US" sz="1200" dirty="0">
                <a:solidFill>
                  <a:srgbClr val="5B6B7C"/>
                </a:solidFill>
                <a:latin typeface="Calibri" pitchFamily="34" charset="0"/>
                <a:ea typeface="Calibri" pitchFamily="34" charset="-122"/>
                <a:cs typeface="Calibri" pitchFamily="34" charset="-120"/>
              </a:rPr>
              <a:t>IEEE style</a:t>
            </a:r>
            <a:endParaRPr lang="en-US" sz="1200" dirty="0"/>
          </a:p>
        </p:txBody>
      </p:sp>
      <p:sp>
        <p:nvSpPr>
          <p:cNvPr id="5" name="Shape 3"/>
          <p:cNvSpPr/>
          <p:nvPr/>
        </p:nvSpPr>
        <p:spPr>
          <a:xfrm>
            <a:off x="548640" y="1417320"/>
            <a:ext cx="11082528" cy="1170432"/>
          </a:xfrm>
          <a:prstGeom prst="roundRect">
            <a:avLst>
              <a:gd name="adj" fmla="val 4688"/>
            </a:avLst>
          </a:prstGeom>
          <a:solidFill>
            <a:srgbClr val="EEF3F9"/>
          </a:solidFill>
          <a:ln w="12700">
            <a:solidFill>
              <a:srgbClr val="1F4E79"/>
            </a:solidFill>
            <a:prstDash val="solid"/>
          </a:ln>
        </p:spPr>
      </p:sp>
      <p:sp>
        <p:nvSpPr>
          <p:cNvPr id="6" name="Shape 4"/>
          <p:cNvSpPr/>
          <p:nvPr/>
        </p:nvSpPr>
        <p:spPr>
          <a:xfrm>
            <a:off x="868680" y="1673352"/>
            <a:ext cx="347472" cy="347472"/>
          </a:xfrm>
          <a:prstGeom prst="ellipse">
            <a:avLst/>
          </a:prstGeom>
          <a:solidFill>
            <a:srgbClr val="13294B"/>
          </a:solidFill>
          <a:ln w="12700">
            <a:solidFill>
              <a:srgbClr val="13294B"/>
            </a:solidFill>
            <a:prstDash val="solid"/>
          </a:ln>
        </p:spPr>
      </p:sp>
      <p:sp>
        <p:nvSpPr>
          <p:cNvPr id="7" name="Text 5"/>
          <p:cNvSpPr txBox="1"/>
          <p:nvPr/>
        </p:nvSpPr>
        <p:spPr>
          <a:xfrm>
            <a:off x="868680" y="16733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417320" y="1563624"/>
            <a:ext cx="9966960" cy="256032"/>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A. B. Yenew, B. G. Assefa, and E. G. Belay,</a:t>
            </a:r>
            <a:endParaRPr lang="en-US" sz="1200" dirty="0"/>
          </a:p>
        </p:txBody>
      </p:sp>
      <p:sp>
        <p:nvSpPr>
          <p:cNvPr id="9" name="Text 7"/>
          <p:cNvSpPr txBox="1"/>
          <p:nvPr/>
        </p:nvSpPr>
        <p:spPr>
          <a:xfrm>
            <a:off x="1417320" y="1819656"/>
            <a:ext cx="9966960" cy="402336"/>
          </a:xfrm>
          <a:prstGeom prst="rect">
            <a:avLst/>
          </a:prstGeom>
          <a:noFill/>
          <a:ln/>
        </p:spPr>
        <p:txBody>
          <a:bodyPr wrap="square" lIns="0" tIns="0" rIns="0" bIns="0" rtlCol="0" anchor="t"/>
          <a:lstStyle/>
          <a:p>
            <a:pPr indent="0" marL="0">
              <a:lnSpc>
                <a:spcPts val="1500"/>
              </a:lnSpc>
              <a:buNone/>
            </a:pPr>
            <a:r>
              <a:rPr lang="en-US" sz="1200" dirty="0">
                <a:solidFill>
                  <a:srgbClr val="1B2430"/>
                </a:solidFill>
                <a:latin typeface="Calibri" pitchFamily="34" charset="0"/>
                <a:ea typeface="Calibri" pitchFamily="34" charset="-122"/>
                <a:cs typeface="Calibri" pitchFamily="34" charset="-120"/>
              </a:rPr>
              <a:t>“HouseGanDi: A Hybrid Approach to Strike a Balance of Sampling Time and Diversity in Floorplan Generation,”</a:t>
            </a:r>
            <a:endParaRPr lang="en-US" sz="1200" dirty="0"/>
          </a:p>
        </p:txBody>
      </p:sp>
      <p:sp>
        <p:nvSpPr>
          <p:cNvPr id="10" name="Text 8"/>
          <p:cNvSpPr txBox="1"/>
          <p:nvPr/>
        </p:nvSpPr>
        <p:spPr>
          <a:xfrm>
            <a:off x="1417320" y="2240280"/>
            <a:ext cx="9966960" cy="256032"/>
          </a:xfrm>
          <a:prstGeom prst="rect">
            <a:avLst/>
          </a:prstGeom>
          <a:noFill/>
          <a:ln/>
        </p:spPr>
        <p:txBody>
          <a:bodyPr wrap="square" lIns="0" tIns="0" rIns="0" bIns="0" rtlCol="0" anchor="ctr"/>
          <a:lstStyle/>
          <a:p>
            <a:pPr indent="0" marL="0">
              <a:buNone/>
            </a:pPr>
            <a:r>
              <a:rPr lang="en-US" sz="1100" i="1" dirty="0">
                <a:solidFill>
                  <a:srgbClr val="5B6B7C"/>
                </a:solidFill>
                <a:latin typeface="Calibri" pitchFamily="34" charset="0"/>
                <a:ea typeface="Calibri" pitchFamily="34" charset="-122"/>
                <a:cs typeface="Calibri" pitchFamily="34" charset="-120"/>
              </a:rPr>
              <a:t>IEEE Access, vol. 12, pp. 125235–125252, 2024, doi: 10.1109/ACCESS.2024.3451406.</a:t>
            </a:r>
            <a:endParaRPr lang="en-US" sz="1100" dirty="0"/>
          </a:p>
        </p:txBody>
      </p:sp>
      <p:sp>
        <p:nvSpPr>
          <p:cNvPr id="11" name="Shape 9"/>
          <p:cNvSpPr/>
          <p:nvPr/>
        </p:nvSpPr>
        <p:spPr>
          <a:xfrm>
            <a:off x="10104120" y="1545336"/>
            <a:ext cx="1280160" cy="274320"/>
          </a:xfrm>
          <a:prstGeom prst="roundRect">
            <a:avLst>
              <a:gd name="adj" fmla="val 13333"/>
            </a:avLst>
          </a:prstGeom>
          <a:solidFill>
            <a:srgbClr val="C05621"/>
          </a:solidFill>
          <a:ln w="12700">
            <a:solidFill>
              <a:srgbClr val="C05621"/>
            </a:solidFill>
            <a:prstDash val="solid"/>
          </a:ln>
        </p:spPr>
      </p:sp>
      <p:sp>
        <p:nvSpPr>
          <p:cNvPr id="12" name="Text 10"/>
          <p:cNvSpPr txBox="1"/>
          <p:nvPr/>
        </p:nvSpPr>
        <p:spPr>
          <a:xfrm>
            <a:off x="10104120" y="1545336"/>
            <a:ext cx="1280160" cy="274320"/>
          </a:xfrm>
          <a:prstGeom prst="rect">
            <a:avLst/>
          </a:prstGeom>
          <a:noFill/>
          <a:ln/>
        </p:spPr>
        <p:txBody>
          <a:bodyPr wrap="square" lIns="0" tIns="0" rIns="0" bIns="0" rtlCol="0" anchor="ctr"/>
          <a:lstStyle/>
          <a:p>
            <a:pPr algn="ctr" indent="0" marL="0">
              <a:buNone/>
            </a:pPr>
            <a:r>
              <a:rPr lang="en-US" sz="900" b="1" spc="80" kern="0" dirty="0">
                <a:solidFill>
                  <a:srgbClr val="FFFFFF"/>
                </a:solidFill>
                <a:latin typeface="Calibri" pitchFamily="34" charset="0"/>
                <a:ea typeface="Calibri" pitchFamily="34" charset="-122"/>
                <a:cs typeface="Calibri" pitchFamily="34" charset="-120"/>
              </a:rPr>
              <a:t>BASE PAPER</a:t>
            </a:r>
            <a:endParaRPr lang="en-US" sz="900" dirty="0"/>
          </a:p>
        </p:txBody>
      </p:sp>
      <p:sp>
        <p:nvSpPr>
          <p:cNvPr id="13" name="Shape 11"/>
          <p:cNvSpPr/>
          <p:nvPr/>
        </p:nvSpPr>
        <p:spPr>
          <a:xfrm>
            <a:off x="548640" y="2788920"/>
            <a:ext cx="11082528" cy="1170432"/>
          </a:xfrm>
          <a:prstGeom prst="roundRect">
            <a:avLst>
              <a:gd name="adj" fmla="val 4688"/>
            </a:avLst>
          </a:prstGeom>
          <a:solidFill>
            <a:srgbClr val="FFFFFF"/>
          </a:solidFill>
          <a:ln w="12700">
            <a:solidFill>
              <a:srgbClr val="CBD8E6"/>
            </a:solidFill>
            <a:prstDash val="solid"/>
          </a:ln>
        </p:spPr>
      </p:sp>
      <p:sp>
        <p:nvSpPr>
          <p:cNvPr id="14" name="Shape 12"/>
          <p:cNvSpPr/>
          <p:nvPr/>
        </p:nvSpPr>
        <p:spPr>
          <a:xfrm>
            <a:off x="868680" y="3044952"/>
            <a:ext cx="347472" cy="347472"/>
          </a:xfrm>
          <a:prstGeom prst="ellipse">
            <a:avLst/>
          </a:prstGeom>
          <a:solidFill>
            <a:srgbClr val="1F4E79"/>
          </a:solidFill>
          <a:ln w="12700">
            <a:solidFill>
              <a:srgbClr val="1F4E79"/>
            </a:solidFill>
            <a:prstDash val="solid"/>
          </a:ln>
        </p:spPr>
      </p:sp>
      <p:sp>
        <p:nvSpPr>
          <p:cNvPr id="15" name="Text 13"/>
          <p:cNvSpPr txBox="1"/>
          <p:nvPr/>
        </p:nvSpPr>
        <p:spPr>
          <a:xfrm>
            <a:off x="868680" y="30449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txBox="1"/>
          <p:nvPr/>
        </p:nvSpPr>
        <p:spPr>
          <a:xfrm>
            <a:off x="1417320" y="2935224"/>
            <a:ext cx="9966960" cy="256032"/>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Y. Wei and X. Li,</a:t>
            </a:r>
            <a:endParaRPr lang="en-US" sz="1200" dirty="0"/>
          </a:p>
        </p:txBody>
      </p:sp>
      <p:sp>
        <p:nvSpPr>
          <p:cNvPr id="17" name="Text 15"/>
          <p:cNvSpPr txBox="1"/>
          <p:nvPr/>
        </p:nvSpPr>
        <p:spPr>
          <a:xfrm>
            <a:off x="1417320" y="3191256"/>
            <a:ext cx="9966960" cy="402336"/>
          </a:xfrm>
          <a:prstGeom prst="rect">
            <a:avLst/>
          </a:prstGeom>
          <a:noFill/>
          <a:ln/>
        </p:spPr>
        <p:txBody>
          <a:bodyPr wrap="square" lIns="0" tIns="0" rIns="0" bIns="0" rtlCol="0" anchor="t"/>
          <a:lstStyle/>
          <a:p>
            <a:pPr indent="0" marL="0">
              <a:lnSpc>
                <a:spcPts val="1500"/>
              </a:lnSpc>
              <a:buNone/>
            </a:pPr>
            <a:r>
              <a:rPr lang="en-US" sz="1200" dirty="0">
                <a:solidFill>
                  <a:srgbClr val="1B2430"/>
                </a:solidFill>
                <a:latin typeface="Calibri" pitchFamily="34" charset="0"/>
                <a:ea typeface="Calibri" pitchFamily="34" charset="-122"/>
                <a:cs typeface="Calibri" pitchFamily="34" charset="-120"/>
              </a:rPr>
              <a:t>“Graph-Augmented Text-Based Floorplan Generation,”</a:t>
            </a:r>
            <a:endParaRPr lang="en-US" sz="1200" dirty="0"/>
          </a:p>
        </p:txBody>
      </p:sp>
      <p:sp>
        <p:nvSpPr>
          <p:cNvPr id="18" name="Text 16"/>
          <p:cNvSpPr txBox="1"/>
          <p:nvPr/>
        </p:nvSpPr>
        <p:spPr>
          <a:xfrm>
            <a:off x="1417320" y="3611880"/>
            <a:ext cx="9966960" cy="256032"/>
          </a:xfrm>
          <a:prstGeom prst="rect">
            <a:avLst/>
          </a:prstGeom>
          <a:noFill/>
          <a:ln/>
        </p:spPr>
        <p:txBody>
          <a:bodyPr wrap="square" lIns="0" tIns="0" rIns="0" bIns="0" rtlCol="0" anchor="ctr"/>
          <a:lstStyle/>
          <a:p>
            <a:pPr indent="0" marL="0">
              <a:buNone/>
            </a:pPr>
            <a:r>
              <a:rPr lang="en-US" sz="1100" i="1" dirty="0">
                <a:solidFill>
                  <a:srgbClr val="5B6B7C"/>
                </a:solidFill>
                <a:latin typeface="Calibri" pitchFamily="34" charset="0"/>
                <a:ea typeface="Calibri" pitchFamily="34" charset="-122"/>
                <a:cs typeface="Calibri" pitchFamily="34" charset="-120"/>
              </a:rPr>
              <a:t>in 2024 IEEE Int. Conf. on Automation in Manufacturing, Transportation and Logistics (ICaMaL), 2024, doi: 10.1109/ICaMaL62577.2024.10919609.</a:t>
            </a:r>
            <a:endParaRPr lang="en-US" sz="1100" dirty="0"/>
          </a:p>
        </p:txBody>
      </p:sp>
      <p:sp>
        <p:nvSpPr>
          <p:cNvPr id="19" name="Shape 17"/>
          <p:cNvSpPr/>
          <p:nvPr/>
        </p:nvSpPr>
        <p:spPr>
          <a:xfrm>
            <a:off x="548640" y="4160520"/>
            <a:ext cx="11082528" cy="1170432"/>
          </a:xfrm>
          <a:prstGeom prst="roundRect">
            <a:avLst>
              <a:gd name="adj" fmla="val 4688"/>
            </a:avLst>
          </a:prstGeom>
          <a:solidFill>
            <a:srgbClr val="FFFFFF"/>
          </a:solidFill>
          <a:ln w="12700">
            <a:solidFill>
              <a:srgbClr val="CBD8E6"/>
            </a:solidFill>
            <a:prstDash val="solid"/>
          </a:ln>
        </p:spPr>
      </p:sp>
      <p:sp>
        <p:nvSpPr>
          <p:cNvPr id="20" name="Shape 18"/>
          <p:cNvSpPr/>
          <p:nvPr/>
        </p:nvSpPr>
        <p:spPr>
          <a:xfrm>
            <a:off x="868680" y="4416552"/>
            <a:ext cx="347472" cy="347472"/>
          </a:xfrm>
          <a:prstGeom prst="ellipse">
            <a:avLst/>
          </a:prstGeom>
          <a:solidFill>
            <a:srgbClr val="1F4E79"/>
          </a:solidFill>
          <a:ln w="12700">
            <a:solidFill>
              <a:srgbClr val="1F4E79"/>
            </a:solidFill>
            <a:prstDash val="solid"/>
          </a:ln>
        </p:spPr>
      </p:sp>
      <p:sp>
        <p:nvSpPr>
          <p:cNvPr id="21" name="Text 19"/>
          <p:cNvSpPr txBox="1"/>
          <p:nvPr/>
        </p:nvSpPr>
        <p:spPr>
          <a:xfrm>
            <a:off x="868680" y="44165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20"/>
          <p:cNvSpPr txBox="1"/>
          <p:nvPr/>
        </p:nvSpPr>
        <p:spPr>
          <a:xfrm>
            <a:off x="1417320" y="4306824"/>
            <a:ext cx="9966960" cy="256032"/>
          </a:xfrm>
          <a:prstGeom prst="rect">
            <a:avLst/>
          </a:prstGeom>
          <a:noFill/>
          <a:ln/>
        </p:spPr>
        <p:txBody>
          <a:bodyPr wrap="square" lIns="0" tIns="0" rIns="0" bIns="0" rtlCol="0" anchor="ctr"/>
          <a:lstStyle/>
          <a:p>
            <a:pPr indent="0" marL="0">
              <a:buNone/>
            </a:pPr>
            <a:r>
              <a:rPr lang="en-US" sz="1200" b="1" dirty="0">
                <a:solidFill>
                  <a:srgbClr val="13294B"/>
                </a:solidFill>
                <a:latin typeface="Calibri" pitchFamily="34" charset="0"/>
                <a:ea typeface="Calibri" pitchFamily="34" charset="-122"/>
                <a:cs typeface="Calibri" pitchFamily="34" charset="-120"/>
              </a:rPr>
              <a:t>Y. Xin, Y. Zhou, and Y. Liu,</a:t>
            </a:r>
            <a:endParaRPr lang="en-US" sz="1200" dirty="0"/>
          </a:p>
        </p:txBody>
      </p:sp>
      <p:sp>
        <p:nvSpPr>
          <p:cNvPr id="23" name="Text 21"/>
          <p:cNvSpPr txBox="1"/>
          <p:nvPr/>
        </p:nvSpPr>
        <p:spPr>
          <a:xfrm>
            <a:off x="1417320" y="4562856"/>
            <a:ext cx="9966960" cy="402336"/>
          </a:xfrm>
          <a:prstGeom prst="rect">
            <a:avLst/>
          </a:prstGeom>
          <a:noFill/>
          <a:ln/>
        </p:spPr>
        <p:txBody>
          <a:bodyPr wrap="square" lIns="0" tIns="0" rIns="0" bIns="0" rtlCol="0" anchor="t"/>
          <a:lstStyle/>
          <a:p>
            <a:pPr indent="0" marL="0">
              <a:lnSpc>
                <a:spcPts val="1500"/>
              </a:lnSpc>
              <a:buNone/>
            </a:pPr>
            <a:r>
              <a:rPr lang="en-US" sz="1200" dirty="0">
                <a:solidFill>
                  <a:srgbClr val="1B2430"/>
                </a:solidFill>
                <a:latin typeface="Calibri" pitchFamily="34" charset="0"/>
                <a:ea typeface="Calibri" pitchFamily="34" charset="-122"/>
                <a:cs typeface="Calibri" pitchFamily="34" charset="-120"/>
              </a:rPr>
              <a:t>“Prompts to Layouts: Hybrid Graph Neural Network and Agent-Based Model for Generative Architectural Design,”</a:t>
            </a:r>
            <a:endParaRPr lang="en-US" sz="1200" dirty="0"/>
          </a:p>
        </p:txBody>
      </p:sp>
      <p:sp>
        <p:nvSpPr>
          <p:cNvPr id="24" name="Text 22"/>
          <p:cNvSpPr txBox="1"/>
          <p:nvPr/>
        </p:nvSpPr>
        <p:spPr>
          <a:xfrm>
            <a:off x="1417320" y="4983480"/>
            <a:ext cx="9966960" cy="256032"/>
          </a:xfrm>
          <a:prstGeom prst="rect">
            <a:avLst/>
          </a:prstGeom>
          <a:noFill/>
          <a:ln/>
        </p:spPr>
        <p:txBody>
          <a:bodyPr wrap="square" lIns="0" tIns="0" rIns="0" bIns="0" rtlCol="0" anchor="ctr"/>
          <a:lstStyle/>
          <a:p>
            <a:pPr indent="0" marL="0">
              <a:buNone/>
            </a:pPr>
            <a:r>
              <a:rPr lang="en-US" sz="1100" i="1" dirty="0">
                <a:solidFill>
                  <a:srgbClr val="5B6B7C"/>
                </a:solidFill>
                <a:latin typeface="Calibri" pitchFamily="34" charset="0"/>
                <a:ea typeface="Calibri" pitchFamily="34" charset="-122"/>
                <a:cs typeface="Calibri" pitchFamily="34" charset="-120"/>
              </a:rPr>
              <a:t>Automation in Construction, vol. 176, 2025, Art. no. 106253.</a:t>
            </a:r>
            <a:endParaRPr lang="en-US" sz="1100" dirty="0"/>
          </a:p>
        </p:txBody>
      </p:sp>
      <p:sp>
        <p:nvSpPr>
          <p:cNvPr id="25" name="Text 23"/>
          <p:cNvSpPr txBox="1"/>
          <p:nvPr/>
        </p:nvSpPr>
        <p:spPr>
          <a:xfrm>
            <a:off x="548640" y="5715000"/>
            <a:ext cx="11082528" cy="457200"/>
          </a:xfrm>
          <a:prstGeom prst="rect">
            <a:avLst/>
          </a:prstGeom>
          <a:noFill/>
          <a:ln/>
        </p:spPr>
        <p:txBody>
          <a:bodyPr wrap="square" lIns="0" tIns="0" rIns="0" bIns="0" rtlCol="0" anchor="ctr"/>
          <a:lstStyle/>
          <a:p>
            <a:pPr algn="ctr" indent="0" marL="0">
              <a:buNone/>
            </a:pPr>
            <a:r>
              <a:rPr lang="en-US" sz="1800" b="1" dirty="0">
                <a:solidFill>
                  <a:srgbClr val="13294B"/>
                </a:solidFill>
                <a:latin typeface="Cambria" pitchFamily="34" charset="0"/>
                <a:ea typeface="Cambria" pitchFamily="34" charset="-122"/>
                <a:cs typeface="Cambria" pitchFamily="34" charset="-120"/>
              </a:rPr>
              <a:t>Thank you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Framework for Constraint-Aware Architectural Design</dc:title>
  <dc:subject>PptxGenJS Presentation</dc:subject>
  <dc:creator>AI&amp;DS - PSG iTech</dc:creator>
  <cp:lastModifiedBy>AI&amp;DS - PSG iTech</cp:lastModifiedBy>
  <cp:revision>1</cp:revision>
  <dcterms:created xsi:type="dcterms:W3CDTF">2026-09-02T21:09:56Z</dcterms:created>
  <dcterms:modified xsi:type="dcterms:W3CDTF">2026-09-02T21:09:56Z</dcterms:modified>
</cp:coreProperties>
</file>